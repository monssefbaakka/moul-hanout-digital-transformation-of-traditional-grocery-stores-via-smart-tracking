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module Inventaire et Alertes de Moul Hanout.
Développé par BAGHDAD Mohamed et BAAKKA Monssfe.
Objectif : montrer comment le système élimine les ruptures de stock silencieuses dans les épiceries traditionnelles.
Stack technique : NestJS (backend), Next.js (frontend), PostgreSQL via Prisma ORM,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Créer de l'empathie dès le départ. Chaque épicier a vécu cette situation.
Message clé : le problème n'est pas la négligence — c'est l'absence d'un système.
Marquer une pause après "Personne ne le savait." — laisser l'effet se produire.
Les 4 conséquences en bas sont les douleurs métier directes que notre système résout.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piliers : suivi inventaire en direct, alertes automatiques, notification e-mail.
Point clé : "Le patron n'a pas besoin de consulter le système. Le système vient à lui."
Le seuil d'alerte est configurable par produit. Pain = seuil 10 ; produit rare = seuil 2.
BAGHDAD Mohamed a conçu le module Inventaire, BAAKKA Monssfe a architecturé le système d'alertes.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pipeline de gauche à droite :
1. Catalogue produits : définit les seuils et dates d'expiration.
2. Module Inventaire : gère entrée/sortie de stock dans une transaction DB.
3. Moteur d'alertes : syncProductAlerts() appelé à l'intérieur de la transaction.
4. Notificateur e-mail : cron job indépendant — découplé du flux de vente.
5. Dashboard : polling toutes les 30 secondes, badge avec compteur non-lu.
Couche auth : JwtAuthGuard + RolesGuard devant chaque endpoint.
Les cassiers peuvent voir l'inventaire mais seuls les propriétaires peuvent modifier les niveaux de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de conception clés :
- currentStock est une colonne CACHE, pas un SUM(mouvements). Les lectures sont O(1) quelle que soit la taille de l'historique.
- Chaque changement de stock s'exécute dans une transaction Prisma — mise à jour stock + mouvement + audit log + alerte, tout ensemble ou rien.
- findExpiringSoon utilise une fenêtre de 5 jours, identique à la constante EXPIRING_SOON_DAYS du moteur d'alertes.
- Le guard RolesGuard protège stock-in, stock-out et les endpoints OWNER : rôle CASHIER = lecture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reconcileProductAlerts est l'intelligence centrale du système. Elle évite les alertes en double et maintient un état propre.
emailSentAt est remis à null quand le message change — cela garantit qu'un nouvel e-mail est envoyé même si le propriétaire en a déjà reçu un pour un état antérieur du même produit.
Les messages d'alerte sont générés en français car l'utilisateur cible est un épicier marocain.
L'abstraction ALERTS_PORT (inversion de dépendance) permet à InventoryService d'appeler AlertsService sans import direct — modules découplés, testables indépendamment.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flux montre le cycle de vie complet d'une vente jusqu'à la notification du propriétaire.
Détail critique : les étapes 1 à 4 s'exécutent dans une seule transaction Prisma. Si la mise à jour du stock réussit mais que la réconciliation des alertes échoue, tout est annulé. Cohérence garantie.
L'étape 5 est délibérément découplée — le cron job s'exécute indépendamment. Une lenteur d'envoi d'e-mail ne bloque pas le flux de vente.
L'étape 6 : pas de WebSockets — polling toutes les 30 secondes. Simple, fiable, fonctionne partout.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décisions sont visibles directement dans le code :
1. ALERTS_PORT dans alerts.module.ts — patron Ports &amp; Adaptateurs. L'inventaire parle à une abstraction, pas à la classe concrète.
2. prisma.$transaction() dans inventory.service.ts enveloppant 4 opérations. La cohérence atomique est intégrée par design, pas en option.
3. currentStock comme colonne dénormalisée dans schema.prisma — le commentaire dans le schéma dit "Cache to avoid SUM(movements) every time" — documentation explicite du compromis.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Scénario de démonstration en direct — parcourir ces écrans dans l'ordre :
1. Montrer la barre latérale avec le badge non-lu
2. Cliquer sur la cloche, afficher le menu déroulant
3. Cliquer "Ouvrir l'inventaire" depuis une alerte — noter l'URL avec ?focus=productId
4. Afficher le formulaire Stock-IN, le soumettre, observer la disparition de l'alerte
5. Naviguer vers /alertes et afficher les états lu/non-lu
6. Montrer un exemple d'e-mail si disponible en environnement de dev
Le paramètre URL ?focus=productId fait défiler et met en surbrillance le produit dans le tableau — détail UX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Rendre cela concret :
"Avant : le patron arrive le lundi matin et découvre que le rayon Coca-Cola est vide. Avec notre système : le patron reçoit un e-mail le dimanche soir disant 'il vous reste 2 unités, seuil à 5, commandez maintenant.'"
Le système ne demande pas au patron de changer de comportement — il consulte juste sa boîte mail.
Transformation clé : réactif (découverte après le fait) → proactif (informé avant que ce soit un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Réflexions honnêtes — pas du remplissage "leçons apprises".
Leçon 1 : jeton ALERTS_PORT dans alerts.module.ts. Le patron Ports &amp; Adaptateurs a été intégré dès le début, et cela a payé immédiatement en clarté de service.
Leçon 2 : prisma.$transaction() dans inventory.service.ts enveloppant 4 opérations. La cohérence atomique est intégrée par design.
Leçon 3 : ALERTS_POLLING_INTERVAL_MS = 30_000 dans alerts-provider.tsx. Nous avons discuté de SSE/WebSocket — le polling a gagné. Décision consciente.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de conclusion :
"Le système surveille les rayons pour que le patron n'ait pas à le faire."
"Chaque alerte est fondée sur des données réelles — stock actuel vs seuil, ou vraie date d'expiration."
"Le flux entier est atomique — pas d'incohérence entre stock et alertes."
Questions probables :
Q : Le seuil est-il modifiable par produit ? → Oui, lowStockThreshold est une colonne sur Product, modifiable via la gestion des produits.
Q : Que se passe-t-il si l'e-mail échoue ? → emailSentAt ne se met à jour qu'après envoi réussi. Le cron réessaie au prochain cycle.
Q : Comment l'alerte disparaît-elle ? → reconcileProductAlerts() supprime l'alerte quand la condition n'est plus vraie (ex. réapprovisionnement au-dessus du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2E6DB4"/>
          </a:solidFill>
          <a:ln w="12700">
            <a:solidFill>
              <a:srgbClr val="2E6DB4"/>
            </a:solidFill>
            <a:prstDash val="solid"/>
          </a:ln>
        </p:spPr>
      </p:sp>
      <p:sp>
        <p:nvSpPr>
          <p:cNvPr id="3" name="Shape 1"/>
          <p:cNvSpPr/>
          <p:nvPr/>
        </p:nvSpPr>
        <p:spPr>
          <a:xfrm>
            <a:off x="8412480" y="-1645920"/>
            <a:ext cx="5943600" cy="5943600"/>
          </a:xfrm>
          <a:prstGeom prst="ellipse">
            <a:avLst/>
          </a:prstGeom>
          <a:solidFill>
            <a:srgbClr val="2E6DB4">
              <a:alpha val="12000"/>
            </a:srgbClr>
          </a:solidFill>
          <a:ln w="12700">
            <a:solidFill>
              <a:srgbClr val="4A90D9">
                <a:alpha val="30000"/>
              </a:srgbClr>
            </a:solidFill>
            <a:prstDash val="solid"/>
          </a:ln>
        </p:spPr>
      </p:sp>
      <p:sp>
        <p:nvSpPr>
          <p:cNvPr id="4" name="Shape 2"/>
          <p:cNvSpPr/>
          <p:nvPr/>
        </p:nvSpPr>
        <p:spPr>
          <a:xfrm>
            <a:off x="9601200" y="3840480"/>
            <a:ext cx="3657600" cy="3657600"/>
          </a:xfrm>
          <a:prstGeom prst="ellipse">
            <a:avLst/>
          </a:prstGeom>
          <a:solidFill>
            <a:srgbClr val="00B4D8">
              <a:alpha val="8000"/>
            </a:srgbClr>
          </a:solidFill>
          <a:ln w="12700">
            <a:solidFill>
              <a:srgbClr val="00B4D8">
                <a:alpha val="20000"/>
              </a:srgbClr>
            </a:solidFill>
            <a:prstDash val="solid"/>
          </a:ln>
        </p:spPr>
      </p:sp>
      <p:sp>
        <p:nvSpPr>
          <p:cNvPr id="5" name="Text 3"/>
          <p:cNvSpPr/>
          <p:nvPr/>
        </p:nvSpPr>
        <p:spPr>
          <a:xfrm>
            <a:off x="749808" y="502920"/>
            <a:ext cx="10515600" cy="292608"/>
          </a:xfrm>
          <a:prstGeom prst="rect">
            <a:avLst/>
          </a:prstGeom>
          <a:noFill/>
          <a:ln/>
        </p:spPr>
        <p:txBody>
          <a:bodyPr wrap="square" rtlCol="0" anchor="ctr"/>
          <a:lstStyle/>
          <a:p>
            <a:pPr indent="0" marL="0">
              <a:buNone/>
            </a:pPr>
            <a:r>
              <a:rPr lang="en-US" sz="950" b="1" spc="150" kern="0" dirty="0">
                <a:solidFill>
                  <a:srgbClr val="4A90D9"/>
                </a:solidFill>
                <a:latin typeface="Calibri" pitchFamily="34" charset="0"/>
                <a:ea typeface="Calibri" pitchFamily="34" charset="-122"/>
                <a:cs typeface="Calibri" pitchFamily="34" charset="-120"/>
              </a:rPr>
              <a:t>TRANSFORMATION NUMÉRIQUE DU COMMERCE DE PROXIMITÉ</a:t>
            </a:r>
            <a:endParaRPr lang="en-US" sz="950" dirty="0"/>
          </a:p>
        </p:txBody>
      </p:sp>
      <p:sp>
        <p:nvSpPr>
          <p:cNvPr id="6" name="Text 4"/>
          <p:cNvSpPr/>
          <p:nvPr/>
        </p:nvSpPr>
        <p:spPr>
          <a:xfrm>
            <a:off x="749808" y="914400"/>
            <a:ext cx="9144000" cy="1234440"/>
          </a:xfrm>
          <a:prstGeom prst="rect">
            <a:avLst/>
          </a:prstGeom>
          <a:noFill/>
          <a:ln/>
        </p:spPr>
        <p:txBody>
          <a:bodyPr wrap="square"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Moul Hanout</a:t>
            </a:r>
            <a:endParaRPr lang="en-US" sz="5600" dirty="0"/>
          </a:p>
        </p:txBody>
      </p:sp>
      <p:sp>
        <p:nvSpPr>
          <p:cNvPr id="7" name="Shape 5"/>
          <p:cNvSpPr/>
          <p:nvPr/>
        </p:nvSpPr>
        <p:spPr>
          <a:xfrm>
            <a:off x="749808" y="2194560"/>
            <a:ext cx="5303520" cy="36576"/>
          </a:xfrm>
          <a:prstGeom prst="rect">
            <a:avLst/>
          </a:prstGeom>
          <a:solidFill>
            <a:srgbClr val="4A90D9"/>
          </a:solidFill>
          <a:ln w="12700">
            <a:solidFill>
              <a:srgbClr val="4A90D9"/>
            </a:solidFill>
            <a:prstDash val="solid"/>
          </a:ln>
        </p:spPr>
      </p:sp>
      <p:sp>
        <p:nvSpPr>
          <p:cNvPr id="8" name="Text 6"/>
          <p:cNvSpPr/>
          <p:nvPr/>
        </p:nvSpPr>
        <p:spPr>
          <a:xfrm>
            <a:off x="749808" y="2331720"/>
            <a:ext cx="10515600" cy="658368"/>
          </a:xfrm>
          <a:prstGeom prst="rect">
            <a:avLst/>
          </a:prstGeom>
          <a:noFill/>
          <a:ln/>
        </p:spPr>
        <p:txBody>
          <a:bodyPr wrap="square" rtlCol="0" anchor="ctr"/>
          <a:lstStyle/>
          <a:p>
            <a:pPr indent="0" marL="0">
              <a:buNone/>
            </a:pPr>
            <a:r>
              <a:rPr lang="en-US" sz="2400" b="1" dirty="0">
                <a:solidFill>
                  <a:srgbClr val="4A90D9"/>
                </a:solidFill>
                <a:latin typeface="Calibri" pitchFamily="34" charset="0"/>
                <a:ea typeface="Calibri" pitchFamily="34" charset="-122"/>
                <a:cs typeface="Calibri" pitchFamily="34" charset="-120"/>
              </a:rPr>
              <a:t>Système Inventaire &amp; Alertes Intelligentes</a:t>
            </a:r>
            <a:endParaRPr lang="en-US" sz="2400" dirty="0"/>
          </a:p>
        </p:txBody>
      </p:sp>
      <p:sp>
        <p:nvSpPr>
          <p:cNvPr id="9" name="Text 7"/>
          <p:cNvSpPr/>
          <p:nvPr/>
        </p:nvSpPr>
        <p:spPr>
          <a:xfrm>
            <a:off x="749808" y="3090672"/>
            <a:ext cx="9144000" cy="658368"/>
          </a:xfrm>
          <a:prstGeom prst="rect">
            <a:avLst/>
          </a:prstGeom>
          <a:noFill/>
          <a:ln/>
        </p:spPr>
        <p:txBody>
          <a:bodyPr wrap="square" rtlCol="0" anchor="ctr"/>
          <a:lstStyle/>
          <a:p>
            <a:pPr indent="0" marL="0">
              <a:buNone/>
            </a:pPr>
            <a:r>
              <a:rPr lang="en-US" sz="1500" i="1" dirty="0">
                <a:solidFill>
                  <a:srgbClr val="8BA3BE"/>
                </a:solidFill>
                <a:latin typeface="Calibri" pitchFamily="34" charset="0"/>
                <a:ea typeface="Calibri" pitchFamily="34" charset="-122"/>
                <a:cs typeface="Calibri" pitchFamily="34" charset="-120"/>
              </a:rPr>
              <a:t>Comment nous avons éliminé les ruptures de stock invisibles</a:t>
            </a:r>
            <a:endParaRPr lang="en-US" sz="1500" dirty="0"/>
          </a:p>
          <a:p>
            <a:pPr indent="0" marL="0">
              <a:buNone/>
            </a:pPr>
            <a:r>
              <a:rPr lang="en-US" sz="1500" i="1" dirty="0">
                <a:solidFill>
                  <a:srgbClr val="8BA3BE"/>
                </a:solidFill>
                <a:latin typeface="Calibri" pitchFamily="34" charset="0"/>
                <a:ea typeface="Calibri" pitchFamily="34" charset="-122"/>
                <a:cs typeface="Calibri" pitchFamily="34" charset="-120"/>
              </a:rPr>
              <a:t>dans les épiceries traditionnelles</a:t>
            </a:r>
            <a:endParaRPr lang="en-US" sz="1500" dirty="0"/>
          </a:p>
        </p:txBody>
      </p:sp>
      <p:sp>
        <p:nvSpPr>
          <p:cNvPr id="10" name="Shape 8"/>
          <p:cNvSpPr/>
          <p:nvPr/>
        </p:nvSpPr>
        <p:spPr>
          <a:xfrm>
            <a:off x="749808" y="5120640"/>
            <a:ext cx="7772400" cy="22860"/>
          </a:xfrm>
          <a:prstGeom prst="rect">
            <a:avLst/>
          </a:prstGeom>
          <a:solidFill>
            <a:srgbClr val="1A2E48"/>
          </a:solidFill>
          <a:ln w="12700">
            <a:solidFill>
              <a:srgbClr val="1A2E48"/>
            </a:solidFill>
            <a:prstDash val="solid"/>
          </a:ln>
        </p:spPr>
      </p:sp>
      <p:sp>
        <p:nvSpPr>
          <p:cNvPr id="11" name="Text 9"/>
          <p:cNvSpPr/>
          <p:nvPr/>
        </p:nvSpPr>
        <p:spPr>
          <a:xfrm>
            <a:off x="749808" y="5230368"/>
            <a:ext cx="1828800" cy="256032"/>
          </a:xfrm>
          <a:prstGeom prst="rect">
            <a:avLst/>
          </a:prstGeom>
          <a:noFill/>
          <a:ln/>
        </p:spPr>
        <p:txBody>
          <a:bodyPr wrap="square" rtlCol="0" anchor="ctr"/>
          <a:lstStyle/>
          <a:p>
            <a:pPr indent="0" marL="0">
              <a:buNone/>
            </a:pPr>
            <a:r>
              <a:rPr lang="en-US" sz="1000" dirty="0">
                <a:solidFill>
                  <a:srgbClr val="8BA3BE"/>
                </a:solidFill>
                <a:latin typeface="Calibri" pitchFamily="34" charset="0"/>
                <a:ea typeface="Calibri" pitchFamily="34" charset="-122"/>
                <a:cs typeface="Calibri" pitchFamily="34" charset="-120"/>
              </a:rPr>
              <a:t>Réalisé par</a:t>
            </a:r>
            <a:endParaRPr lang="en-US" sz="1000" dirty="0"/>
          </a:p>
        </p:txBody>
      </p:sp>
      <p:sp>
        <p:nvSpPr>
          <p:cNvPr id="12" name="Text 10"/>
          <p:cNvSpPr/>
          <p:nvPr/>
        </p:nvSpPr>
        <p:spPr>
          <a:xfrm>
            <a:off x="749808" y="5532120"/>
            <a:ext cx="8229600" cy="38404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BAGHDAD Mohamed   ·   BAAKKA Monssfe</a:t>
            </a:r>
            <a:endParaRPr lang="en-US" sz="1800" dirty="0"/>
          </a:p>
        </p:txBody>
      </p:sp>
      <p:sp>
        <p:nvSpPr>
          <p:cNvPr id="13" name="Shape 11"/>
          <p:cNvSpPr/>
          <p:nvPr/>
        </p:nvSpPr>
        <p:spPr>
          <a:xfrm>
            <a:off x="749808" y="6144768"/>
            <a:ext cx="1261872" cy="256032"/>
          </a:xfrm>
          <a:prstGeom prst="roundRect">
            <a:avLst>
              <a:gd name="adj" fmla="val 21429"/>
            </a:avLst>
          </a:prstGeom>
          <a:solidFill>
            <a:srgbClr val="1A2E48"/>
          </a:solidFill>
          <a:ln w="12700">
            <a:solidFill>
              <a:srgbClr val="1A2E48"/>
            </a:solidFill>
            <a:prstDash val="solid"/>
          </a:ln>
        </p:spPr>
      </p:sp>
      <p:sp>
        <p:nvSpPr>
          <p:cNvPr id="14" name="Text 12"/>
          <p:cNvSpPr/>
          <p:nvPr/>
        </p:nvSpPr>
        <p:spPr>
          <a:xfrm>
            <a:off x="749808" y="6144768"/>
            <a:ext cx="12618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NestJS</a:t>
            </a:r>
            <a:endParaRPr lang="en-US" sz="900" dirty="0"/>
          </a:p>
        </p:txBody>
      </p:sp>
      <p:sp>
        <p:nvSpPr>
          <p:cNvPr id="15" name="Shape 13"/>
          <p:cNvSpPr/>
          <p:nvPr/>
        </p:nvSpPr>
        <p:spPr>
          <a:xfrm>
            <a:off x="2167128" y="6144768"/>
            <a:ext cx="1261872" cy="256032"/>
          </a:xfrm>
          <a:prstGeom prst="roundRect">
            <a:avLst>
              <a:gd name="adj" fmla="val 21429"/>
            </a:avLst>
          </a:prstGeom>
          <a:solidFill>
            <a:srgbClr val="1A2E48"/>
          </a:solidFill>
          <a:ln w="12700">
            <a:solidFill>
              <a:srgbClr val="1A2E48"/>
            </a:solidFill>
            <a:prstDash val="solid"/>
          </a:ln>
        </p:spPr>
      </p:sp>
      <p:sp>
        <p:nvSpPr>
          <p:cNvPr id="16" name="Text 14"/>
          <p:cNvSpPr/>
          <p:nvPr/>
        </p:nvSpPr>
        <p:spPr>
          <a:xfrm>
            <a:off x="2167128" y="6144768"/>
            <a:ext cx="12618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Next.js</a:t>
            </a:r>
            <a:endParaRPr lang="en-US" sz="900" dirty="0"/>
          </a:p>
        </p:txBody>
      </p:sp>
      <p:sp>
        <p:nvSpPr>
          <p:cNvPr id="17" name="Shape 15"/>
          <p:cNvSpPr/>
          <p:nvPr/>
        </p:nvSpPr>
        <p:spPr>
          <a:xfrm>
            <a:off x="3584448" y="6144768"/>
            <a:ext cx="1261872" cy="256032"/>
          </a:xfrm>
          <a:prstGeom prst="roundRect">
            <a:avLst>
              <a:gd name="adj" fmla="val 21429"/>
            </a:avLst>
          </a:prstGeom>
          <a:solidFill>
            <a:srgbClr val="1A2E48"/>
          </a:solidFill>
          <a:ln w="12700">
            <a:solidFill>
              <a:srgbClr val="1A2E48"/>
            </a:solidFill>
            <a:prstDash val="solid"/>
          </a:ln>
        </p:spPr>
      </p:sp>
      <p:sp>
        <p:nvSpPr>
          <p:cNvPr id="18" name="Text 16"/>
          <p:cNvSpPr/>
          <p:nvPr/>
        </p:nvSpPr>
        <p:spPr>
          <a:xfrm>
            <a:off x="3584448" y="6144768"/>
            <a:ext cx="12618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PostgreSQL</a:t>
            </a:r>
            <a:endParaRPr lang="en-US" sz="900" dirty="0"/>
          </a:p>
        </p:txBody>
      </p:sp>
      <p:sp>
        <p:nvSpPr>
          <p:cNvPr id="19" name="Shape 17"/>
          <p:cNvSpPr/>
          <p:nvPr/>
        </p:nvSpPr>
        <p:spPr>
          <a:xfrm>
            <a:off x="5001768" y="6144768"/>
            <a:ext cx="1261872" cy="256032"/>
          </a:xfrm>
          <a:prstGeom prst="roundRect">
            <a:avLst>
              <a:gd name="adj" fmla="val 21429"/>
            </a:avLst>
          </a:prstGeom>
          <a:solidFill>
            <a:srgbClr val="1A2E48"/>
          </a:solidFill>
          <a:ln w="12700">
            <a:solidFill>
              <a:srgbClr val="1A2E48"/>
            </a:solidFill>
            <a:prstDash val="solid"/>
          </a:ln>
        </p:spPr>
      </p:sp>
      <p:sp>
        <p:nvSpPr>
          <p:cNvPr id="20" name="Text 18"/>
          <p:cNvSpPr/>
          <p:nvPr/>
        </p:nvSpPr>
        <p:spPr>
          <a:xfrm>
            <a:off x="5001768" y="6144768"/>
            <a:ext cx="12618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Prisma</a:t>
            </a:r>
            <a:endParaRPr lang="en-US" sz="900" dirty="0"/>
          </a:p>
        </p:txBody>
      </p:sp>
      <p:sp>
        <p:nvSpPr>
          <p:cNvPr id="21" name="Shape 19"/>
          <p:cNvSpPr/>
          <p:nvPr/>
        </p:nvSpPr>
        <p:spPr>
          <a:xfrm>
            <a:off x="6419088" y="6144768"/>
            <a:ext cx="1261872" cy="256032"/>
          </a:xfrm>
          <a:prstGeom prst="roundRect">
            <a:avLst>
              <a:gd name="adj" fmla="val 21429"/>
            </a:avLst>
          </a:prstGeom>
          <a:solidFill>
            <a:srgbClr val="1A2E48"/>
          </a:solidFill>
          <a:ln w="12700">
            <a:solidFill>
              <a:srgbClr val="1A2E48"/>
            </a:solidFill>
            <a:prstDash val="solid"/>
          </a:ln>
        </p:spPr>
      </p:sp>
      <p:sp>
        <p:nvSpPr>
          <p:cNvPr id="22" name="Text 20"/>
          <p:cNvSpPr/>
          <p:nvPr/>
        </p:nvSpPr>
        <p:spPr>
          <a:xfrm>
            <a:off x="6419088" y="6144768"/>
            <a:ext cx="12618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Redis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05C5C"/>
          </a:solidFill>
          <a:ln w="12700">
            <a:solidFill>
              <a:srgbClr val="E05C5C"/>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E05C5C"/>
                </a:solidFill>
                <a:latin typeface="Calibri" pitchFamily="34" charset="0"/>
                <a:ea typeface="Calibri" pitchFamily="34" charset="-122"/>
                <a:cs typeface="Calibri" pitchFamily="34" charset="-120"/>
              </a:rPr>
              <a:t>LE PROBLÈME</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Une histoire que chaque épicier connaît</a:t>
            </a:r>
            <a:endParaRPr lang="en-US" sz="2600" dirty="0"/>
          </a:p>
        </p:txBody>
      </p:sp>
      <p:sp>
        <p:nvSpPr>
          <p:cNvPr id="5" name="Shape 3"/>
          <p:cNvSpPr/>
          <p:nvPr/>
        </p:nvSpPr>
        <p:spPr>
          <a:xfrm>
            <a:off x="228600" y="1216152"/>
            <a:ext cx="11704320" cy="22860"/>
          </a:xfrm>
          <a:prstGeom prst="rect">
            <a:avLst/>
          </a:prstGeom>
          <a:solidFill>
            <a:srgbClr val="E05C5C"/>
          </a:solidFill>
          <a:ln w="12700">
            <a:solidFill>
              <a:srgbClr val="E05C5C"/>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2 / 12</a:t>
            </a:r>
            <a:endParaRPr lang="en-US" sz="900" dirty="0"/>
          </a:p>
        </p:txBody>
      </p:sp>
      <p:sp>
        <p:nvSpPr>
          <p:cNvPr id="7" name="Shape 5"/>
          <p:cNvSpPr/>
          <p:nvPr/>
        </p:nvSpPr>
        <p:spPr>
          <a:xfrm>
            <a:off x="228600" y="1353312"/>
            <a:ext cx="6858000" cy="1920240"/>
          </a:xfrm>
          <a:prstGeom prst="roundRect">
            <a:avLst>
              <a:gd name="adj" fmla="val 3333"/>
            </a:avLst>
          </a:prstGeom>
          <a:solidFill>
            <a:srgbClr val="112236"/>
          </a:solidFill>
          <a:ln w="19050">
            <a:solidFill>
              <a:srgbClr val="E05C5C"/>
            </a:solidFill>
            <a:prstDash val="solid"/>
          </a:ln>
        </p:spPr>
      </p:sp>
      <p:sp>
        <p:nvSpPr>
          <p:cNvPr id="8" name="Text 6"/>
          <p:cNvSpPr/>
          <p:nvPr/>
        </p:nvSpPr>
        <p:spPr>
          <a:xfrm>
            <a:off x="411480" y="1417320"/>
            <a:ext cx="6492240" cy="320040"/>
          </a:xfrm>
          <a:prstGeom prst="rect">
            <a:avLst/>
          </a:prstGeom>
          <a:noFill/>
          <a:ln/>
        </p:spPr>
        <p:txBody>
          <a:bodyPr wrap="square" rtlCol="0" anchor="ctr"/>
          <a:lstStyle/>
          <a:p>
            <a:pPr indent="0" marL="0">
              <a:buNone/>
            </a:pPr>
            <a:r>
              <a:rPr lang="en-US" sz="1200" b="1" dirty="0">
                <a:solidFill>
                  <a:srgbClr val="E05C5C"/>
                </a:solidFill>
                <a:latin typeface="Calibri" pitchFamily="34" charset="0"/>
                <a:ea typeface="Calibri" pitchFamily="34" charset="-122"/>
                <a:cs typeface="Calibri" pitchFamily="34" charset="-120"/>
              </a:rPr>
              <a:t>Scène : lundi matin, Casablanca</a:t>
            </a:r>
            <a:endParaRPr lang="en-US" sz="1200" dirty="0"/>
          </a:p>
        </p:txBody>
      </p:sp>
      <p:sp>
        <p:nvSpPr>
          <p:cNvPr id="9" name="Text 7"/>
          <p:cNvSpPr/>
          <p:nvPr/>
        </p:nvSpPr>
        <p:spPr>
          <a:xfrm>
            <a:off x="411480" y="1783080"/>
            <a:ext cx="6492240" cy="1371600"/>
          </a:xfrm>
          <a:prstGeom prst="rect">
            <a:avLst/>
          </a:prstGeom>
          <a:noFill/>
          <a:ln/>
        </p:spPr>
        <p:txBody>
          <a:bodyPr wrap="square" rtlCol="0" anchor="t"/>
          <a:lstStyle/>
          <a:p>
            <a:pPr indent="0" marL="0">
              <a:buNone/>
            </a:pPr>
            <a:r>
              <a:rPr lang="en-US" sz="1450" dirty="0">
                <a:solidFill>
                  <a:srgbClr val="FFFFFF"/>
                </a:solidFill>
                <a:latin typeface="Calibri" pitchFamily="34" charset="0"/>
                <a:ea typeface="Calibri" pitchFamily="34" charset="-122"/>
                <a:cs typeface="Calibri" pitchFamily="34" charset="-120"/>
              </a:rPr>
              <a:t>Un client entre et demande une Coca-Cola.</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Le rayon est vide. Le patron s'excuse.</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Le client repart — peut-être sans revenir.</a:t>
            </a:r>
            <a:endParaRPr lang="en-US" sz="1450" dirty="0"/>
          </a:p>
          <a:p>
            <a:pPr indent="0" marL="0">
              <a:buNone/>
            </a:pP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Or, il y avait encore 3 caisses en réserve. Personne ne le savait.</a:t>
            </a:r>
            <a:endParaRPr lang="en-US" sz="1450" dirty="0"/>
          </a:p>
        </p:txBody>
      </p:sp>
      <p:sp>
        <p:nvSpPr>
          <p:cNvPr id="10" name="Shape 8"/>
          <p:cNvSpPr/>
          <p:nvPr/>
        </p:nvSpPr>
        <p:spPr>
          <a:xfrm>
            <a:off x="7360920" y="1353312"/>
            <a:ext cx="4617720" cy="1920240"/>
          </a:xfrm>
          <a:prstGeom prst="roundRect">
            <a:avLst>
              <a:gd name="adj" fmla="val 3333"/>
            </a:avLst>
          </a:prstGeom>
          <a:solidFill>
            <a:srgbClr val="112236"/>
          </a:solidFill>
          <a:ln w="19050">
            <a:solidFill>
              <a:srgbClr val="E05C5C"/>
            </a:solidFill>
            <a:prstDash val="solid"/>
          </a:ln>
        </p:spPr>
      </p:sp>
      <p:sp>
        <p:nvSpPr>
          <p:cNvPr id="11" name="Text 9"/>
          <p:cNvSpPr/>
          <p:nvPr/>
        </p:nvSpPr>
        <p:spPr>
          <a:xfrm>
            <a:off x="7543800" y="1417320"/>
            <a:ext cx="4297680" cy="320040"/>
          </a:xfrm>
          <a:prstGeom prst="rect">
            <a:avLst/>
          </a:prstGeom>
          <a:noFill/>
          <a:ln/>
        </p:spPr>
        <p:txBody>
          <a:bodyPr wrap="square" rtlCol="0" anchor="ctr"/>
          <a:lstStyle/>
          <a:p>
            <a:pPr indent="0" marL="0">
              <a:buNone/>
            </a:pPr>
            <a:r>
              <a:rPr lang="en-US" sz="1200" b="1" dirty="0">
                <a:solidFill>
                  <a:srgbClr val="E05C5C"/>
                </a:solidFill>
                <a:latin typeface="Calibri" pitchFamily="34" charset="0"/>
                <a:ea typeface="Calibri" pitchFamily="34" charset="-122"/>
                <a:cs typeface="Calibri" pitchFamily="34" charset="-120"/>
              </a:rPr>
              <a:t>Impact direct</a:t>
            </a:r>
            <a:endParaRPr lang="en-US" sz="1200" dirty="0"/>
          </a:p>
        </p:txBody>
      </p:sp>
      <p:sp>
        <p:nvSpPr>
          <p:cNvPr id="12" name="Shape 10"/>
          <p:cNvSpPr/>
          <p:nvPr/>
        </p:nvSpPr>
        <p:spPr>
          <a:xfrm>
            <a:off x="7543800" y="1810512"/>
            <a:ext cx="109728" cy="201168"/>
          </a:xfrm>
          <a:prstGeom prst="rect">
            <a:avLst/>
          </a:prstGeom>
          <a:solidFill>
            <a:srgbClr val="E05C5C"/>
          </a:solidFill>
          <a:ln w="12700">
            <a:solidFill>
              <a:srgbClr val="E05C5C"/>
            </a:solidFill>
            <a:prstDash val="solid"/>
          </a:ln>
        </p:spPr>
      </p:sp>
      <p:sp>
        <p:nvSpPr>
          <p:cNvPr id="13" name="Text 11"/>
          <p:cNvSpPr/>
          <p:nvPr/>
        </p:nvSpPr>
        <p:spPr>
          <a:xfrm>
            <a:off x="7744968" y="1801368"/>
            <a:ext cx="411480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Vente perdue</a:t>
            </a:r>
            <a:endParaRPr lang="en-US" sz="1300" dirty="0"/>
          </a:p>
        </p:txBody>
      </p:sp>
      <p:sp>
        <p:nvSpPr>
          <p:cNvPr id="14" name="Shape 12"/>
          <p:cNvSpPr/>
          <p:nvPr/>
        </p:nvSpPr>
        <p:spPr>
          <a:xfrm>
            <a:off x="7543800" y="2157984"/>
            <a:ext cx="109728" cy="201168"/>
          </a:xfrm>
          <a:prstGeom prst="rect">
            <a:avLst/>
          </a:prstGeom>
          <a:solidFill>
            <a:srgbClr val="E05C5C"/>
          </a:solidFill>
          <a:ln w="12700">
            <a:solidFill>
              <a:srgbClr val="E05C5C"/>
            </a:solidFill>
            <a:prstDash val="solid"/>
          </a:ln>
        </p:spPr>
      </p:sp>
      <p:sp>
        <p:nvSpPr>
          <p:cNvPr id="15" name="Text 13"/>
          <p:cNvSpPr/>
          <p:nvPr/>
        </p:nvSpPr>
        <p:spPr>
          <a:xfrm>
            <a:off x="7744968" y="2148840"/>
            <a:ext cx="411480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Client insatisfait</a:t>
            </a:r>
            <a:endParaRPr lang="en-US" sz="1300" dirty="0"/>
          </a:p>
        </p:txBody>
      </p:sp>
      <p:sp>
        <p:nvSpPr>
          <p:cNvPr id="16" name="Shape 14"/>
          <p:cNvSpPr/>
          <p:nvPr/>
        </p:nvSpPr>
        <p:spPr>
          <a:xfrm>
            <a:off x="7543800" y="2505456"/>
            <a:ext cx="109728" cy="201168"/>
          </a:xfrm>
          <a:prstGeom prst="rect">
            <a:avLst/>
          </a:prstGeom>
          <a:solidFill>
            <a:srgbClr val="E05C5C"/>
          </a:solidFill>
          <a:ln w="12700">
            <a:solidFill>
              <a:srgbClr val="E05C5C"/>
            </a:solidFill>
            <a:prstDash val="solid"/>
          </a:ln>
        </p:spPr>
      </p:sp>
      <p:sp>
        <p:nvSpPr>
          <p:cNvPr id="17" name="Text 15"/>
          <p:cNvSpPr/>
          <p:nvPr/>
        </p:nvSpPr>
        <p:spPr>
          <a:xfrm>
            <a:off x="7744968" y="2496312"/>
            <a:ext cx="411480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Réputation abîmée</a:t>
            </a:r>
            <a:endParaRPr lang="en-US" sz="1300" dirty="0"/>
          </a:p>
        </p:txBody>
      </p:sp>
      <p:sp>
        <p:nvSpPr>
          <p:cNvPr id="18" name="Shape 16"/>
          <p:cNvSpPr/>
          <p:nvPr/>
        </p:nvSpPr>
        <p:spPr>
          <a:xfrm>
            <a:off x="7543800" y="2852928"/>
            <a:ext cx="109728" cy="201168"/>
          </a:xfrm>
          <a:prstGeom prst="rect">
            <a:avLst/>
          </a:prstGeom>
          <a:solidFill>
            <a:srgbClr val="E05C5C"/>
          </a:solidFill>
          <a:ln w="12700">
            <a:solidFill>
              <a:srgbClr val="E05C5C"/>
            </a:solidFill>
            <a:prstDash val="solid"/>
          </a:ln>
        </p:spPr>
      </p:sp>
      <p:sp>
        <p:nvSpPr>
          <p:cNvPr id="19" name="Text 17"/>
          <p:cNvSpPr/>
          <p:nvPr/>
        </p:nvSpPr>
        <p:spPr>
          <a:xfrm>
            <a:off x="7744968" y="2843784"/>
            <a:ext cx="411480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Perte de revenu</a:t>
            </a:r>
            <a:endParaRPr lang="en-US" sz="1300" dirty="0"/>
          </a:p>
        </p:txBody>
      </p:sp>
      <p:sp>
        <p:nvSpPr>
          <p:cNvPr id="20" name="Shape 18"/>
          <p:cNvSpPr/>
          <p:nvPr/>
        </p:nvSpPr>
        <p:spPr>
          <a:xfrm>
            <a:off x="228600" y="3456432"/>
            <a:ext cx="2788920" cy="1664208"/>
          </a:xfrm>
          <a:prstGeom prst="roundRect">
            <a:avLst>
              <a:gd name="adj" fmla="val 3846"/>
            </a:avLst>
          </a:prstGeom>
          <a:solidFill>
            <a:srgbClr val="112236"/>
          </a:solidFill>
          <a:ln w="19050">
            <a:solidFill>
              <a:srgbClr val="E05C5C"/>
            </a:solidFill>
            <a:prstDash val="solid"/>
          </a:ln>
        </p:spPr>
      </p:sp>
      <p:sp>
        <p:nvSpPr>
          <p:cNvPr id="21" name="Shape 19"/>
          <p:cNvSpPr/>
          <p:nvPr/>
        </p:nvSpPr>
        <p:spPr>
          <a:xfrm>
            <a:off x="393192" y="3584448"/>
            <a:ext cx="475488" cy="475488"/>
          </a:xfrm>
          <a:prstGeom prst="ellipse">
            <a:avLst/>
          </a:prstGeom>
          <a:solidFill>
            <a:srgbClr val="E05C5C">
              <a:alpha val="80000"/>
            </a:srgbClr>
          </a:solidFill>
          <a:ln w="12700">
            <a:solidFill>
              <a:srgbClr val="E05C5C"/>
            </a:solidFill>
            <a:prstDash val="solid"/>
          </a:ln>
        </p:spPr>
      </p:sp>
      <p:sp>
        <p:nvSpPr>
          <p:cNvPr id="22" name="Shape 20"/>
          <p:cNvSpPr/>
          <p:nvPr/>
        </p:nvSpPr>
        <p:spPr>
          <a:xfrm>
            <a:off x="521208" y="3730752"/>
            <a:ext cx="219456" cy="32004"/>
          </a:xfrm>
          <a:prstGeom prst="rect">
            <a:avLst/>
          </a:prstGeom>
          <a:solidFill>
            <a:srgbClr val="FFFFFF"/>
          </a:solidFill>
          <a:ln w="12700">
            <a:solidFill>
              <a:srgbClr val="FFFFFF"/>
            </a:solidFill>
            <a:prstDash val="solid"/>
          </a:ln>
        </p:spPr>
      </p:sp>
      <p:sp>
        <p:nvSpPr>
          <p:cNvPr id="23" name="Shape 21"/>
          <p:cNvSpPr/>
          <p:nvPr/>
        </p:nvSpPr>
        <p:spPr>
          <a:xfrm>
            <a:off x="608076" y="3653028"/>
            <a:ext cx="32004" cy="192024"/>
          </a:xfrm>
          <a:prstGeom prst="rect">
            <a:avLst/>
          </a:prstGeom>
          <a:solidFill>
            <a:srgbClr val="FFFFFF"/>
          </a:solidFill>
          <a:ln w="12700">
            <a:solidFill>
              <a:srgbClr val="FFFFFF"/>
            </a:solidFill>
            <a:prstDash val="solid"/>
          </a:ln>
        </p:spPr>
      </p:sp>
      <p:sp>
        <p:nvSpPr>
          <p:cNvPr id="24" name="Text 22"/>
          <p:cNvSpPr/>
          <p:nvPr/>
        </p:nvSpPr>
        <p:spPr>
          <a:xfrm>
            <a:off x="978408" y="3566160"/>
            <a:ext cx="1920240" cy="13716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Aucun système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de suivi du stock</a:t>
            </a:r>
            <a:endParaRPr lang="en-US" sz="1250" dirty="0"/>
          </a:p>
        </p:txBody>
      </p:sp>
      <p:sp>
        <p:nvSpPr>
          <p:cNvPr id="25" name="Shape 23"/>
          <p:cNvSpPr/>
          <p:nvPr/>
        </p:nvSpPr>
        <p:spPr>
          <a:xfrm>
            <a:off x="3218688" y="3456432"/>
            <a:ext cx="2788920" cy="1664208"/>
          </a:xfrm>
          <a:prstGeom prst="roundRect">
            <a:avLst>
              <a:gd name="adj" fmla="val 3846"/>
            </a:avLst>
          </a:prstGeom>
          <a:solidFill>
            <a:srgbClr val="112236"/>
          </a:solidFill>
          <a:ln w="19050">
            <a:solidFill>
              <a:srgbClr val="F0A500"/>
            </a:solidFill>
            <a:prstDash val="solid"/>
          </a:ln>
        </p:spPr>
      </p:sp>
      <p:sp>
        <p:nvSpPr>
          <p:cNvPr id="26" name="Shape 24"/>
          <p:cNvSpPr/>
          <p:nvPr/>
        </p:nvSpPr>
        <p:spPr>
          <a:xfrm>
            <a:off x="3383280" y="3584448"/>
            <a:ext cx="475488" cy="475488"/>
          </a:xfrm>
          <a:prstGeom prst="ellipse">
            <a:avLst/>
          </a:prstGeom>
          <a:solidFill>
            <a:srgbClr val="F0A500">
              <a:alpha val="80000"/>
            </a:srgbClr>
          </a:solidFill>
          <a:ln w="12700">
            <a:solidFill>
              <a:srgbClr val="F0A500"/>
            </a:solidFill>
            <a:prstDash val="solid"/>
          </a:ln>
        </p:spPr>
      </p:sp>
      <p:sp>
        <p:nvSpPr>
          <p:cNvPr id="27" name="Shape 25"/>
          <p:cNvSpPr/>
          <p:nvPr/>
        </p:nvSpPr>
        <p:spPr>
          <a:xfrm>
            <a:off x="3511296" y="3730752"/>
            <a:ext cx="219456" cy="32004"/>
          </a:xfrm>
          <a:prstGeom prst="rect">
            <a:avLst/>
          </a:prstGeom>
          <a:solidFill>
            <a:srgbClr val="FFFFFF"/>
          </a:solidFill>
          <a:ln w="12700">
            <a:solidFill>
              <a:srgbClr val="FFFFFF"/>
            </a:solidFill>
            <a:prstDash val="solid"/>
          </a:ln>
        </p:spPr>
      </p:sp>
      <p:sp>
        <p:nvSpPr>
          <p:cNvPr id="28" name="Shape 26"/>
          <p:cNvSpPr/>
          <p:nvPr/>
        </p:nvSpPr>
        <p:spPr>
          <a:xfrm>
            <a:off x="3598164" y="3653028"/>
            <a:ext cx="32004" cy="192024"/>
          </a:xfrm>
          <a:prstGeom prst="rect">
            <a:avLst/>
          </a:prstGeom>
          <a:solidFill>
            <a:srgbClr val="FFFFFF"/>
          </a:solidFill>
          <a:ln w="12700">
            <a:solidFill>
              <a:srgbClr val="FFFFFF"/>
            </a:solidFill>
            <a:prstDash val="solid"/>
          </a:ln>
        </p:spPr>
      </p:sp>
      <p:sp>
        <p:nvSpPr>
          <p:cNvPr id="29" name="Text 27"/>
          <p:cNvSpPr/>
          <p:nvPr/>
        </p:nvSpPr>
        <p:spPr>
          <a:xfrm>
            <a:off x="3968496" y="3566160"/>
            <a:ext cx="1920240" cy="13716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Dates d'expiration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sur papier ou oubliées</a:t>
            </a:r>
            <a:endParaRPr lang="en-US" sz="1250" dirty="0"/>
          </a:p>
        </p:txBody>
      </p:sp>
      <p:sp>
        <p:nvSpPr>
          <p:cNvPr id="30" name="Shape 28"/>
          <p:cNvSpPr/>
          <p:nvPr/>
        </p:nvSpPr>
        <p:spPr>
          <a:xfrm>
            <a:off x="6208776" y="3456432"/>
            <a:ext cx="2788920" cy="1664208"/>
          </a:xfrm>
          <a:prstGeom prst="roundRect">
            <a:avLst>
              <a:gd name="adj" fmla="val 3846"/>
            </a:avLst>
          </a:prstGeom>
          <a:solidFill>
            <a:srgbClr val="112236"/>
          </a:solidFill>
          <a:ln w="19050">
            <a:solidFill>
              <a:srgbClr val="E05C5C"/>
            </a:solidFill>
            <a:prstDash val="solid"/>
          </a:ln>
        </p:spPr>
      </p:sp>
      <p:sp>
        <p:nvSpPr>
          <p:cNvPr id="31" name="Shape 29"/>
          <p:cNvSpPr/>
          <p:nvPr/>
        </p:nvSpPr>
        <p:spPr>
          <a:xfrm>
            <a:off x="6373368" y="3584448"/>
            <a:ext cx="475488" cy="475488"/>
          </a:xfrm>
          <a:prstGeom prst="ellipse">
            <a:avLst/>
          </a:prstGeom>
          <a:solidFill>
            <a:srgbClr val="E05C5C">
              <a:alpha val="80000"/>
            </a:srgbClr>
          </a:solidFill>
          <a:ln w="12700">
            <a:solidFill>
              <a:srgbClr val="E05C5C"/>
            </a:solidFill>
            <a:prstDash val="solid"/>
          </a:ln>
        </p:spPr>
      </p:sp>
      <p:sp>
        <p:nvSpPr>
          <p:cNvPr id="32" name="Shape 30"/>
          <p:cNvSpPr/>
          <p:nvPr/>
        </p:nvSpPr>
        <p:spPr>
          <a:xfrm>
            <a:off x="6501384" y="3730752"/>
            <a:ext cx="219456" cy="32004"/>
          </a:xfrm>
          <a:prstGeom prst="rect">
            <a:avLst/>
          </a:prstGeom>
          <a:solidFill>
            <a:srgbClr val="FFFFFF"/>
          </a:solidFill>
          <a:ln w="12700">
            <a:solidFill>
              <a:srgbClr val="FFFFFF"/>
            </a:solidFill>
            <a:prstDash val="solid"/>
          </a:ln>
        </p:spPr>
      </p:sp>
      <p:sp>
        <p:nvSpPr>
          <p:cNvPr id="33" name="Shape 31"/>
          <p:cNvSpPr/>
          <p:nvPr/>
        </p:nvSpPr>
        <p:spPr>
          <a:xfrm>
            <a:off x="6588252" y="3653028"/>
            <a:ext cx="32004" cy="192024"/>
          </a:xfrm>
          <a:prstGeom prst="rect">
            <a:avLst/>
          </a:prstGeom>
          <a:solidFill>
            <a:srgbClr val="FFFFFF"/>
          </a:solidFill>
          <a:ln w="12700">
            <a:solidFill>
              <a:srgbClr val="FFFFFF"/>
            </a:solidFill>
            <a:prstDash val="solid"/>
          </a:ln>
        </p:spPr>
      </p:sp>
      <p:sp>
        <p:nvSpPr>
          <p:cNvPr id="34" name="Text 32"/>
          <p:cNvSpPr/>
          <p:nvPr/>
        </p:nvSpPr>
        <p:spPr>
          <a:xfrm>
            <a:off x="6958584" y="3566160"/>
            <a:ext cx="1920240" cy="13716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Rupture découverte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quand le client demande</a:t>
            </a:r>
            <a:endParaRPr lang="en-US" sz="1250" dirty="0"/>
          </a:p>
        </p:txBody>
      </p:sp>
      <p:sp>
        <p:nvSpPr>
          <p:cNvPr id="35" name="Shape 33"/>
          <p:cNvSpPr/>
          <p:nvPr/>
        </p:nvSpPr>
        <p:spPr>
          <a:xfrm>
            <a:off x="9198864" y="3456432"/>
            <a:ext cx="2788920" cy="1664208"/>
          </a:xfrm>
          <a:prstGeom prst="roundRect">
            <a:avLst>
              <a:gd name="adj" fmla="val 3846"/>
            </a:avLst>
          </a:prstGeom>
          <a:solidFill>
            <a:srgbClr val="112236"/>
          </a:solidFill>
          <a:ln w="19050">
            <a:solidFill>
              <a:srgbClr val="5B7A99"/>
            </a:solidFill>
            <a:prstDash val="solid"/>
          </a:ln>
        </p:spPr>
      </p:sp>
      <p:sp>
        <p:nvSpPr>
          <p:cNvPr id="36" name="Shape 34"/>
          <p:cNvSpPr/>
          <p:nvPr/>
        </p:nvSpPr>
        <p:spPr>
          <a:xfrm>
            <a:off x="9363456" y="3584448"/>
            <a:ext cx="475488" cy="475488"/>
          </a:xfrm>
          <a:prstGeom prst="ellipse">
            <a:avLst/>
          </a:prstGeom>
          <a:solidFill>
            <a:srgbClr val="5B7A99">
              <a:alpha val="80000"/>
            </a:srgbClr>
          </a:solidFill>
          <a:ln w="12700">
            <a:solidFill>
              <a:srgbClr val="5B7A99"/>
            </a:solidFill>
            <a:prstDash val="solid"/>
          </a:ln>
        </p:spPr>
      </p:sp>
      <p:sp>
        <p:nvSpPr>
          <p:cNvPr id="37" name="Shape 35"/>
          <p:cNvSpPr/>
          <p:nvPr/>
        </p:nvSpPr>
        <p:spPr>
          <a:xfrm>
            <a:off x="9491472" y="3730752"/>
            <a:ext cx="219456" cy="32004"/>
          </a:xfrm>
          <a:prstGeom prst="rect">
            <a:avLst/>
          </a:prstGeom>
          <a:solidFill>
            <a:srgbClr val="FFFFFF"/>
          </a:solidFill>
          <a:ln w="12700">
            <a:solidFill>
              <a:srgbClr val="FFFFFF"/>
            </a:solidFill>
            <a:prstDash val="solid"/>
          </a:ln>
        </p:spPr>
      </p:sp>
      <p:sp>
        <p:nvSpPr>
          <p:cNvPr id="38" name="Shape 36"/>
          <p:cNvSpPr/>
          <p:nvPr/>
        </p:nvSpPr>
        <p:spPr>
          <a:xfrm>
            <a:off x="9578340" y="3653028"/>
            <a:ext cx="32004" cy="192024"/>
          </a:xfrm>
          <a:prstGeom prst="rect">
            <a:avLst/>
          </a:prstGeom>
          <a:solidFill>
            <a:srgbClr val="FFFFFF"/>
          </a:solidFill>
          <a:ln w="12700">
            <a:solidFill>
              <a:srgbClr val="FFFFFF"/>
            </a:solidFill>
            <a:prstDash val="solid"/>
          </a:ln>
        </p:spPr>
      </p:sp>
      <p:sp>
        <p:nvSpPr>
          <p:cNvPr id="39" name="Text 37"/>
          <p:cNvSpPr/>
          <p:nvPr/>
        </p:nvSpPr>
        <p:spPr>
          <a:xfrm>
            <a:off x="9948672" y="3566160"/>
            <a:ext cx="1920240" cy="13716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Mouvements de stock</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complètement invisibles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CB879"/>
          </a:solidFill>
          <a:ln w="12700">
            <a:solidFill>
              <a:srgbClr val="3CB879"/>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3CB879"/>
                </a:solidFill>
                <a:latin typeface="Calibri" pitchFamily="34" charset="0"/>
                <a:ea typeface="Calibri" pitchFamily="34" charset="-122"/>
                <a:cs typeface="Calibri" pitchFamily="34" charset="-120"/>
              </a:rPr>
              <a:t>NOTRE SOLUTION</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Un système qui surveille les rayons 24h/24</a:t>
            </a:r>
            <a:endParaRPr lang="en-US" sz="2600" dirty="0"/>
          </a:p>
        </p:txBody>
      </p:sp>
      <p:sp>
        <p:nvSpPr>
          <p:cNvPr id="5" name="Shape 3"/>
          <p:cNvSpPr/>
          <p:nvPr/>
        </p:nvSpPr>
        <p:spPr>
          <a:xfrm>
            <a:off x="228600" y="1216152"/>
            <a:ext cx="11704320" cy="22860"/>
          </a:xfrm>
          <a:prstGeom prst="rect">
            <a:avLst/>
          </a:prstGeom>
          <a:solidFill>
            <a:srgbClr val="3CB879"/>
          </a:solidFill>
          <a:ln w="12700">
            <a:solidFill>
              <a:srgbClr val="3CB879"/>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3 / 12</a:t>
            </a:r>
            <a:endParaRPr lang="en-US" sz="900" dirty="0"/>
          </a:p>
        </p:txBody>
      </p:sp>
      <p:sp>
        <p:nvSpPr>
          <p:cNvPr id="7" name="Text 5"/>
          <p:cNvSpPr/>
          <p:nvPr/>
        </p:nvSpPr>
        <p:spPr>
          <a:xfrm>
            <a:off x="228600" y="1325880"/>
            <a:ext cx="11704320" cy="384048"/>
          </a:xfrm>
          <a:prstGeom prst="rect">
            <a:avLst/>
          </a:prstGeom>
          <a:noFill/>
          <a:ln/>
        </p:spPr>
        <p:txBody>
          <a:bodyPr wrap="square" rtlCol="0" anchor="ctr"/>
          <a:lstStyle/>
          <a:p>
            <a:pPr indent="0" marL="0">
              <a:buNone/>
            </a:pPr>
            <a:r>
              <a:rPr lang="en-US" sz="1500" i="1" dirty="0">
                <a:solidFill>
                  <a:srgbClr val="4A90D9"/>
                </a:solidFill>
                <a:latin typeface="Calibri" pitchFamily="34" charset="0"/>
                <a:ea typeface="Calibri" pitchFamily="34" charset="-122"/>
                <a:cs typeface="Calibri" pitchFamily="34" charset="-120"/>
              </a:rPr>
              <a:t>Nous avons intégré une couche d'intelligence du stock directement dans le point de vente.</a:t>
            </a:r>
            <a:endParaRPr lang="en-US" sz="1500" dirty="0"/>
          </a:p>
        </p:txBody>
      </p:sp>
      <p:sp>
        <p:nvSpPr>
          <p:cNvPr id="8" name="Shape 6"/>
          <p:cNvSpPr/>
          <p:nvPr/>
        </p:nvSpPr>
        <p:spPr>
          <a:xfrm>
            <a:off x="228600" y="1828800"/>
            <a:ext cx="3749040" cy="4480560"/>
          </a:xfrm>
          <a:prstGeom prst="roundRect">
            <a:avLst>
              <a:gd name="adj" fmla="val 1707"/>
            </a:avLst>
          </a:prstGeom>
          <a:solidFill>
            <a:srgbClr val="112236"/>
          </a:solidFill>
          <a:ln w="19050">
            <a:solidFill>
              <a:srgbClr val="4A90D9"/>
            </a:solidFill>
            <a:prstDash val="solid"/>
          </a:ln>
        </p:spPr>
      </p:sp>
      <p:sp>
        <p:nvSpPr>
          <p:cNvPr id="9" name="Shape 7"/>
          <p:cNvSpPr/>
          <p:nvPr/>
        </p:nvSpPr>
        <p:spPr>
          <a:xfrm>
            <a:off x="228600" y="1828800"/>
            <a:ext cx="3749040" cy="411480"/>
          </a:xfrm>
          <a:prstGeom prst="roundRect">
            <a:avLst>
              <a:gd name="adj" fmla="val 15556"/>
            </a:avLst>
          </a:prstGeom>
          <a:solidFill>
            <a:srgbClr val="4A90D9">
              <a:alpha val="85000"/>
            </a:srgbClr>
          </a:solidFill>
          <a:ln w="12700">
            <a:solidFill>
              <a:srgbClr val="4A90D9"/>
            </a:solidFill>
            <a:prstDash val="solid"/>
          </a:ln>
        </p:spPr>
      </p:sp>
      <p:sp>
        <p:nvSpPr>
          <p:cNvPr id="10" name="Text 8"/>
          <p:cNvSpPr/>
          <p:nvPr/>
        </p:nvSpPr>
        <p:spPr>
          <a:xfrm>
            <a:off x="365760" y="1874520"/>
            <a:ext cx="3474720" cy="320040"/>
          </a:xfrm>
          <a:prstGeom prst="rect">
            <a:avLst/>
          </a:prstGeom>
          <a:noFill/>
          <a:ln/>
        </p:spPr>
        <p:txBody>
          <a:bodyPr wrap="square" rtlCol="0" anchor="ctr"/>
          <a:lstStyle/>
          <a:p>
            <a:pPr indent="0" marL="0">
              <a:buNone/>
            </a:pPr>
            <a:r>
              <a:rPr lang="en-US" sz="900" b="1" spc="120" kern="0" dirty="0">
                <a:solidFill>
                  <a:srgbClr val="FFFFFF"/>
                </a:solidFill>
                <a:latin typeface="Calibri" pitchFamily="34" charset="0"/>
                <a:ea typeface="Calibri" pitchFamily="34" charset="-122"/>
                <a:cs typeface="Calibri" pitchFamily="34" charset="-120"/>
              </a:rPr>
              <a:t>INVENTAIRE EN TEMPS RÉEL</a:t>
            </a:r>
            <a:endParaRPr lang="en-US" sz="900" dirty="0"/>
          </a:p>
        </p:txBody>
      </p:sp>
      <p:sp>
        <p:nvSpPr>
          <p:cNvPr id="11" name="Text 9"/>
          <p:cNvSpPr/>
          <p:nvPr/>
        </p:nvSpPr>
        <p:spPr>
          <a:xfrm>
            <a:off x="365760" y="2331720"/>
            <a:ext cx="3474720" cy="384048"/>
          </a:xfrm>
          <a:prstGeom prst="rect">
            <a:avLst/>
          </a:prstGeom>
          <a:noFill/>
          <a:ln/>
        </p:spPr>
        <p:txBody>
          <a:bodyPr wrap="square" rtlCol="0" anchor="ctr"/>
          <a:lstStyle/>
          <a:p>
            <a:pPr indent="0" marL="0">
              <a:buNone/>
            </a:pPr>
            <a:r>
              <a:rPr lang="en-US" sz="1500" b="1" dirty="0">
                <a:solidFill>
                  <a:srgbClr val="4A90D9"/>
                </a:solidFill>
                <a:latin typeface="Calibri" pitchFamily="34" charset="0"/>
                <a:ea typeface="Calibri" pitchFamily="34" charset="-122"/>
                <a:cs typeface="Calibri" pitchFamily="34" charset="-120"/>
              </a:rPr>
              <a:t>Chaque unité tracée</a:t>
            </a:r>
            <a:endParaRPr lang="en-US" sz="1500" dirty="0"/>
          </a:p>
        </p:txBody>
      </p:sp>
      <p:sp>
        <p:nvSpPr>
          <p:cNvPr id="12" name="Shape 10"/>
          <p:cNvSpPr/>
          <p:nvPr/>
        </p:nvSpPr>
        <p:spPr>
          <a:xfrm>
            <a:off x="365760" y="2761488"/>
            <a:ext cx="3474720" cy="18288"/>
          </a:xfrm>
          <a:prstGeom prst="rect">
            <a:avLst/>
          </a:prstGeom>
          <a:solidFill>
            <a:srgbClr val="4A90D9">
              <a:alpha val="40000"/>
            </a:srgbClr>
          </a:solidFill>
          <a:ln w="12700">
            <a:solidFill>
              <a:srgbClr val="4A90D9">
                <a:alpha val="40000"/>
              </a:srgbClr>
            </a:solidFill>
            <a:prstDash val="solid"/>
          </a:ln>
        </p:spPr>
      </p:sp>
      <p:sp>
        <p:nvSpPr>
          <p:cNvPr id="13" name="Shape 11"/>
          <p:cNvSpPr/>
          <p:nvPr/>
        </p:nvSpPr>
        <p:spPr>
          <a:xfrm>
            <a:off x="365760" y="2871216"/>
            <a:ext cx="91440" cy="91440"/>
          </a:xfrm>
          <a:prstGeom prst="rect">
            <a:avLst/>
          </a:prstGeom>
          <a:solidFill>
            <a:srgbClr val="4A90D9"/>
          </a:solidFill>
          <a:ln w="12700">
            <a:solidFill>
              <a:srgbClr val="4A90D9"/>
            </a:solidFill>
            <a:prstDash val="solid"/>
          </a:ln>
        </p:spPr>
      </p:sp>
      <p:sp>
        <p:nvSpPr>
          <p:cNvPr id="14" name="Text 12"/>
          <p:cNvSpPr/>
          <p:nvPr/>
        </p:nvSpPr>
        <p:spPr>
          <a:xfrm>
            <a:off x="548640" y="282549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Chaque vente et réapprovisionnement met à jour le stock instantanément</a:t>
            </a:r>
            <a:endParaRPr lang="en-US" sz="1200" dirty="0"/>
          </a:p>
        </p:txBody>
      </p:sp>
      <p:sp>
        <p:nvSpPr>
          <p:cNvPr id="15" name="Shape 13"/>
          <p:cNvSpPr/>
          <p:nvPr/>
        </p:nvSpPr>
        <p:spPr>
          <a:xfrm>
            <a:off x="365760" y="3511296"/>
            <a:ext cx="91440" cy="91440"/>
          </a:xfrm>
          <a:prstGeom prst="rect">
            <a:avLst/>
          </a:prstGeom>
          <a:solidFill>
            <a:srgbClr val="4A90D9"/>
          </a:solidFill>
          <a:ln w="12700">
            <a:solidFill>
              <a:srgbClr val="4A90D9"/>
            </a:solidFill>
            <a:prstDash val="solid"/>
          </a:ln>
        </p:spPr>
      </p:sp>
      <p:sp>
        <p:nvSpPr>
          <p:cNvPr id="16" name="Text 14"/>
          <p:cNvSpPr/>
          <p:nvPr/>
        </p:nvSpPr>
        <p:spPr>
          <a:xfrm>
            <a:off x="548640" y="346557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Entrée / Sortie de stock enregistrées avec motif et utilisateur</a:t>
            </a:r>
            <a:endParaRPr lang="en-US" sz="1200" dirty="0"/>
          </a:p>
        </p:txBody>
      </p:sp>
      <p:sp>
        <p:nvSpPr>
          <p:cNvPr id="17" name="Shape 15"/>
          <p:cNvSpPr/>
          <p:nvPr/>
        </p:nvSpPr>
        <p:spPr>
          <a:xfrm>
            <a:off x="365760" y="4151376"/>
            <a:ext cx="91440" cy="91440"/>
          </a:xfrm>
          <a:prstGeom prst="rect">
            <a:avLst/>
          </a:prstGeom>
          <a:solidFill>
            <a:srgbClr val="4A90D9"/>
          </a:solidFill>
          <a:ln w="12700">
            <a:solidFill>
              <a:srgbClr val="4A90D9"/>
            </a:solidFill>
            <a:prstDash val="solid"/>
          </a:ln>
        </p:spPr>
      </p:sp>
      <p:sp>
        <p:nvSpPr>
          <p:cNvPr id="18" name="Text 16"/>
          <p:cNvSpPr/>
          <p:nvPr/>
        </p:nvSpPr>
        <p:spPr>
          <a:xfrm>
            <a:off x="548640" y="410565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Historique d'audit complet — rien ne disparaît silencieusement</a:t>
            </a:r>
            <a:endParaRPr lang="en-US" sz="1200" dirty="0"/>
          </a:p>
        </p:txBody>
      </p:sp>
      <p:sp>
        <p:nvSpPr>
          <p:cNvPr id="19" name="Shape 17"/>
          <p:cNvSpPr/>
          <p:nvPr/>
        </p:nvSpPr>
        <p:spPr>
          <a:xfrm>
            <a:off x="365760" y="4791456"/>
            <a:ext cx="91440" cy="91440"/>
          </a:xfrm>
          <a:prstGeom prst="rect">
            <a:avLst/>
          </a:prstGeom>
          <a:solidFill>
            <a:srgbClr val="4A90D9"/>
          </a:solidFill>
          <a:ln w="12700">
            <a:solidFill>
              <a:srgbClr val="4A90D9"/>
            </a:solidFill>
            <a:prstDash val="solid"/>
          </a:ln>
        </p:spPr>
      </p:sp>
      <p:sp>
        <p:nvSpPr>
          <p:cNvPr id="20" name="Text 18"/>
          <p:cNvSpPr/>
          <p:nvPr/>
        </p:nvSpPr>
        <p:spPr>
          <a:xfrm>
            <a:off x="548640" y="474573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Alerte expiration gérée produit par produit</a:t>
            </a:r>
            <a:endParaRPr lang="en-US" sz="1200" dirty="0"/>
          </a:p>
        </p:txBody>
      </p:sp>
      <p:sp>
        <p:nvSpPr>
          <p:cNvPr id="21" name="Shape 19"/>
          <p:cNvSpPr/>
          <p:nvPr/>
        </p:nvSpPr>
        <p:spPr>
          <a:xfrm>
            <a:off x="4206240" y="1828800"/>
            <a:ext cx="3749040" cy="4480560"/>
          </a:xfrm>
          <a:prstGeom prst="roundRect">
            <a:avLst>
              <a:gd name="adj" fmla="val 1707"/>
            </a:avLst>
          </a:prstGeom>
          <a:solidFill>
            <a:srgbClr val="112236"/>
          </a:solidFill>
          <a:ln w="19050">
            <a:solidFill>
              <a:srgbClr val="F0A500"/>
            </a:solidFill>
            <a:prstDash val="solid"/>
          </a:ln>
        </p:spPr>
      </p:sp>
      <p:sp>
        <p:nvSpPr>
          <p:cNvPr id="22" name="Shape 20"/>
          <p:cNvSpPr/>
          <p:nvPr/>
        </p:nvSpPr>
        <p:spPr>
          <a:xfrm>
            <a:off x="4206240" y="1828800"/>
            <a:ext cx="3749040" cy="411480"/>
          </a:xfrm>
          <a:prstGeom prst="roundRect">
            <a:avLst>
              <a:gd name="adj" fmla="val 15556"/>
            </a:avLst>
          </a:prstGeom>
          <a:solidFill>
            <a:srgbClr val="F0A500">
              <a:alpha val="85000"/>
            </a:srgbClr>
          </a:solidFill>
          <a:ln w="12700">
            <a:solidFill>
              <a:srgbClr val="F0A500"/>
            </a:solidFill>
            <a:prstDash val="solid"/>
          </a:ln>
        </p:spPr>
      </p:sp>
      <p:sp>
        <p:nvSpPr>
          <p:cNvPr id="23" name="Text 21"/>
          <p:cNvSpPr/>
          <p:nvPr/>
        </p:nvSpPr>
        <p:spPr>
          <a:xfrm>
            <a:off x="4343400" y="1874520"/>
            <a:ext cx="3474720" cy="320040"/>
          </a:xfrm>
          <a:prstGeom prst="rect">
            <a:avLst/>
          </a:prstGeom>
          <a:noFill/>
          <a:ln/>
        </p:spPr>
        <p:txBody>
          <a:bodyPr wrap="square" rtlCol="0" anchor="ctr"/>
          <a:lstStyle/>
          <a:p>
            <a:pPr indent="0" marL="0">
              <a:buNone/>
            </a:pPr>
            <a:r>
              <a:rPr lang="en-US" sz="900" b="1" spc="120" kern="0" dirty="0">
                <a:solidFill>
                  <a:srgbClr val="FFFFFF"/>
                </a:solidFill>
                <a:latin typeface="Calibri" pitchFamily="34" charset="0"/>
                <a:ea typeface="Calibri" pitchFamily="34" charset="-122"/>
                <a:cs typeface="Calibri" pitchFamily="34" charset="-120"/>
              </a:rPr>
              <a:t>ALERTES INTELLIGENTES</a:t>
            </a:r>
            <a:endParaRPr lang="en-US" sz="900" dirty="0"/>
          </a:p>
        </p:txBody>
      </p:sp>
      <p:sp>
        <p:nvSpPr>
          <p:cNvPr id="24" name="Text 22"/>
          <p:cNvSpPr/>
          <p:nvPr/>
        </p:nvSpPr>
        <p:spPr>
          <a:xfrm>
            <a:off x="4343400" y="2331720"/>
            <a:ext cx="3474720" cy="384048"/>
          </a:xfrm>
          <a:prstGeom prst="rect">
            <a:avLst/>
          </a:prstGeom>
          <a:noFill/>
          <a:ln/>
        </p:spPr>
        <p:txBody>
          <a:bodyPr wrap="square" rtlCol="0" anchor="ctr"/>
          <a:lstStyle/>
          <a:p>
            <a:pPr indent="0" marL="0">
              <a:buNone/>
            </a:pPr>
            <a:r>
              <a:rPr lang="en-US" sz="1500" b="1" dirty="0">
                <a:solidFill>
                  <a:srgbClr val="F0A500"/>
                </a:solidFill>
                <a:latin typeface="Calibri" pitchFamily="34" charset="0"/>
                <a:ea typeface="Calibri" pitchFamily="34" charset="-122"/>
                <a:cs typeface="Calibri" pitchFamily="34" charset="-120"/>
              </a:rPr>
              <a:t>Notification automatique</a:t>
            </a:r>
            <a:endParaRPr lang="en-US" sz="1500" dirty="0"/>
          </a:p>
        </p:txBody>
      </p:sp>
      <p:sp>
        <p:nvSpPr>
          <p:cNvPr id="25" name="Shape 23"/>
          <p:cNvSpPr/>
          <p:nvPr/>
        </p:nvSpPr>
        <p:spPr>
          <a:xfrm>
            <a:off x="4343400" y="2761488"/>
            <a:ext cx="3474720" cy="18288"/>
          </a:xfrm>
          <a:prstGeom prst="rect">
            <a:avLst/>
          </a:prstGeom>
          <a:solidFill>
            <a:srgbClr val="F0A500">
              <a:alpha val="40000"/>
            </a:srgbClr>
          </a:solidFill>
          <a:ln w="12700">
            <a:solidFill>
              <a:srgbClr val="F0A500">
                <a:alpha val="40000"/>
              </a:srgbClr>
            </a:solidFill>
            <a:prstDash val="solid"/>
          </a:ln>
        </p:spPr>
      </p:sp>
      <p:sp>
        <p:nvSpPr>
          <p:cNvPr id="26" name="Shape 24"/>
          <p:cNvSpPr/>
          <p:nvPr/>
        </p:nvSpPr>
        <p:spPr>
          <a:xfrm>
            <a:off x="4343400" y="2871216"/>
            <a:ext cx="91440" cy="91440"/>
          </a:xfrm>
          <a:prstGeom prst="rect">
            <a:avLst/>
          </a:prstGeom>
          <a:solidFill>
            <a:srgbClr val="F0A500"/>
          </a:solidFill>
          <a:ln w="12700">
            <a:solidFill>
              <a:srgbClr val="F0A500"/>
            </a:solidFill>
            <a:prstDash val="solid"/>
          </a:ln>
        </p:spPr>
      </p:sp>
      <p:sp>
        <p:nvSpPr>
          <p:cNvPr id="27" name="Text 25"/>
          <p:cNvSpPr/>
          <p:nvPr/>
        </p:nvSpPr>
        <p:spPr>
          <a:xfrm>
            <a:off x="4526280" y="282549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Alerte LOW_STOCK quand stock ≤ seuil configuré</a:t>
            </a:r>
            <a:endParaRPr lang="en-US" sz="1200" dirty="0"/>
          </a:p>
        </p:txBody>
      </p:sp>
      <p:sp>
        <p:nvSpPr>
          <p:cNvPr id="28" name="Shape 26"/>
          <p:cNvSpPr/>
          <p:nvPr/>
        </p:nvSpPr>
        <p:spPr>
          <a:xfrm>
            <a:off x="4343400" y="3511296"/>
            <a:ext cx="91440" cy="91440"/>
          </a:xfrm>
          <a:prstGeom prst="rect">
            <a:avLst/>
          </a:prstGeom>
          <a:solidFill>
            <a:srgbClr val="F0A500"/>
          </a:solidFill>
          <a:ln w="12700">
            <a:solidFill>
              <a:srgbClr val="F0A500"/>
            </a:solidFill>
            <a:prstDash val="solid"/>
          </a:ln>
        </p:spPr>
      </p:sp>
      <p:sp>
        <p:nvSpPr>
          <p:cNvPr id="29" name="Text 27"/>
          <p:cNvSpPr/>
          <p:nvPr/>
        </p:nvSpPr>
        <p:spPr>
          <a:xfrm>
            <a:off x="4526280" y="346557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Alerte EXPIRY 5 jours avant la date limite</a:t>
            </a:r>
            <a:endParaRPr lang="en-US" sz="1200" dirty="0"/>
          </a:p>
        </p:txBody>
      </p:sp>
      <p:sp>
        <p:nvSpPr>
          <p:cNvPr id="30" name="Shape 28"/>
          <p:cNvSpPr/>
          <p:nvPr/>
        </p:nvSpPr>
        <p:spPr>
          <a:xfrm>
            <a:off x="4343400" y="4151376"/>
            <a:ext cx="91440" cy="91440"/>
          </a:xfrm>
          <a:prstGeom prst="rect">
            <a:avLst/>
          </a:prstGeom>
          <a:solidFill>
            <a:srgbClr val="F0A500"/>
          </a:solidFill>
          <a:ln w="12700">
            <a:solidFill>
              <a:srgbClr val="F0A500"/>
            </a:solidFill>
            <a:prstDash val="solid"/>
          </a:ln>
        </p:spPr>
      </p:sp>
      <p:sp>
        <p:nvSpPr>
          <p:cNvPr id="31" name="Text 29"/>
          <p:cNvSpPr/>
          <p:nvPr/>
        </p:nvSpPr>
        <p:spPr>
          <a:xfrm>
            <a:off x="4526280" y="410565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Synchronisation à chaque changement de stock</a:t>
            </a:r>
            <a:endParaRPr lang="en-US" sz="1200" dirty="0"/>
          </a:p>
        </p:txBody>
      </p:sp>
      <p:sp>
        <p:nvSpPr>
          <p:cNvPr id="32" name="Shape 30"/>
          <p:cNvSpPr/>
          <p:nvPr/>
        </p:nvSpPr>
        <p:spPr>
          <a:xfrm>
            <a:off x="4343400" y="4791456"/>
            <a:ext cx="91440" cy="91440"/>
          </a:xfrm>
          <a:prstGeom prst="rect">
            <a:avLst/>
          </a:prstGeom>
          <a:solidFill>
            <a:srgbClr val="F0A500"/>
          </a:solidFill>
          <a:ln w="12700">
            <a:solidFill>
              <a:srgbClr val="F0A500"/>
            </a:solidFill>
            <a:prstDash val="solid"/>
          </a:ln>
        </p:spPr>
      </p:sp>
      <p:sp>
        <p:nvSpPr>
          <p:cNvPr id="33" name="Text 31"/>
          <p:cNvSpPr/>
          <p:nvPr/>
        </p:nvSpPr>
        <p:spPr>
          <a:xfrm>
            <a:off x="4526280" y="474573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Zéro doublon grâce à la réconciliation automatique</a:t>
            </a:r>
            <a:endParaRPr lang="en-US" sz="1200" dirty="0"/>
          </a:p>
        </p:txBody>
      </p:sp>
      <p:sp>
        <p:nvSpPr>
          <p:cNvPr id="34" name="Shape 32"/>
          <p:cNvSpPr/>
          <p:nvPr/>
        </p:nvSpPr>
        <p:spPr>
          <a:xfrm>
            <a:off x="8183880" y="1828800"/>
            <a:ext cx="3749040" cy="4480560"/>
          </a:xfrm>
          <a:prstGeom prst="roundRect">
            <a:avLst>
              <a:gd name="adj" fmla="val 1707"/>
            </a:avLst>
          </a:prstGeom>
          <a:solidFill>
            <a:srgbClr val="112236"/>
          </a:solidFill>
          <a:ln w="19050">
            <a:solidFill>
              <a:srgbClr val="3CB879"/>
            </a:solidFill>
            <a:prstDash val="solid"/>
          </a:ln>
        </p:spPr>
      </p:sp>
      <p:sp>
        <p:nvSpPr>
          <p:cNvPr id="35" name="Shape 33"/>
          <p:cNvSpPr/>
          <p:nvPr/>
        </p:nvSpPr>
        <p:spPr>
          <a:xfrm>
            <a:off x="8183880" y="1828800"/>
            <a:ext cx="3749040" cy="411480"/>
          </a:xfrm>
          <a:prstGeom prst="roundRect">
            <a:avLst>
              <a:gd name="adj" fmla="val 15556"/>
            </a:avLst>
          </a:prstGeom>
          <a:solidFill>
            <a:srgbClr val="3CB879">
              <a:alpha val="85000"/>
            </a:srgbClr>
          </a:solidFill>
          <a:ln w="12700">
            <a:solidFill>
              <a:srgbClr val="3CB879"/>
            </a:solidFill>
            <a:prstDash val="solid"/>
          </a:ln>
        </p:spPr>
      </p:sp>
      <p:sp>
        <p:nvSpPr>
          <p:cNvPr id="36" name="Text 34"/>
          <p:cNvSpPr/>
          <p:nvPr/>
        </p:nvSpPr>
        <p:spPr>
          <a:xfrm>
            <a:off x="8321040" y="1874520"/>
            <a:ext cx="3474720" cy="320040"/>
          </a:xfrm>
          <a:prstGeom prst="rect">
            <a:avLst/>
          </a:prstGeom>
          <a:noFill/>
          <a:ln/>
        </p:spPr>
        <p:txBody>
          <a:bodyPr wrap="square" rtlCol="0" anchor="ctr"/>
          <a:lstStyle/>
          <a:p>
            <a:pPr indent="0" marL="0">
              <a:buNone/>
            </a:pPr>
            <a:r>
              <a:rPr lang="en-US" sz="900" b="1" spc="120" kern="0" dirty="0">
                <a:solidFill>
                  <a:srgbClr val="FFFFFF"/>
                </a:solidFill>
                <a:latin typeface="Calibri" pitchFamily="34" charset="0"/>
                <a:ea typeface="Calibri" pitchFamily="34" charset="-122"/>
                <a:cs typeface="Calibri" pitchFamily="34" charset="-120"/>
              </a:rPr>
              <a:t>DIGEST E-MAIL</a:t>
            </a:r>
            <a:endParaRPr lang="en-US" sz="900" dirty="0"/>
          </a:p>
        </p:txBody>
      </p:sp>
      <p:sp>
        <p:nvSpPr>
          <p:cNvPr id="37" name="Text 35"/>
          <p:cNvSpPr/>
          <p:nvPr/>
        </p:nvSpPr>
        <p:spPr>
          <a:xfrm>
            <a:off x="8321040" y="2331720"/>
            <a:ext cx="3474720" cy="384048"/>
          </a:xfrm>
          <a:prstGeom prst="rect">
            <a:avLst/>
          </a:prstGeom>
          <a:noFill/>
          <a:ln/>
        </p:spPr>
        <p:txBody>
          <a:bodyPr wrap="square" rtlCol="0" anchor="ctr"/>
          <a:lstStyle/>
          <a:p>
            <a:pPr indent="0" marL="0">
              <a:buNone/>
            </a:pPr>
            <a:r>
              <a:rPr lang="en-US" sz="1500" b="1" dirty="0">
                <a:solidFill>
                  <a:srgbClr val="3CB879"/>
                </a:solidFill>
                <a:latin typeface="Calibri" pitchFamily="34" charset="0"/>
                <a:ea typeface="Calibri" pitchFamily="34" charset="-122"/>
                <a:cs typeface="Calibri" pitchFamily="34" charset="-120"/>
              </a:rPr>
              <a:t>Le patron est toujours informé</a:t>
            </a:r>
            <a:endParaRPr lang="en-US" sz="1500" dirty="0"/>
          </a:p>
        </p:txBody>
      </p:sp>
      <p:sp>
        <p:nvSpPr>
          <p:cNvPr id="38" name="Shape 36"/>
          <p:cNvSpPr/>
          <p:nvPr/>
        </p:nvSpPr>
        <p:spPr>
          <a:xfrm>
            <a:off x="8321040" y="2761488"/>
            <a:ext cx="3474720" cy="18288"/>
          </a:xfrm>
          <a:prstGeom prst="rect">
            <a:avLst/>
          </a:prstGeom>
          <a:solidFill>
            <a:srgbClr val="3CB879">
              <a:alpha val="40000"/>
            </a:srgbClr>
          </a:solidFill>
          <a:ln w="12700">
            <a:solidFill>
              <a:srgbClr val="3CB879">
                <a:alpha val="40000"/>
              </a:srgbClr>
            </a:solidFill>
            <a:prstDash val="solid"/>
          </a:ln>
        </p:spPr>
      </p:sp>
      <p:sp>
        <p:nvSpPr>
          <p:cNvPr id="39" name="Shape 37"/>
          <p:cNvSpPr/>
          <p:nvPr/>
        </p:nvSpPr>
        <p:spPr>
          <a:xfrm>
            <a:off x="8321040" y="2871216"/>
            <a:ext cx="91440" cy="91440"/>
          </a:xfrm>
          <a:prstGeom prst="rect">
            <a:avLst/>
          </a:prstGeom>
          <a:solidFill>
            <a:srgbClr val="3CB879"/>
          </a:solidFill>
          <a:ln w="12700">
            <a:solidFill>
              <a:srgbClr val="3CB879"/>
            </a:solidFill>
            <a:prstDash val="solid"/>
          </a:ln>
        </p:spPr>
      </p:sp>
      <p:sp>
        <p:nvSpPr>
          <p:cNvPr id="40" name="Text 38"/>
          <p:cNvSpPr/>
          <p:nvPr/>
        </p:nvSpPr>
        <p:spPr>
          <a:xfrm>
            <a:off x="8503920" y="282549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E-mail groupé toutes les 15 minutes si alertes non consultées</a:t>
            </a:r>
            <a:endParaRPr lang="en-US" sz="1200" dirty="0"/>
          </a:p>
        </p:txBody>
      </p:sp>
      <p:sp>
        <p:nvSpPr>
          <p:cNvPr id="41" name="Shape 39"/>
          <p:cNvSpPr/>
          <p:nvPr/>
        </p:nvSpPr>
        <p:spPr>
          <a:xfrm>
            <a:off x="8321040" y="3511296"/>
            <a:ext cx="91440" cy="91440"/>
          </a:xfrm>
          <a:prstGeom prst="rect">
            <a:avLst/>
          </a:prstGeom>
          <a:solidFill>
            <a:srgbClr val="3CB879"/>
          </a:solidFill>
          <a:ln w="12700">
            <a:solidFill>
              <a:srgbClr val="3CB879"/>
            </a:solidFill>
            <a:prstDash val="solid"/>
          </a:ln>
        </p:spPr>
      </p:sp>
      <p:sp>
        <p:nvSpPr>
          <p:cNvPr id="42" name="Text 40"/>
          <p:cNvSpPr/>
          <p:nvPr/>
        </p:nvSpPr>
        <p:spPr>
          <a:xfrm>
            <a:off x="8503920" y="346557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Pas besoin d'application — la boîte mail suffit</a:t>
            </a:r>
            <a:endParaRPr lang="en-US" sz="1200" dirty="0"/>
          </a:p>
        </p:txBody>
      </p:sp>
      <p:sp>
        <p:nvSpPr>
          <p:cNvPr id="43" name="Shape 41"/>
          <p:cNvSpPr/>
          <p:nvPr/>
        </p:nvSpPr>
        <p:spPr>
          <a:xfrm>
            <a:off x="8321040" y="4151376"/>
            <a:ext cx="91440" cy="91440"/>
          </a:xfrm>
          <a:prstGeom prst="rect">
            <a:avLst/>
          </a:prstGeom>
          <a:solidFill>
            <a:srgbClr val="3CB879"/>
          </a:solidFill>
          <a:ln w="12700">
            <a:solidFill>
              <a:srgbClr val="3CB879"/>
            </a:solidFill>
            <a:prstDash val="solid"/>
          </a:ln>
        </p:spPr>
      </p:sp>
      <p:sp>
        <p:nvSpPr>
          <p:cNvPr id="44" name="Text 42"/>
          <p:cNvSpPr/>
          <p:nvPr/>
        </p:nvSpPr>
        <p:spPr>
          <a:xfrm>
            <a:off x="8503920" y="410565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Envoi non répété : emailSentAt horodaté après chaque envoi</a:t>
            </a:r>
            <a:endParaRPr lang="en-US" sz="1200" dirty="0"/>
          </a:p>
        </p:txBody>
      </p:sp>
      <p:sp>
        <p:nvSpPr>
          <p:cNvPr id="45" name="Shape 43"/>
          <p:cNvSpPr/>
          <p:nvPr/>
        </p:nvSpPr>
        <p:spPr>
          <a:xfrm>
            <a:off x="8321040" y="4791456"/>
            <a:ext cx="91440" cy="91440"/>
          </a:xfrm>
          <a:prstGeom prst="rect">
            <a:avLst/>
          </a:prstGeom>
          <a:solidFill>
            <a:srgbClr val="3CB879"/>
          </a:solidFill>
          <a:ln w="12700">
            <a:solidFill>
              <a:srgbClr val="3CB879"/>
            </a:solidFill>
            <a:prstDash val="solid"/>
          </a:ln>
        </p:spPr>
      </p:sp>
      <p:sp>
        <p:nvSpPr>
          <p:cNvPr id="46" name="Text 44"/>
          <p:cNvSpPr/>
          <p:nvPr/>
        </p:nvSpPr>
        <p:spPr>
          <a:xfrm>
            <a:off x="8503920" y="4745736"/>
            <a:ext cx="3291840" cy="5486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Destinataires : utilisateurs avec rôle OWNER uniquement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00B4D8"/>
          </a:solidFill>
          <a:ln w="12700">
            <a:solidFill>
              <a:srgbClr val="00B4D8"/>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00B4D8"/>
                </a:solidFill>
                <a:latin typeface="Calibri" pitchFamily="34" charset="0"/>
                <a:ea typeface="Calibri" pitchFamily="34" charset="-122"/>
                <a:cs typeface="Calibri" pitchFamily="34" charset="-120"/>
              </a:rPr>
              <a:t>ARCHITECTURE</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Comment les modules s'articulent</a:t>
            </a:r>
            <a:endParaRPr lang="en-US" sz="2600" dirty="0"/>
          </a:p>
        </p:txBody>
      </p:sp>
      <p:sp>
        <p:nvSpPr>
          <p:cNvPr id="5" name="Shape 3"/>
          <p:cNvSpPr/>
          <p:nvPr/>
        </p:nvSpPr>
        <p:spPr>
          <a:xfrm>
            <a:off x="228600" y="1216152"/>
            <a:ext cx="11704320" cy="22860"/>
          </a:xfrm>
          <a:prstGeom prst="rect">
            <a:avLst/>
          </a:prstGeom>
          <a:solidFill>
            <a:srgbClr val="00B4D8"/>
          </a:solidFill>
          <a:ln w="12700">
            <a:solidFill>
              <a:srgbClr val="00B4D8"/>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4 / 12</a:t>
            </a:r>
            <a:endParaRPr lang="en-US" sz="900" dirty="0"/>
          </a:p>
        </p:txBody>
      </p:sp>
      <p:sp>
        <p:nvSpPr>
          <p:cNvPr id="7" name="Shape 5"/>
          <p:cNvSpPr/>
          <p:nvPr/>
        </p:nvSpPr>
        <p:spPr>
          <a:xfrm>
            <a:off x="228600" y="1389888"/>
            <a:ext cx="1993392" cy="1920240"/>
          </a:xfrm>
          <a:prstGeom prst="roundRect">
            <a:avLst>
              <a:gd name="adj" fmla="val 3333"/>
            </a:avLst>
          </a:prstGeom>
          <a:solidFill>
            <a:srgbClr val="112236"/>
          </a:solidFill>
          <a:ln w="19050">
            <a:solidFill>
              <a:srgbClr val="4A90D9"/>
            </a:solidFill>
            <a:prstDash val="solid"/>
          </a:ln>
        </p:spPr>
      </p:sp>
      <p:sp>
        <p:nvSpPr>
          <p:cNvPr id="8" name="Shape 6"/>
          <p:cNvSpPr/>
          <p:nvPr/>
        </p:nvSpPr>
        <p:spPr>
          <a:xfrm>
            <a:off x="228600" y="1389888"/>
            <a:ext cx="1993392" cy="347472"/>
          </a:xfrm>
          <a:prstGeom prst="roundRect">
            <a:avLst>
              <a:gd name="adj" fmla="val 18421"/>
            </a:avLst>
          </a:prstGeom>
          <a:solidFill>
            <a:srgbClr val="4A90D9">
              <a:alpha val="82000"/>
            </a:srgbClr>
          </a:solidFill>
          <a:ln w="12700">
            <a:solidFill>
              <a:srgbClr val="4A90D9"/>
            </a:solidFill>
            <a:prstDash val="solid"/>
          </a:ln>
        </p:spPr>
      </p:sp>
      <p:sp>
        <p:nvSpPr>
          <p:cNvPr id="9" name="Text 7"/>
          <p:cNvSpPr/>
          <p:nvPr/>
        </p:nvSpPr>
        <p:spPr>
          <a:xfrm>
            <a:off x="301752" y="1435608"/>
            <a:ext cx="2743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301752" y="1810512"/>
            <a:ext cx="1847088" cy="658368"/>
          </a:xfrm>
          <a:prstGeom prst="rect">
            <a:avLst/>
          </a:prstGeom>
          <a:noFill/>
          <a:ln/>
        </p:spPr>
        <p:txBody>
          <a:bodyPr wrap="square" rtlCol="0" anchor="ctr"/>
          <a:lstStyle/>
          <a:p>
            <a:pPr algn="ctr" indent="0" marL="0">
              <a:buNone/>
            </a:pPr>
            <a:r>
              <a:rPr lang="en-US" sz="1300" b="1" dirty="0">
                <a:solidFill>
                  <a:srgbClr val="4A90D9"/>
                </a:solidFill>
                <a:latin typeface="Calibri" pitchFamily="34" charset="0"/>
                <a:ea typeface="Calibri" pitchFamily="34" charset="-122"/>
                <a:cs typeface="Calibri" pitchFamily="34" charset="-120"/>
              </a:rPr>
              <a:t>Catalogue</a:t>
            </a:r>
            <a:endParaRPr lang="en-US" sz="1300" dirty="0"/>
          </a:p>
          <a:p>
            <a:pPr algn="ctr" indent="0" marL="0">
              <a:buNone/>
            </a:pPr>
            <a:r>
              <a:rPr lang="en-US" sz="1300" b="1" dirty="0">
                <a:solidFill>
                  <a:srgbClr val="4A90D9"/>
                </a:solidFill>
                <a:latin typeface="Calibri" pitchFamily="34" charset="0"/>
                <a:ea typeface="Calibri" pitchFamily="34" charset="-122"/>
                <a:cs typeface="Calibri" pitchFamily="34" charset="-120"/>
              </a:rPr>
              <a:t>Produits</a:t>
            </a:r>
            <a:endParaRPr lang="en-US" sz="1300" dirty="0"/>
          </a:p>
        </p:txBody>
      </p:sp>
      <p:sp>
        <p:nvSpPr>
          <p:cNvPr id="11" name="Text 9"/>
          <p:cNvSpPr/>
          <p:nvPr/>
        </p:nvSpPr>
        <p:spPr>
          <a:xfrm>
            <a:off x="301752" y="2532888"/>
            <a:ext cx="1847088" cy="658368"/>
          </a:xfrm>
          <a:prstGeom prst="rect">
            <a:avLst/>
          </a:prstGeom>
          <a:noFill/>
          <a:ln/>
        </p:spPr>
        <p:txBody>
          <a:bodyPr wrap="square" rtlCol="0" anchor="ctr"/>
          <a:lstStyle/>
          <a:p>
            <a:pPr algn="ctr" indent="0" marL="0">
              <a:buNone/>
            </a:pPr>
            <a:r>
              <a:rPr lang="en-US" sz="1100" dirty="0">
                <a:solidFill>
                  <a:srgbClr val="8BA3BE"/>
                </a:solidFill>
                <a:latin typeface="Calibri" pitchFamily="34" charset="0"/>
                <a:ea typeface="Calibri" pitchFamily="34" charset="-122"/>
                <a:cs typeface="Calibri" pitchFamily="34" charset="-120"/>
              </a:rPr>
              <a:t>PostgreSQL</a:t>
            </a:r>
            <a:endParaRPr lang="en-US" sz="1100" dirty="0"/>
          </a:p>
          <a:p>
            <a:pPr algn="ctr" indent="0" marL="0">
              <a:buNone/>
            </a:pPr>
            <a:r>
              <a:rPr lang="en-US" sz="1100" dirty="0">
                <a:solidFill>
                  <a:srgbClr val="8BA3BE"/>
                </a:solidFill>
                <a:latin typeface="Calibri" pitchFamily="34" charset="0"/>
                <a:ea typeface="Calibri" pitchFamily="34" charset="-122"/>
                <a:cs typeface="Calibri" pitchFamily="34" charset="-120"/>
              </a:rPr>
              <a:t>via Prisma</a:t>
            </a:r>
            <a:endParaRPr lang="en-US" sz="1100" dirty="0"/>
          </a:p>
        </p:txBody>
      </p:sp>
      <p:sp>
        <p:nvSpPr>
          <p:cNvPr id="12" name="Shape 10"/>
          <p:cNvSpPr/>
          <p:nvPr/>
        </p:nvSpPr>
        <p:spPr>
          <a:xfrm>
            <a:off x="2249424" y="2327148"/>
            <a:ext cx="201168" cy="45720"/>
          </a:xfrm>
          <a:prstGeom prst="rect">
            <a:avLst/>
          </a:prstGeom>
          <a:solidFill>
            <a:srgbClr val="4A90D9"/>
          </a:solidFill>
          <a:ln w="12700">
            <a:solidFill>
              <a:srgbClr val="4A90D9"/>
            </a:solidFill>
            <a:prstDash val="solid"/>
          </a:ln>
        </p:spPr>
      </p:sp>
      <p:sp>
        <p:nvSpPr>
          <p:cNvPr id="13" name="Shape 11"/>
          <p:cNvSpPr/>
          <p:nvPr/>
        </p:nvSpPr>
        <p:spPr>
          <a:xfrm rot="5400000">
            <a:off x="2414016" y="2258568"/>
            <a:ext cx="91440" cy="182880"/>
          </a:xfrm>
          <a:prstGeom prst="rtTriangle">
            <a:avLst/>
          </a:prstGeom>
          <a:solidFill>
            <a:srgbClr val="4A90D9"/>
          </a:solidFill>
          <a:ln w="12700">
            <a:solidFill>
              <a:srgbClr val="4A90D9"/>
            </a:solidFill>
            <a:prstDash val="solid"/>
          </a:ln>
        </p:spPr>
      </p:sp>
      <p:sp>
        <p:nvSpPr>
          <p:cNvPr id="14" name="Shape 12"/>
          <p:cNvSpPr/>
          <p:nvPr/>
        </p:nvSpPr>
        <p:spPr>
          <a:xfrm>
            <a:off x="2487168" y="1389888"/>
            <a:ext cx="1993392" cy="1920240"/>
          </a:xfrm>
          <a:prstGeom prst="roundRect">
            <a:avLst>
              <a:gd name="adj" fmla="val 3333"/>
            </a:avLst>
          </a:prstGeom>
          <a:solidFill>
            <a:srgbClr val="112236"/>
          </a:solidFill>
          <a:ln w="19050">
            <a:solidFill>
              <a:srgbClr val="00B4D8"/>
            </a:solidFill>
            <a:prstDash val="solid"/>
          </a:ln>
        </p:spPr>
      </p:sp>
      <p:sp>
        <p:nvSpPr>
          <p:cNvPr id="15" name="Shape 13"/>
          <p:cNvSpPr/>
          <p:nvPr/>
        </p:nvSpPr>
        <p:spPr>
          <a:xfrm>
            <a:off x="2487168" y="1389888"/>
            <a:ext cx="1993392" cy="347472"/>
          </a:xfrm>
          <a:prstGeom prst="roundRect">
            <a:avLst>
              <a:gd name="adj" fmla="val 18421"/>
            </a:avLst>
          </a:prstGeom>
          <a:solidFill>
            <a:srgbClr val="00B4D8">
              <a:alpha val="82000"/>
            </a:srgbClr>
          </a:solidFill>
          <a:ln w="12700">
            <a:solidFill>
              <a:srgbClr val="00B4D8"/>
            </a:solidFill>
            <a:prstDash val="solid"/>
          </a:ln>
        </p:spPr>
      </p:sp>
      <p:sp>
        <p:nvSpPr>
          <p:cNvPr id="16" name="Text 14"/>
          <p:cNvSpPr/>
          <p:nvPr/>
        </p:nvSpPr>
        <p:spPr>
          <a:xfrm>
            <a:off x="2560320" y="1435608"/>
            <a:ext cx="2743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2560320" y="1810512"/>
            <a:ext cx="1847088" cy="658368"/>
          </a:xfrm>
          <a:prstGeom prst="rect">
            <a:avLst/>
          </a:prstGeom>
          <a:noFill/>
          <a:ln/>
        </p:spPr>
        <p:txBody>
          <a:bodyPr wrap="square"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Module</a:t>
            </a:r>
            <a:endParaRPr lang="en-US" sz="1300" dirty="0"/>
          </a:p>
          <a:p>
            <a:pPr algn="ctr" indent="0" marL="0">
              <a:buNone/>
            </a:pPr>
            <a:r>
              <a:rPr lang="en-US" sz="1300" b="1" dirty="0">
                <a:solidFill>
                  <a:srgbClr val="00B4D8"/>
                </a:solidFill>
                <a:latin typeface="Calibri" pitchFamily="34" charset="0"/>
                <a:ea typeface="Calibri" pitchFamily="34" charset="-122"/>
                <a:cs typeface="Calibri" pitchFamily="34" charset="-120"/>
              </a:rPr>
              <a:t>Inventaire</a:t>
            </a:r>
            <a:endParaRPr lang="en-US" sz="1300" dirty="0"/>
          </a:p>
        </p:txBody>
      </p:sp>
      <p:sp>
        <p:nvSpPr>
          <p:cNvPr id="18" name="Text 16"/>
          <p:cNvSpPr/>
          <p:nvPr/>
        </p:nvSpPr>
        <p:spPr>
          <a:xfrm>
            <a:off x="2560320" y="2532888"/>
            <a:ext cx="1847088" cy="658368"/>
          </a:xfrm>
          <a:prstGeom prst="rect">
            <a:avLst/>
          </a:prstGeom>
          <a:noFill/>
          <a:ln/>
        </p:spPr>
        <p:txBody>
          <a:bodyPr wrap="square" rtlCol="0" anchor="ctr"/>
          <a:lstStyle/>
          <a:p>
            <a:pPr algn="ctr" indent="0" marL="0">
              <a:buNone/>
            </a:pPr>
            <a:r>
              <a:rPr lang="en-US" sz="1100" dirty="0">
                <a:solidFill>
                  <a:srgbClr val="8BA3BE"/>
                </a:solidFill>
                <a:latin typeface="Calibri" pitchFamily="34" charset="0"/>
                <a:ea typeface="Calibri" pitchFamily="34" charset="-122"/>
                <a:cs typeface="Calibri" pitchFamily="34" charset="-120"/>
              </a:rPr>
              <a:t>NestJS Service</a:t>
            </a:r>
            <a:endParaRPr lang="en-US" sz="1100" dirty="0"/>
          </a:p>
          <a:p>
            <a:pPr algn="ctr" indent="0" marL="0">
              <a:buNone/>
            </a:pPr>
            <a:r>
              <a:rPr lang="en-US" sz="1100" dirty="0">
                <a:solidFill>
                  <a:srgbClr val="8BA3BE"/>
                </a:solidFill>
                <a:latin typeface="Calibri" pitchFamily="34" charset="0"/>
                <a:ea typeface="Calibri" pitchFamily="34" charset="-122"/>
                <a:cs typeface="Calibri" pitchFamily="34" charset="-120"/>
              </a:rPr>
              <a:t>stock-in / out</a:t>
            </a:r>
            <a:endParaRPr lang="en-US" sz="1100" dirty="0"/>
          </a:p>
        </p:txBody>
      </p:sp>
      <p:sp>
        <p:nvSpPr>
          <p:cNvPr id="19" name="Shape 17"/>
          <p:cNvSpPr/>
          <p:nvPr/>
        </p:nvSpPr>
        <p:spPr>
          <a:xfrm>
            <a:off x="4507992" y="2327148"/>
            <a:ext cx="201168" cy="45720"/>
          </a:xfrm>
          <a:prstGeom prst="rect">
            <a:avLst/>
          </a:prstGeom>
          <a:solidFill>
            <a:srgbClr val="4A90D9"/>
          </a:solidFill>
          <a:ln w="12700">
            <a:solidFill>
              <a:srgbClr val="4A90D9"/>
            </a:solidFill>
            <a:prstDash val="solid"/>
          </a:ln>
        </p:spPr>
      </p:sp>
      <p:sp>
        <p:nvSpPr>
          <p:cNvPr id="20" name="Shape 18"/>
          <p:cNvSpPr/>
          <p:nvPr/>
        </p:nvSpPr>
        <p:spPr>
          <a:xfrm rot="5400000">
            <a:off x="4672584" y="2258568"/>
            <a:ext cx="91440" cy="182880"/>
          </a:xfrm>
          <a:prstGeom prst="rtTriangle">
            <a:avLst/>
          </a:prstGeom>
          <a:solidFill>
            <a:srgbClr val="4A90D9"/>
          </a:solidFill>
          <a:ln w="12700">
            <a:solidFill>
              <a:srgbClr val="4A90D9"/>
            </a:solidFill>
            <a:prstDash val="solid"/>
          </a:ln>
        </p:spPr>
      </p:sp>
      <p:sp>
        <p:nvSpPr>
          <p:cNvPr id="21" name="Shape 19"/>
          <p:cNvSpPr/>
          <p:nvPr/>
        </p:nvSpPr>
        <p:spPr>
          <a:xfrm>
            <a:off x="4745736" y="1389888"/>
            <a:ext cx="1993392" cy="1920240"/>
          </a:xfrm>
          <a:prstGeom prst="roundRect">
            <a:avLst>
              <a:gd name="adj" fmla="val 3333"/>
            </a:avLst>
          </a:prstGeom>
          <a:solidFill>
            <a:srgbClr val="112236"/>
          </a:solidFill>
          <a:ln w="19050">
            <a:solidFill>
              <a:srgbClr val="F0A500"/>
            </a:solidFill>
            <a:prstDash val="solid"/>
          </a:ln>
        </p:spPr>
      </p:sp>
      <p:sp>
        <p:nvSpPr>
          <p:cNvPr id="22" name="Shape 20"/>
          <p:cNvSpPr/>
          <p:nvPr/>
        </p:nvSpPr>
        <p:spPr>
          <a:xfrm>
            <a:off x="4745736" y="1389888"/>
            <a:ext cx="1993392" cy="347472"/>
          </a:xfrm>
          <a:prstGeom prst="roundRect">
            <a:avLst>
              <a:gd name="adj" fmla="val 18421"/>
            </a:avLst>
          </a:prstGeom>
          <a:solidFill>
            <a:srgbClr val="F0A500">
              <a:alpha val="82000"/>
            </a:srgbClr>
          </a:solidFill>
          <a:ln w="12700">
            <a:solidFill>
              <a:srgbClr val="F0A500"/>
            </a:solidFill>
            <a:prstDash val="solid"/>
          </a:ln>
        </p:spPr>
      </p:sp>
      <p:sp>
        <p:nvSpPr>
          <p:cNvPr id="23" name="Text 21"/>
          <p:cNvSpPr/>
          <p:nvPr/>
        </p:nvSpPr>
        <p:spPr>
          <a:xfrm>
            <a:off x="4818888" y="1435608"/>
            <a:ext cx="2743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4818888" y="1810512"/>
            <a:ext cx="1847088" cy="658368"/>
          </a:xfrm>
          <a:prstGeom prst="rect">
            <a:avLst/>
          </a:prstGeom>
          <a:noFill/>
          <a:ln/>
        </p:spPr>
        <p:txBody>
          <a:bodyPr wrap="square" rtlCol="0" anchor="ctr"/>
          <a:lstStyle/>
          <a:p>
            <a:pPr algn="ctr" indent="0" marL="0">
              <a:buNone/>
            </a:pPr>
            <a:r>
              <a:rPr lang="en-US" sz="1300" b="1" dirty="0">
                <a:solidFill>
                  <a:srgbClr val="F0A500"/>
                </a:solidFill>
                <a:latin typeface="Calibri" pitchFamily="34" charset="0"/>
                <a:ea typeface="Calibri" pitchFamily="34" charset="-122"/>
                <a:cs typeface="Calibri" pitchFamily="34" charset="-120"/>
              </a:rPr>
              <a:t>Moteur</a:t>
            </a:r>
            <a:endParaRPr lang="en-US" sz="1300" dirty="0"/>
          </a:p>
          <a:p>
            <a:pPr algn="ctr" indent="0" marL="0">
              <a:buNone/>
            </a:pPr>
            <a:r>
              <a:rPr lang="en-US" sz="1300" b="1" dirty="0">
                <a:solidFill>
                  <a:srgbClr val="F0A500"/>
                </a:solidFill>
                <a:latin typeface="Calibri" pitchFamily="34" charset="0"/>
                <a:ea typeface="Calibri" pitchFamily="34" charset="-122"/>
                <a:cs typeface="Calibri" pitchFamily="34" charset="-120"/>
              </a:rPr>
              <a:t>d'Alertes</a:t>
            </a:r>
            <a:endParaRPr lang="en-US" sz="1300" dirty="0"/>
          </a:p>
        </p:txBody>
      </p:sp>
      <p:sp>
        <p:nvSpPr>
          <p:cNvPr id="25" name="Text 23"/>
          <p:cNvSpPr/>
          <p:nvPr/>
        </p:nvSpPr>
        <p:spPr>
          <a:xfrm>
            <a:off x="4818888" y="2532888"/>
            <a:ext cx="1847088" cy="658368"/>
          </a:xfrm>
          <a:prstGeom prst="rect">
            <a:avLst/>
          </a:prstGeom>
          <a:noFill/>
          <a:ln/>
        </p:spPr>
        <p:txBody>
          <a:bodyPr wrap="square" rtlCol="0" anchor="ctr"/>
          <a:lstStyle/>
          <a:p>
            <a:pPr algn="ctr" indent="0" marL="0">
              <a:buNone/>
            </a:pPr>
            <a:r>
              <a:rPr lang="en-US" sz="1100" dirty="0">
                <a:solidFill>
                  <a:srgbClr val="8BA3BE"/>
                </a:solidFill>
                <a:latin typeface="Calibri" pitchFamily="34" charset="0"/>
                <a:ea typeface="Calibri" pitchFamily="34" charset="-122"/>
                <a:cs typeface="Calibri" pitchFamily="34" charset="-120"/>
              </a:rPr>
              <a:t>syncProductAlerts()</a:t>
            </a:r>
            <a:endParaRPr lang="en-US" sz="1100" dirty="0"/>
          </a:p>
          <a:p>
            <a:pPr algn="ctr" indent="0" marL="0">
              <a:buNone/>
            </a:pPr>
            <a:r>
              <a:rPr lang="en-US" sz="1100" dirty="0">
                <a:solidFill>
                  <a:srgbClr val="8BA3BE"/>
                </a:solidFill>
                <a:latin typeface="Calibri" pitchFamily="34" charset="0"/>
                <a:ea typeface="Calibri" pitchFamily="34" charset="-122"/>
                <a:cs typeface="Calibri" pitchFamily="34" charset="-120"/>
              </a:rPr>
              <a:t>réconciliation</a:t>
            </a:r>
            <a:endParaRPr lang="en-US" sz="1100" dirty="0"/>
          </a:p>
        </p:txBody>
      </p:sp>
      <p:sp>
        <p:nvSpPr>
          <p:cNvPr id="26" name="Shape 24"/>
          <p:cNvSpPr/>
          <p:nvPr/>
        </p:nvSpPr>
        <p:spPr>
          <a:xfrm>
            <a:off x="6766560" y="2327148"/>
            <a:ext cx="201168" cy="45720"/>
          </a:xfrm>
          <a:prstGeom prst="rect">
            <a:avLst/>
          </a:prstGeom>
          <a:solidFill>
            <a:srgbClr val="4A90D9"/>
          </a:solidFill>
          <a:ln w="12700">
            <a:solidFill>
              <a:srgbClr val="4A90D9"/>
            </a:solidFill>
            <a:prstDash val="solid"/>
          </a:ln>
        </p:spPr>
      </p:sp>
      <p:sp>
        <p:nvSpPr>
          <p:cNvPr id="27" name="Shape 25"/>
          <p:cNvSpPr/>
          <p:nvPr/>
        </p:nvSpPr>
        <p:spPr>
          <a:xfrm rot="5400000">
            <a:off x="6931152" y="2258568"/>
            <a:ext cx="91440" cy="182880"/>
          </a:xfrm>
          <a:prstGeom prst="rtTriangle">
            <a:avLst/>
          </a:prstGeom>
          <a:solidFill>
            <a:srgbClr val="4A90D9"/>
          </a:solidFill>
          <a:ln w="12700">
            <a:solidFill>
              <a:srgbClr val="4A90D9"/>
            </a:solidFill>
            <a:prstDash val="solid"/>
          </a:ln>
        </p:spPr>
      </p:sp>
      <p:sp>
        <p:nvSpPr>
          <p:cNvPr id="28" name="Shape 26"/>
          <p:cNvSpPr/>
          <p:nvPr/>
        </p:nvSpPr>
        <p:spPr>
          <a:xfrm>
            <a:off x="7004304" y="1389888"/>
            <a:ext cx="1993392" cy="1920240"/>
          </a:xfrm>
          <a:prstGeom prst="roundRect">
            <a:avLst>
              <a:gd name="adj" fmla="val 3333"/>
            </a:avLst>
          </a:prstGeom>
          <a:solidFill>
            <a:srgbClr val="112236"/>
          </a:solidFill>
          <a:ln w="19050">
            <a:solidFill>
              <a:srgbClr val="E05C5C"/>
            </a:solidFill>
            <a:prstDash val="solid"/>
          </a:ln>
        </p:spPr>
      </p:sp>
      <p:sp>
        <p:nvSpPr>
          <p:cNvPr id="29" name="Shape 27"/>
          <p:cNvSpPr/>
          <p:nvPr/>
        </p:nvSpPr>
        <p:spPr>
          <a:xfrm>
            <a:off x="7004304" y="1389888"/>
            <a:ext cx="1993392" cy="347472"/>
          </a:xfrm>
          <a:prstGeom prst="roundRect">
            <a:avLst>
              <a:gd name="adj" fmla="val 18421"/>
            </a:avLst>
          </a:prstGeom>
          <a:solidFill>
            <a:srgbClr val="E05C5C">
              <a:alpha val="82000"/>
            </a:srgbClr>
          </a:solidFill>
          <a:ln w="12700">
            <a:solidFill>
              <a:srgbClr val="E05C5C"/>
            </a:solidFill>
            <a:prstDash val="solid"/>
          </a:ln>
        </p:spPr>
      </p:sp>
      <p:sp>
        <p:nvSpPr>
          <p:cNvPr id="30" name="Text 28"/>
          <p:cNvSpPr/>
          <p:nvPr/>
        </p:nvSpPr>
        <p:spPr>
          <a:xfrm>
            <a:off x="7077456" y="1435608"/>
            <a:ext cx="2743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7077456" y="1810512"/>
            <a:ext cx="1847088" cy="658368"/>
          </a:xfrm>
          <a:prstGeom prst="rect">
            <a:avLst/>
          </a:prstGeom>
          <a:noFill/>
          <a:ln/>
        </p:spPr>
        <p:txBody>
          <a:bodyPr wrap="square" rtlCol="0" anchor="ctr"/>
          <a:lstStyle/>
          <a:p>
            <a:pPr algn="ctr" indent="0" marL="0">
              <a:buNone/>
            </a:pPr>
            <a:r>
              <a:rPr lang="en-US" sz="1300" b="1" dirty="0">
                <a:solidFill>
                  <a:srgbClr val="E05C5C"/>
                </a:solidFill>
                <a:latin typeface="Calibri" pitchFamily="34" charset="0"/>
                <a:ea typeface="Calibri" pitchFamily="34" charset="-122"/>
                <a:cs typeface="Calibri" pitchFamily="34" charset="-120"/>
              </a:rPr>
              <a:t>Notificateur</a:t>
            </a:r>
            <a:endParaRPr lang="en-US" sz="1300" dirty="0"/>
          </a:p>
          <a:p>
            <a:pPr algn="ctr" indent="0" marL="0">
              <a:buNone/>
            </a:pPr>
            <a:r>
              <a:rPr lang="en-US" sz="1300" b="1" dirty="0">
                <a:solidFill>
                  <a:srgbClr val="E05C5C"/>
                </a:solidFill>
                <a:latin typeface="Calibri" pitchFamily="34" charset="0"/>
                <a:ea typeface="Calibri" pitchFamily="34" charset="-122"/>
                <a:cs typeface="Calibri" pitchFamily="34" charset="-120"/>
              </a:rPr>
              <a:t>E-mail</a:t>
            </a:r>
            <a:endParaRPr lang="en-US" sz="1300" dirty="0"/>
          </a:p>
        </p:txBody>
      </p:sp>
      <p:sp>
        <p:nvSpPr>
          <p:cNvPr id="32" name="Text 30"/>
          <p:cNvSpPr/>
          <p:nvPr/>
        </p:nvSpPr>
        <p:spPr>
          <a:xfrm>
            <a:off x="7077456" y="2532888"/>
            <a:ext cx="1847088" cy="658368"/>
          </a:xfrm>
          <a:prstGeom prst="rect">
            <a:avLst/>
          </a:prstGeom>
          <a:noFill/>
          <a:ln/>
        </p:spPr>
        <p:txBody>
          <a:bodyPr wrap="square" rtlCol="0" anchor="ctr"/>
          <a:lstStyle/>
          <a:p>
            <a:pPr algn="ctr" indent="0" marL="0">
              <a:buNone/>
            </a:pPr>
            <a:r>
              <a:rPr lang="en-US" sz="1100" dirty="0">
                <a:solidFill>
                  <a:srgbClr val="8BA3BE"/>
                </a:solidFill>
                <a:latin typeface="Calibri" pitchFamily="34" charset="0"/>
                <a:ea typeface="Calibri" pitchFamily="34" charset="-122"/>
                <a:cs typeface="Calibri" pitchFamily="34" charset="-120"/>
              </a:rPr>
              <a:t>Cron 15 min</a:t>
            </a:r>
            <a:endParaRPr lang="en-US" sz="1100" dirty="0"/>
          </a:p>
          <a:p>
            <a:pPr algn="ctr" indent="0" marL="0">
              <a:buNone/>
            </a:pPr>
            <a:r>
              <a:rPr lang="en-US" sz="1100" dirty="0">
                <a:solidFill>
                  <a:srgbClr val="8BA3BE"/>
                </a:solidFill>
                <a:latin typeface="Calibri" pitchFamily="34" charset="0"/>
                <a:ea typeface="Calibri" pitchFamily="34" charset="-122"/>
                <a:cs typeface="Calibri" pitchFamily="34" charset="-120"/>
              </a:rPr>
              <a:t>SMTP Mailer</a:t>
            </a:r>
            <a:endParaRPr lang="en-US" sz="1100" dirty="0"/>
          </a:p>
        </p:txBody>
      </p:sp>
      <p:sp>
        <p:nvSpPr>
          <p:cNvPr id="33" name="Shape 31"/>
          <p:cNvSpPr/>
          <p:nvPr/>
        </p:nvSpPr>
        <p:spPr>
          <a:xfrm>
            <a:off x="9025128" y="2327148"/>
            <a:ext cx="201168" cy="45720"/>
          </a:xfrm>
          <a:prstGeom prst="rect">
            <a:avLst/>
          </a:prstGeom>
          <a:solidFill>
            <a:srgbClr val="4A90D9"/>
          </a:solidFill>
          <a:ln w="12700">
            <a:solidFill>
              <a:srgbClr val="4A90D9"/>
            </a:solidFill>
            <a:prstDash val="solid"/>
          </a:ln>
        </p:spPr>
      </p:sp>
      <p:sp>
        <p:nvSpPr>
          <p:cNvPr id="34" name="Shape 32"/>
          <p:cNvSpPr/>
          <p:nvPr/>
        </p:nvSpPr>
        <p:spPr>
          <a:xfrm rot="5400000">
            <a:off x="9189720" y="2258568"/>
            <a:ext cx="91440" cy="182880"/>
          </a:xfrm>
          <a:prstGeom prst="rtTriangle">
            <a:avLst/>
          </a:prstGeom>
          <a:solidFill>
            <a:srgbClr val="4A90D9"/>
          </a:solidFill>
          <a:ln w="12700">
            <a:solidFill>
              <a:srgbClr val="4A90D9"/>
            </a:solidFill>
            <a:prstDash val="solid"/>
          </a:ln>
        </p:spPr>
      </p:sp>
      <p:sp>
        <p:nvSpPr>
          <p:cNvPr id="35" name="Shape 33"/>
          <p:cNvSpPr/>
          <p:nvPr/>
        </p:nvSpPr>
        <p:spPr>
          <a:xfrm>
            <a:off x="9262872" y="1389888"/>
            <a:ext cx="1993392" cy="1920240"/>
          </a:xfrm>
          <a:prstGeom prst="roundRect">
            <a:avLst>
              <a:gd name="adj" fmla="val 3333"/>
            </a:avLst>
          </a:prstGeom>
          <a:solidFill>
            <a:srgbClr val="112236"/>
          </a:solidFill>
          <a:ln w="19050">
            <a:solidFill>
              <a:srgbClr val="4A90D9"/>
            </a:solidFill>
            <a:prstDash val="solid"/>
          </a:ln>
        </p:spPr>
      </p:sp>
      <p:sp>
        <p:nvSpPr>
          <p:cNvPr id="36" name="Shape 34"/>
          <p:cNvSpPr/>
          <p:nvPr/>
        </p:nvSpPr>
        <p:spPr>
          <a:xfrm>
            <a:off x="9262872" y="1389888"/>
            <a:ext cx="1993392" cy="347472"/>
          </a:xfrm>
          <a:prstGeom prst="roundRect">
            <a:avLst>
              <a:gd name="adj" fmla="val 18421"/>
            </a:avLst>
          </a:prstGeom>
          <a:solidFill>
            <a:srgbClr val="4A90D9">
              <a:alpha val="82000"/>
            </a:srgbClr>
          </a:solidFill>
          <a:ln w="12700">
            <a:solidFill>
              <a:srgbClr val="4A90D9"/>
            </a:solidFill>
            <a:prstDash val="solid"/>
          </a:ln>
        </p:spPr>
      </p:sp>
      <p:sp>
        <p:nvSpPr>
          <p:cNvPr id="37" name="Text 35"/>
          <p:cNvSpPr/>
          <p:nvPr/>
        </p:nvSpPr>
        <p:spPr>
          <a:xfrm>
            <a:off x="9336024" y="1435608"/>
            <a:ext cx="2743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6"/>
          <p:cNvSpPr/>
          <p:nvPr/>
        </p:nvSpPr>
        <p:spPr>
          <a:xfrm>
            <a:off x="9336024" y="1810512"/>
            <a:ext cx="1847088" cy="658368"/>
          </a:xfrm>
          <a:prstGeom prst="rect">
            <a:avLst/>
          </a:prstGeom>
          <a:noFill/>
          <a:ln/>
        </p:spPr>
        <p:txBody>
          <a:bodyPr wrap="square" rtlCol="0" anchor="ctr"/>
          <a:lstStyle/>
          <a:p>
            <a:pPr algn="ctr" indent="0" marL="0">
              <a:buNone/>
            </a:pPr>
            <a:r>
              <a:rPr lang="en-US" sz="1300" b="1" dirty="0">
                <a:solidFill>
                  <a:srgbClr val="4A90D9"/>
                </a:solidFill>
                <a:latin typeface="Calibri" pitchFamily="34" charset="0"/>
                <a:ea typeface="Calibri" pitchFamily="34" charset="-122"/>
                <a:cs typeface="Calibri" pitchFamily="34" charset="-120"/>
              </a:rPr>
              <a:t>Dashboard</a:t>
            </a:r>
            <a:endParaRPr lang="en-US" sz="1300" dirty="0"/>
          </a:p>
          <a:p>
            <a:pPr algn="ctr" indent="0" marL="0">
              <a:buNone/>
            </a:pPr>
            <a:r>
              <a:rPr lang="en-US" sz="1300" b="1" dirty="0">
                <a:solidFill>
                  <a:srgbClr val="4A90D9"/>
                </a:solidFill>
                <a:latin typeface="Calibri" pitchFamily="34" charset="0"/>
                <a:ea typeface="Calibri" pitchFamily="34" charset="-122"/>
                <a:cs typeface="Calibri" pitchFamily="34" charset="-120"/>
              </a:rPr>
              <a:t>&amp; Alertes</a:t>
            </a:r>
            <a:endParaRPr lang="en-US" sz="1300" dirty="0"/>
          </a:p>
        </p:txBody>
      </p:sp>
      <p:sp>
        <p:nvSpPr>
          <p:cNvPr id="39" name="Text 37"/>
          <p:cNvSpPr/>
          <p:nvPr/>
        </p:nvSpPr>
        <p:spPr>
          <a:xfrm>
            <a:off x="9336024" y="2532888"/>
            <a:ext cx="1847088" cy="658368"/>
          </a:xfrm>
          <a:prstGeom prst="rect">
            <a:avLst/>
          </a:prstGeom>
          <a:noFill/>
          <a:ln/>
        </p:spPr>
        <p:txBody>
          <a:bodyPr wrap="square" rtlCol="0" anchor="ctr"/>
          <a:lstStyle/>
          <a:p>
            <a:pPr algn="ctr" indent="0" marL="0">
              <a:buNone/>
            </a:pPr>
            <a:r>
              <a:rPr lang="en-US" sz="1100" dirty="0">
                <a:solidFill>
                  <a:srgbClr val="8BA3BE"/>
                </a:solidFill>
                <a:latin typeface="Calibri" pitchFamily="34" charset="0"/>
                <a:ea typeface="Calibri" pitchFamily="34" charset="-122"/>
                <a:cs typeface="Calibri" pitchFamily="34" charset="-120"/>
              </a:rPr>
              <a:t>Next.js</a:t>
            </a:r>
            <a:endParaRPr lang="en-US" sz="1100" dirty="0"/>
          </a:p>
          <a:p>
            <a:pPr algn="ctr" indent="0" marL="0">
              <a:buNone/>
            </a:pPr>
            <a:r>
              <a:rPr lang="en-US" sz="1100" dirty="0">
                <a:solidFill>
                  <a:srgbClr val="8BA3BE"/>
                </a:solidFill>
                <a:latin typeface="Calibri" pitchFamily="34" charset="0"/>
                <a:ea typeface="Calibri" pitchFamily="34" charset="-122"/>
                <a:cs typeface="Calibri" pitchFamily="34" charset="-120"/>
              </a:rPr>
              <a:t>Poll toutes les 30 s</a:t>
            </a:r>
            <a:endParaRPr lang="en-US" sz="1100" dirty="0"/>
          </a:p>
        </p:txBody>
      </p:sp>
      <p:sp>
        <p:nvSpPr>
          <p:cNvPr id="40" name="Shape 38"/>
          <p:cNvSpPr/>
          <p:nvPr/>
        </p:nvSpPr>
        <p:spPr>
          <a:xfrm>
            <a:off x="228600" y="3493008"/>
            <a:ext cx="11704320" cy="749808"/>
          </a:xfrm>
          <a:prstGeom prst="roundRect">
            <a:avLst>
              <a:gd name="adj" fmla="val 8537"/>
            </a:avLst>
          </a:prstGeom>
          <a:solidFill>
            <a:srgbClr val="1A2E48"/>
          </a:solidFill>
          <a:ln w="19050">
            <a:solidFill>
              <a:srgbClr val="5B4FCF"/>
            </a:solidFill>
            <a:prstDash val="solid"/>
          </a:ln>
        </p:spPr>
      </p:sp>
      <p:sp>
        <p:nvSpPr>
          <p:cNvPr id="41" name="Shape 39"/>
          <p:cNvSpPr/>
          <p:nvPr/>
        </p:nvSpPr>
        <p:spPr>
          <a:xfrm>
            <a:off x="347472" y="3602736"/>
            <a:ext cx="475488" cy="475488"/>
          </a:xfrm>
          <a:prstGeom prst="ellipse">
            <a:avLst/>
          </a:prstGeom>
          <a:solidFill>
            <a:srgbClr val="5B4FCF">
              <a:alpha val="80000"/>
            </a:srgbClr>
          </a:solidFill>
          <a:ln w="12700">
            <a:solidFill>
              <a:srgbClr val="5B4FCF"/>
            </a:solidFill>
            <a:prstDash val="solid"/>
          </a:ln>
        </p:spPr>
      </p:sp>
      <p:sp>
        <p:nvSpPr>
          <p:cNvPr id="42" name="Shape 40"/>
          <p:cNvSpPr/>
          <p:nvPr/>
        </p:nvSpPr>
        <p:spPr>
          <a:xfrm>
            <a:off x="493776" y="3767328"/>
            <a:ext cx="182880" cy="146304"/>
          </a:xfrm>
          <a:prstGeom prst="rect">
            <a:avLst/>
          </a:prstGeom>
          <a:solidFill>
            <a:srgbClr val="FFFFFF"/>
          </a:solidFill>
          <a:ln w="12700">
            <a:solidFill>
              <a:srgbClr val="FFFFFF"/>
            </a:solidFill>
            <a:prstDash val="solid"/>
          </a:ln>
        </p:spPr>
      </p:sp>
      <p:sp>
        <p:nvSpPr>
          <p:cNvPr id="43" name="Shape 41"/>
          <p:cNvSpPr/>
          <p:nvPr/>
        </p:nvSpPr>
        <p:spPr>
          <a:xfrm>
            <a:off x="498348" y="3648456"/>
            <a:ext cx="173736" cy="146304"/>
          </a:xfrm>
          <a:prstGeom prst="arc">
            <a:avLst/>
          </a:prstGeom>
          <a:solidFill>
            <a:srgbClr val="FFFFFF">
              <a:alpha val="0"/>
            </a:srgbClr>
          </a:solidFill>
          <a:ln w="25400">
            <a:solidFill>
              <a:srgbClr val="FFFFFF"/>
            </a:solidFill>
            <a:prstDash val="solid"/>
          </a:ln>
        </p:spPr>
      </p:sp>
      <p:sp>
        <p:nvSpPr>
          <p:cNvPr id="44" name="Text 42"/>
          <p:cNvSpPr/>
          <p:nvPr/>
        </p:nvSpPr>
        <p:spPr>
          <a:xfrm>
            <a:off x="960120" y="3584448"/>
            <a:ext cx="10789920" cy="56692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Couche d'Authentification — JWT Bearer Token  +  Garde de Rôle (OWNER / CASHIER)  — chaque requête API est validée avant tout accès à l'inventaire ou aux alertes</a:t>
            </a:r>
            <a:endParaRPr lang="en-US" sz="1250" dirty="0"/>
          </a:p>
        </p:txBody>
      </p:sp>
      <p:sp>
        <p:nvSpPr>
          <p:cNvPr id="45" name="Shape 43"/>
          <p:cNvSpPr/>
          <p:nvPr/>
        </p:nvSpPr>
        <p:spPr>
          <a:xfrm>
            <a:off x="228600" y="4407408"/>
            <a:ext cx="11704320" cy="749808"/>
          </a:xfrm>
          <a:prstGeom prst="roundRect">
            <a:avLst>
              <a:gd name="adj" fmla="val 8537"/>
            </a:avLst>
          </a:prstGeom>
          <a:solidFill>
            <a:srgbClr val="1A2E48"/>
          </a:solidFill>
          <a:ln w="19050">
            <a:solidFill>
              <a:srgbClr val="3CB879"/>
            </a:solidFill>
            <a:prstDash val="solid"/>
          </a:ln>
        </p:spPr>
      </p:sp>
      <p:sp>
        <p:nvSpPr>
          <p:cNvPr id="46" name="Shape 44"/>
          <p:cNvSpPr/>
          <p:nvPr/>
        </p:nvSpPr>
        <p:spPr>
          <a:xfrm>
            <a:off x="347472" y="4517136"/>
            <a:ext cx="475488" cy="475488"/>
          </a:xfrm>
          <a:prstGeom prst="ellipse">
            <a:avLst/>
          </a:prstGeom>
          <a:solidFill>
            <a:srgbClr val="3CB879">
              <a:alpha val="80000"/>
            </a:srgbClr>
          </a:solidFill>
          <a:ln w="12700">
            <a:solidFill>
              <a:srgbClr val="3CB879"/>
            </a:solidFill>
            <a:prstDash val="solid"/>
          </a:ln>
        </p:spPr>
      </p:sp>
      <p:sp>
        <p:nvSpPr>
          <p:cNvPr id="47" name="Shape 45"/>
          <p:cNvSpPr/>
          <p:nvPr/>
        </p:nvSpPr>
        <p:spPr>
          <a:xfrm>
            <a:off x="411480" y="4553712"/>
            <a:ext cx="347472" cy="128016"/>
          </a:xfrm>
          <a:prstGeom prst="ellipse">
            <a:avLst/>
          </a:prstGeom>
          <a:solidFill>
            <a:srgbClr val="FFFFFF"/>
          </a:solidFill>
          <a:ln w="12700">
            <a:solidFill>
              <a:srgbClr val="FFFFFF"/>
            </a:solidFill>
            <a:prstDash val="solid"/>
          </a:ln>
        </p:spPr>
      </p:sp>
      <p:sp>
        <p:nvSpPr>
          <p:cNvPr id="48" name="Shape 46"/>
          <p:cNvSpPr/>
          <p:nvPr/>
        </p:nvSpPr>
        <p:spPr>
          <a:xfrm>
            <a:off x="411480" y="4663440"/>
            <a:ext cx="347472" cy="128016"/>
          </a:xfrm>
          <a:prstGeom prst="ellipse">
            <a:avLst/>
          </a:prstGeom>
          <a:solidFill>
            <a:srgbClr val="FFFFFF">
              <a:alpha val="40000"/>
            </a:srgbClr>
          </a:solidFill>
          <a:ln w="12700">
            <a:solidFill>
              <a:srgbClr val="FFFFFF"/>
            </a:solidFill>
            <a:prstDash val="solid"/>
          </a:ln>
        </p:spPr>
      </p:sp>
      <p:sp>
        <p:nvSpPr>
          <p:cNvPr id="49" name="Shape 47"/>
          <p:cNvSpPr/>
          <p:nvPr/>
        </p:nvSpPr>
        <p:spPr>
          <a:xfrm>
            <a:off x="411480" y="4773168"/>
            <a:ext cx="347472" cy="128016"/>
          </a:xfrm>
          <a:prstGeom prst="ellipse">
            <a:avLst/>
          </a:prstGeom>
          <a:solidFill>
            <a:srgbClr val="FFFFFF">
              <a:alpha val="40000"/>
            </a:srgbClr>
          </a:solidFill>
          <a:ln w="12700">
            <a:solidFill>
              <a:srgbClr val="FFFFFF"/>
            </a:solidFill>
            <a:prstDash val="solid"/>
          </a:ln>
        </p:spPr>
      </p:sp>
      <p:sp>
        <p:nvSpPr>
          <p:cNvPr id="50" name="Text 48"/>
          <p:cNvSpPr/>
          <p:nvPr/>
        </p:nvSpPr>
        <p:spPr>
          <a:xfrm>
            <a:off x="960120" y="4498848"/>
            <a:ext cx="10789920" cy="56692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Base de données PostgreSQL (via Prisma)  ·  Tables : products · stock_movements · alerts · audit_logs · users · sessions</a:t>
            </a:r>
            <a:endParaRPr lang="en-US" sz="1250" dirty="0"/>
          </a:p>
        </p:txBody>
      </p:sp>
      <p:sp>
        <p:nvSpPr>
          <p:cNvPr id="51" name="Shape 49"/>
          <p:cNvSpPr/>
          <p:nvPr/>
        </p:nvSpPr>
        <p:spPr>
          <a:xfrm>
            <a:off x="228600" y="5321808"/>
            <a:ext cx="11704320" cy="512064"/>
          </a:xfrm>
          <a:prstGeom prst="roundRect">
            <a:avLst>
              <a:gd name="adj" fmla="val 12500"/>
            </a:avLst>
          </a:prstGeom>
          <a:solidFill>
            <a:srgbClr val="1A2E48"/>
          </a:solidFill>
          <a:ln w="19050">
            <a:solidFill>
              <a:srgbClr val="F0A500"/>
            </a:solidFill>
            <a:prstDash val="solid"/>
          </a:ln>
        </p:spPr>
      </p:sp>
      <p:sp>
        <p:nvSpPr>
          <p:cNvPr id="52" name="Text 50"/>
          <p:cNvSpPr/>
          <p:nvPr/>
        </p:nvSpPr>
        <p:spPr>
          <a:xfrm>
            <a:off x="411480" y="5394960"/>
            <a:ext cx="11338560" cy="365760"/>
          </a:xfrm>
          <a:prstGeom prst="rect">
            <a:avLst/>
          </a:prstGeom>
          <a:noFill/>
          <a:ln/>
        </p:spPr>
        <p:txBody>
          <a:bodyPr wrap="square" rtlCol="0" anchor="ctr"/>
          <a:lstStyle/>
          <a:p>
            <a:pPr indent="0" marL="0">
              <a:buNone/>
            </a:pPr>
            <a:r>
              <a:rPr lang="en-US" sz="1200" i="1" dirty="0">
                <a:solidFill>
                  <a:srgbClr val="E8EEF6"/>
                </a:solidFill>
                <a:latin typeface="Calibri" pitchFamily="34" charset="0"/>
                <a:ea typeface="Calibri" pitchFamily="34" charset="-122"/>
                <a:cs typeface="Calibri" pitchFamily="34" charset="-120"/>
              </a:rPr>
              <a:t>Transactions Atomiques — Les étapes 1 à 4 s'exécutent dans une seule transaction Prisma. Cohérence garantie.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4A90D9"/>
          </a:solidFill>
          <a:ln w="12700">
            <a:solidFill>
              <a:srgbClr val="4A90D9"/>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4A90D9"/>
                </a:solidFill>
                <a:latin typeface="Calibri" pitchFamily="34" charset="0"/>
                <a:ea typeface="Calibri" pitchFamily="34" charset="-122"/>
                <a:cs typeface="Calibri" pitchFamily="34" charset="-120"/>
              </a:rPr>
              <a:t>MODULE INVENTAIRE</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 Inventaire — Analyse Approfondie</a:t>
            </a:r>
            <a:endParaRPr lang="en-US" sz="2600" dirty="0"/>
          </a:p>
        </p:txBody>
      </p:sp>
      <p:sp>
        <p:nvSpPr>
          <p:cNvPr id="5" name="Shape 3"/>
          <p:cNvSpPr/>
          <p:nvPr/>
        </p:nvSpPr>
        <p:spPr>
          <a:xfrm>
            <a:off x="228600" y="1216152"/>
            <a:ext cx="11704320" cy="22860"/>
          </a:xfrm>
          <a:prstGeom prst="rect">
            <a:avLst/>
          </a:prstGeom>
          <a:solidFill>
            <a:srgbClr val="4A90D9"/>
          </a:solidFill>
          <a:ln w="12700">
            <a:solidFill>
              <a:srgbClr val="4A90D9"/>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5 / 12</a:t>
            </a:r>
            <a:endParaRPr lang="en-US" sz="900" dirty="0"/>
          </a:p>
        </p:txBody>
      </p:sp>
      <p:sp>
        <p:nvSpPr>
          <p:cNvPr id="7" name="Shape 5"/>
          <p:cNvSpPr/>
          <p:nvPr/>
        </p:nvSpPr>
        <p:spPr>
          <a:xfrm>
            <a:off x="228600" y="1353312"/>
            <a:ext cx="5577840" cy="2395728"/>
          </a:xfrm>
          <a:prstGeom prst="roundRect">
            <a:avLst>
              <a:gd name="adj" fmla="val 2672"/>
            </a:avLst>
          </a:prstGeom>
          <a:solidFill>
            <a:srgbClr val="112236"/>
          </a:solidFill>
          <a:ln w="19050">
            <a:solidFill>
              <a:srgbClr val="4A90D9"/>
            </a:solidFill>
            <a:prstDash val="solid"/>
          </a:ln>
        </p:spPr>
      </p:sp>
      <p:sp>
        <p:nvSpPr>
          <p:cNvPr id="8" name="Shape 6"/>
          <p:cNvSpPr/>
          <p:nvPr/>
        </p:nvSpPr>
        <p:spPr>
          <a:xfrm>
            <a:off x="347472" y="1417320"/>
            <a:ext cx="2011680" cy="256032"/>
          </a:xfrm>
          <a:prstGeom prst="roundRect">
            <a:avLst>
              <a:gd name="adj" fmla="val 21429"/>
            </a:avLst>
          </a:prstGeom>
          <a:solidFill>
            <a:srgbClr val="4A90D9"/>
          </a:solidFill>
          <a:ln w="12700">
            <a:solidFill>
              <a:srgbClr val="4A90D9"/>
            </a:solidFill>
            <a:prstDash val="solid"/>
          </a:ln>
        </p:spPr>
      </p:sp>
      <p:sp>
        <p:nvSpPr>
          <p:cNvPr id="9" name="Text 7"/>
          <p:cNvSpPr/>
          <p:nvPr/>
        </p:nvSpPr>
        <p:spPr>
          <a:xfrm>
            <a:off x="347472" y="1417320"/>
            <a:ext cx="20116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ENTITÉ PRODUCT</a:t>
            </a:r>
            <a:endParaRPr lang="en-US" sz="900" dirty="0"/>
          </a:p>
        </p:txBody>
      </p:sp>
      <p:sp>
        <p:nvSpPr>
          <p:cNvPr id="10" name="Text 8"/>
          <p:cNvSpPr/>
          <p:nvPr/>
        </p:nvSpPr>
        <p:spPr>
          <a:xfrm>
            <a:off x="365760" y="1783080"/>
            <a:ext cx="2377440" cy="329184"/>
          </a:xfrm>
          <a:prstGeom prst="rect">
            <a:avLst/>
          </a:prstGeom>
          <a:noFill/>
          <a:ln/>
        </p:spPr>
        <p:txBody>
          <a:bodyPr wrap="square" rtlCol="0" anchor="ctr"/>
          <a:lstStyle/>
          <a:p>
            <a:pPr indent="0" marL="0">
              <a:buNone/>
            </a:pPr>
            <a:r>
              <a:rPr lang="en-US" sz="1100" b="1" dirty="0">
                <a:solidFill>
                  <a:srgbClr val="4A90D9"/>
                </a:solidFill>
                <a:latin typeface="Courier New" pitchFamily="34" charset="0"/>
                <a:ea typeface="Courier New" pitchFamily="34" charset="-122"/>
                <a:cs typeface="Courier New" pitchFamily="34" charset="-120"/>
              </a:rPr>
              <a:t>currentStock</a:t>
            </a:r>
            <a:endParaRPr lang="en-US" sz="1100" dirty="0"/>
          </a:p>
        </p:txBody>
      </p:sp>
      <p:sp>
        <p:nvSpPr>
          <p:cNvPr id="11" name="Text 9"/>
          <p:cNvSpPr/>
          <p:nvPr/>
        </p:nvSpPr>
        <p:spPr>
          <a:xfrm>
            <a:off x="2834640" y="1783080"/>
            <a:ext cx="283464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Quantité actuelle (colonne cache)</a:t>
            </a:r>
            <a:endParaRPr lang="en-US" sz="1100" dirty="0"/>
          </a:p>
        </p:txBody>
      </p:sp>
      <p:sp>
        <p:nvSpPr>
          <p:cNvPr id="12" name="Text 10"/>
          <p:cNvSpPr/>
          <p:nvPr/>
        </p:nvSpPr>
        <p:spPr>
          <a:xfrm>
            <a:off x="365760" y="2176272"/>
            <a:ext cx="2377440" cy="329184"/>
          </a:xfrm>
          <a:prstGeom prst="rect">
            <a:avLst/>
          </a:prstGeom>
          <a:noFill/>
          <a:ln/>
        </p:spPr>
        <p:txBody>
          <a:bodyPr wrap="square" rtlCol="0" anchor="ctr"/>
          <a:lstStyle/>
          <a:p>
            <a:pPr indent="0" marL="0">
              <a:buNone/>
            </a:pPr>
            <a:r>
              <a:rPr lang="en-US" sz="1100" b="1" dirty="0">
                <a:solidFill>
                  <a:srgbClr val="4A90D9"/>
                </a:solidFill>
                <a:latin typeface="Courier New" pitchFamily="34" charset="0"/>
                <a:ea typeface="Courier New" pitchFamily="34" charset="-122"/>
                <a:cs typeface="Courier New" pitchFamily="34" charset="-120"/>
              </a:rPr>
              <a:t>lowStockThreshold</a:t>
            </a:r>
            <a:endParaRPr lang="en-US" sz="1100" dirty="0"/>
          </a:p>
        </p:txBody>
      </p:sp>
      <p:sp>
        <p:nvSpPr>
          <p:cNvPr id="13" name="Text 11"/>
          <p:cNvSpPr/>
          <p:nvPr/>
        </p:nvSpPr>
        <p:spPr>
          <a:xfrm>
            <a:off x="2834640" y="2176272"/>
            <a:ext cx="283464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Seuil déclencheur d'alerte (défaut : 5)</a:t>
            </a:r>
            <a:endParaRPr lang="en-US" sz="1100" dirty="0"/>
          </a:p>
        </p:txBody>
      </p:sp>
      <p:sp>
        <p:nvSpPr>
          <p:cNvPr id="14" name="Text 12"/>
          <p:cNvSpPr/>
          <p:nvPr/>
        </p:nvSpPr>
        <p:spPr>
          <a:xfrm>
            <a:off x="365760" y="2569464"/>
            <a:ext cx="2377440" cy="329184"/>
          </a:xfrm>
          <a:prstGeom prst="rect">
            <a:avLst/>
          </a:prstGeom>
          <a:noFill/>
          <a:ln/>
        </p:spPr>
        <p:txBody>
          <a:bodyPr wrap="square" rtlCol="0" anchor="ctr"/>
          <a:lstStyle/>
          <a:p>
            <a:pPr indent="0" marL="0">
              <a:buNone/>
            </a:pPr>
            <a:r>
              <a:rPr lang="en-US" sz="1100" b="1" dirty="0">
                <a:solidFill>
                  <a:srgbClr val="4A90D9"/>
                </a:solidFill>
                <a:latin typeface="Courier New" pitchFamily="34" charset="0"/>
                <a:ea typeface="Courier New" pitchFamily="34" charset="-122"/>
                <a:cs typeface="Courier New" pitchFamily="34" charset="-120"/>
              </a:rPr>
              <a:t>expirationDate</a:t>
            </a:r>
            <a:endParaRPr lang="en-US" sz="1100" dirty="0"/>
          </a:p>
        </p:txBody>
      </p:sp>
      <p:sp>
        <p:nvSpPr>
          <p:cNvPr id="15" name="Text 13"/>
          <p:cNvSpPr/>
          <p:nvPr/>
        </p:nvSpPr>
        <p:spPr>
          <a:xfrm>
            <a:off x="2834640" y="2569464"/>
            <a:ext cx="283464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Date limite (optionnelle)</a:t>
            </a:r>
            <a:endParaRPr lang="en-US" sz="1100" dirty="0"/>
          </a:p>
        </p:txBody>
      </p:sp>
      <p:sp>
        <p:nvSpPr>
          <p:cNvPr id="16" name="Text 14"/>
          <p:cNvSpPr/>
          <p:nvPr/>
        </p:nvSpPr>
        <p:spPr>
          <a:xfrm>
            <a:off x="365760" y="2962656"/>
            <a:ext cx="2377440" cy="329184"/>
          </a:xfrm>
          <a:prstGeom prst="rect">
            <a:avLst/>
          </a:prstGeom>
          <a:noFill/>
          <a:ln/>
        </p:spPr>
        <p:txBody>
          <a:bodyPr wrap="square" rtlCol="0" anchor="ctr"/>
          <a:lstStyle/>
          <a:p>
            <a:pPr indent="0" marL="0">
              <a:buNone/>
            </a:pPr>
            <a:r>
              <a:rPr lang="en-US" sz="1100" b="1" dirty="0">
                <a:solidFill>
                  <a:srgbClr val="4A90D9"/>
                </a:solidFill>
                <a:latin typeface="Courier New" pitchFamily="34" charset="0"/>
                <a:ea typeface="Courier New" pitchFamily="34" charset="-122"/>
                <a:cs typeface="Courier New" pitchFamily="34" charset="-120"/>
              </a:rPr>
              <a:t>barcode</a:t>
            </a:r>
            <a:endParaRPr lang="en-US" sz="1100" dirty="0"/>
          </a:p>
        </p:txBody>
      </p:sp>
      <p:sp>
        <p:nvSpPr>
          <p:cNvPr id="17" name="Text 15"/>
          <p:cNvSpPr/>
          <p:nvPr/>
        </p:nvSpPr>
        <p:spPr>
          <a:xfrm>
            <a:off x="2834640" y="2962656"/>
            <a:ext cx="283464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Code-barres unique par magasin</a:t>
            </a:r>
            <a:endParaRPr lang="en-US" sz="1100" dirty="0"/>
          </a:p>
        </p:txBody>
      </p:sp>
      <p:sp>
        <p:nvSpPr>
          <p:cNvPr id="18" name="Text 16"/>
          <p:cNvSpPr/>
          <p:nvPr/>
        </p:nvSpPr>
        <p:spPr>
          <a:xfrm>
            <a:off x="365760" y="3355848"/>
            <a:ext cx="2377440" cy="329184"/>
          </a:xfrm>
          <a:prstGeom prst="rect">
            <a:avLst/>
          </a:prstGeom>
          <a:noFill/>
          <a:ln/>
        </p:spPr>
        <p:txBody>
          <a:bodyPr wrap="square" rtlCol="0" anchor="ctr"/>
          <a:lstStyle/>
          <a:p>
            <a:pPr indent="0" marL="0">
              <a:buNone/>
            </a:pPr>
            <a:r>
              <a:rPr lang="en-US" sz="1100" b="1" dirty="0">
                <a:solidFill>
                  <a:srgbClr val="4A90D9"/>
                </a:solidFill>
                <a:latin typeface="Courier New" pitchFamily="34" charset="0"/>
                <a:ea typeface="Courier New" pitchFamily="34" charset="-122"/>
                <a:cs typeface="Courier New" pitchFamily="34" charset="-120"/>
              </a:rPr>
              <a:t>costPrice / salePrice</a:t>
            </a:r>
            <a:endParaRPr lang="en-US" sz="1100" dirty="0"/>
          </a:p>
        </p:txBody>
      </p:sp>
      <p:sp>
        <p:nvSpPr>
          <p:cNvPr id="19" name="Text 17"/>
          <p:cNvSpPr/>
          <p:nvPr/>
        </p:nvSpPr>
        <p:spPr>
          <a:xfrm>
            <a:off x="2834640" y="3355848"/>
            <a:ext cx="283464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Suivi de marge</a:t>
            </a:r>
            <a:endParaRPr lang="en-US" sz="1100" dirty="0"/>
          </a:p>
        </p:txBody>
      </p:sp>
      <p:sp>
        <p:nvSpPr>
          <p:cNvPr id="20" name="Shape 18"/>
          <p:cNvSpPr/>
          <p:nvPr/>
        </p:nvSpPr>
        <p:spPr>
          <a:xfrm>
            <a:off x="228600" y="3913632"/>
            <a:ext cx="5577840" cy="2395728"/>
          </a:xfrm>
          <a:prstGeom prst="roundRect">
            <a:avLst>
              <a:gd name="adj" fmla="val 2672"/>
            </a:avLst>
          </a:prstGeom>
          <a:solidFill>
            <a:srgbClr val="112236"/>
          </a:solidFill>
          <a:ln w="19050">
            <a:solidFill>
              <a:srgbClr val="00B4D8"/>
            </a:solidFill>
            <a:prstDash val="solid"/>
          </a:ln>
        </p:spPr>
      </p:sp>
      <p:sp>
        <p:nvSpPr>
          <p:cNvPr id="21" name="Shape 19"/>
          <p:cNvSpPr/>
          <p:nvPr/>
        </p:nvSpPr>
        <p:spPr>
          <a:xfrm>
            <a:off x="347472" y="3977640"/>
            <a:ext cx="2560320" cy="256032"/>
          </a:xfrm>
          <a:prstGeom prst="roundRect">
            <a:avLst>
              <a:gd name="adj" fmla="val 21429"/>
            </a:avLst>
          </a:prstGeom>
          <a:solidFill>
            <a:srgbClr val="00B4D8"/>
          </a:solidFill>
          <a:ln w="12700">
            <a:solidFill>
              <a:srgbClr val="00B4D8"/>
            </a:solidFill>
            <a:prstDash val="solid"/>
          </a:ln>
        </p:spPr>
      </p:sp>
      <p:sp>
        <p:nvSpPr>
          <p:cNvPr id="22" name="Text 20"/>
          <p:cNvSpPr/>
          <p:nvPr/>
        </p:nvSpPr>
        <p:spPr>
          <a:xfrm>
            <a:off x="347472" y="3977640"/>
            <a:ext cx="25603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ENTITÉ STOCKMOVEMENT</a:t>
            </a:r>
            <a:endParaRPr lang="en-US" sz="900" dirty="0"/>
          </a:p>
        </p:txBody>
      </p:sp>
      <p:sp>
        <p:nvSpPr>
          <p:cNvPr id="23" name="Text 21"/>
          <p:cNvSpPr/>
          <p:nvPr/>
        </p:nvSpPr>
        <p:spPr>
          <a:xfrm>
            <a:off x="365760" y="4343400"/>
            <a:ext cx="2194560" cy="329184"/>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type</a:t>
            </a:r>
            <a:endParaRPr lang="en-US" sz="1100" dirty="0"/>
          </a:p>
        </p:txBody>
      </p:sp>
      <p:sp>
        <p:nvSpPr>
          <p:cNvPr id="24" name="Text 22"/>
          <p:cNvSpPr/>
          <p:nvPr/>
        </p:nvSpPr>
        <p:spPr>
          <a:xfrm>
            <a:off x="2651760" y="4343400"/>
            <a:ext cx="301752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IN | OUT | ADJUST</a:t>
            </a:r>
            <a:endParaRPr lang="en-US" sz="1100" dirty="0"/>
          </a:p>
        </p:txBody>
      </p:sp>
      <p:sp>
        <p:nvSpPr>
          <p:cNvPr id="25" name="Text 23"/>
          <p:cNvSpPr/>
          <p:nvPr/>
        </p:nvSpPr>
        <p:spPr>
          <a:xfrm>
            <a:off x="365760" y="4736592"/>
            <a:ext cx="2194560" cy="329184"/>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qtyDelta</a:t>
            </a:r>
            <a:endParaRPr lang="en-US" sz="1100" dirty="0"/>
          </a:p>
        </p:txBody>
      </p:sp>
      <p:sp>
        <p:nvSpPr>
          <p:cNvPr id="26" name="Text 24"/>
          <p:cNvSpPr/>
          <p:nvPr/>
        </p:nvSpPr>
        <p:spPr>
          <a:xfrm>
            <a:off x="2651760" y="4736592"/>
            <a:ext cx="301752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Positif (IN) ou négatif (OUT)</a:t>
            </a:r>
            <a:endParaRPr lang="en-US" sz="1100" dirty="0"/>
          </a:p>
        </p:txBody>
      </p:sp>
      <p:sp>
        <p:nvSpPr>
          <p:cNvPr id="27" name="Text 25"/>
          <p:cNvSpPr/>
          <p:nvPr/>
        </p:nvSpPr>
        <p:spPr>
          <a:xfrm>
            <a:off x="365760" y="5129784"/>
            <a:ext cx="2194560" cy="329184"/>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reason</a:t>
            </a:r>
            <a:endParaRPr lang="en-US" sz="1100" dirty="0"/>
          </a:p>
        </p:txBody>
      </p:sp>
      <p:sp>
        <p:nvSpPr>
          <p:cNvPr id="28" name="Text 26"/>
          <p:cNvSpPr/>
          <p:nvPr/>
        </p:nvSpPr>
        <p:spPr>
          <a:xfrm>
            <a:off x="2651760" y="5129784"/>
            <a:ext cx="301752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Champ libre requis (max 200 car.)</a:t>
            </a:r>
            <a:endParaRPr lang="en-US" sz="1100" dirty="0"/>
          </a:p>
        </p:txBody>
      </p:sp>
      <p:sp>
        <p:nvSpPr>
          <p:cNvPr id="29" name="Text 27"/>
          <p:cNvSpPr/>
          <p:nvPr/>
        </p:nvSpPr>
        <p:spPr>
          <a:xfrm>
            <a:off x="365760" y="5522976"/>
            <a:ext cx="2194560" cy="329184"/>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createdBy</a:t>
            </a:r>
            <a:endParaRPr lang="en-US" sz="1100" dirty="0"/>
          </a:p>
        </p:txBody>
      </p:sp>
      <p:sp>
        <p:nvSpPr>
          <p:cNvPr id="30" name="Text 28"/>
          <p:cNvSpPr/>
          <p:nvPr/>
        </p:nvSpPr>
        <p:spPr>
          <a:xfrm>
            <a:off x="2651760" y="5522976"/>
            <a:ext cx="301752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Utilisateur responsable du mouvement</a:t>
            </a:r>
            <a:endParaRPr lang="en-US" sz="1100" dirty="0"/>
          </a:p>
        </p:txBody>
      </p:sp>
      <p:sp>
        <p:nvSpPr>
          <p:cNvPr id="31" name="Text 29"/>
          <p:cNvSpPr/>
          <p:nvPr/>
        </p:nvSpPr>
        <p:spPr>
          <a:xfrm>
            <a:off x="365760" y="5916168"/>
            <a:ext cx="2194560" cy="329184"/>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createdAt</a:t>
            </a:r>
            <a:endParaRPr lang="en-US" sz="1100" dirty="0"/>
          </a:p>
        </p:txBody>
      </p:sp>
      <p:sp>
        <p:nvSpPr>
          <p:cNvPr id="32" name="Text 30"/>
          <p:cNvSpPr/>
          <p:nvPr/>
        </p:nvSpPr>
        <p:spPr>
          <a:xfrm>
            <a:off x="2651760" y="5916168"/>
            <a:ext cx="3017520" cy="329184"/>
          </a:xfrm>
          <a:prstGeom prst="rect">
            <a:avLst/>
          </a:prstGeom>
          <a:noFill/>
          <a:ln/>
        </p:spPr>
        <p:txBody>
          <a:bodyPr wrap="square" rtlCol="0" anchor="ctr"/>
          <a:lstStyle/>
          <a:p>
            <a:pPr indent="0" marL="0">
              <a:buNone/>
            </a:pPr>
            <a:r>
              <a:rPr lang="en-US" sz="1100" dirty="0">
                <a:solidFill>
                  <a:srgbClr val="E8EEF6"/>
                </a:solidFill>
                <a:latin typeface="Calibri" pitchFamily="34" charset="0"/>
                <a:ea typeface="Calibri" pitchFamily="34" charset="-122"/>
                <a:cs typeface="Calibri" pitchFamily="34" charset="-120"/>
              </a:rPr>
              <a:t>Piste d'audit complète</a:t>
            </a:r>
            <a:endParaRPr lang="en-US" sz="1100" dirty="0"/>
          </a:p>
        </p:txBody>
      </p:sp>
      <p:sp>
        <p:nvSpPr>
          <p:cNvPr id="33" name="Shape 31"/>
          <p:cNvSpPr/>
          <p:nvPr/>
        </p:nvSpPr>
        <p:spPr>
          <a:xfrm>
            <a:off x="6035040" y="1353312"/>
            <a:ext cx="5925312" cy="2395728"/>
          </a:xfrm>
          <a:prstGeom prst="roundRect">
            <a:avLst>
              <a:gd name="adj" fmla="val 2672"/>
            </a:avLst>
          </a:prstGeom>
          <a:solidFill>
            <a:srgbClr val="112236"/>
          </a:solidFill>
          <a:ln w="19050">
            <a:solidFill>
              <a:srgbClr val="F0A500"/>
            </a:solidFill>
            <a:prstDash val="solid"/>
          </a:ln>
        </p:spPr>
      </p:sp>
      <p:sp>
        <p:nvSpPr>
          <p:cNvPr id="34" name="Shape 32"/>
          <p:cNvSpPr/>
          <p:nvPr/>
        </p:nvSpPr>
        <p:spPr>
          <a:xfrm>
            <a:off x="6153912" y="1417320"/>
            <a:ext cx="2286000" cy="256032"/>
          </a:xfrm>
          <a:prstGeom prst="roundRect">
            <a:avLst>
              <a:gd name="adj" fmla="val 21429"/>
            </a:avLst>
          </a:prstGeom>
          <a:solidFill>
            <a:srgbClr val="F0A500"/>
          </a:solidFill>
          <a:ln w="12700">
            <a:solidFill>
              <a:srgbClr val="F0A500"/>
            </a:solidFill>
            <a:prstDash val="solid"/>
          </a:ln>
        </p:spPr>
      </p:sp>
      <p:sp>
        <p:nvSpPr>
          <p:cNvPr id="35" name="Text 33"/>
          <p:cNvSpPr/>
          <p:nvPr/>
        </p:nvSpPr>
        <p:spPr>
          <a:xfrm>
            <a:off x="6153912" y="1417320"/>
            <a:ext cx="22860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 STOCK-IN (OWNER)</a:t>
            </a:r>
            <a:endParaRPr lang="en-US" sz="900" dirty="0"/>
          </a:p>
        </p:txBody>
      </p:sp>
      <p:sp>
        <p:nvSpPr>
          <p:cNvPr id="36" name="Shape 34"/>
          <p:cNvSpPr/>
          <p:nvPr/>
        </p:nvSpPr>
        <p:spPr>
          <a:xfrm>
            <a:off x="6153912" y="1801368"/>
            <a:ext cx="219456" cy="219456"/>
          </a:xfrm>
          <a:prstGeom prst="ellipse">
            <a:avLst/>
          </a:prstGeom>
          <a:solidFill>
            <a:srgbClr val="F0A500"/>
          </a:solidFill>
          <a:ln w="12700">
            <a:solidFill>
              <a:srgbClr val="F0A500"/>
            </a:solidFill>
            <a:prstDash val="solid"/>
          </a:ln>
        </p:spPr>
      </p:sp>
      <p:sp>
        <p:nvSpPr>
          <p:cNvPr id="37" name="Text 35"/>
          <p:cNvSpPr/>
          <p:nvPr/>
        </p:nvSpPr>
        <p:spPr>
          <a:xfrm>
            <a:off x="6153912" y="1801368"/>
            <a:ext cx="219456" cy="219456"/>
          </a:xfrm>
          <a:prstGeom prst="rect">
            <a:avLst/>
          </a:prstGeom>
          <a:noFill/>
          <a:ln/>
        </p:spPr>
        <p:txBody>
          <a:bodyPr wrap="square"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1</a:t>
            </a:r>
            <a:endParaRPr lang="en-US" sz="900" dirty="0"/>
          </a:p>
        </p:txBody>
      </p:sp>
      <p:sp>
        <p:nvSpPr>
          <p:cNvPr id="38" name="Text 36"/>
          <p:cNvSpPr/>
          <p:nvPr/>
        </p:nvSpPr>
        <p:spPr>
          <a:xfrm>
            <a:off x="6455664" y="1792224"/>
            <a:ext cx="539496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Vérification : produit appartient au magasin</a:t>
            </a:r>
            <a:endParaRPr lang="en-US" sz="1250" dirty="0"/>
          </a:p>
        </p:txBody>
      </p:sp>
      <p:sp>
        <p:nvSpPr>
          <p:cNvPr id="39" name="Shape 37"/>
          <p:cNvSpPr/>
          <p:nvPr/>
        </p:nvSpPr>
        <p:spPr>
          <a:xfrm>
            <a:off x="6153912" y="2231136"/>
            <a:ext cx="219456" cy="219456"/>
          </a:xfrm>
          <a:prstGeom prst="ellipse">
            <a:avLst/>
          </a:prstGeom>
          <a:solidFill>
            <a:srgbClr val="F0A500"/>
          </a:solidFill>
          <a:ln w="12700">
            <a:solidFill>
              <a:srgbClr val="F0A500"/>
            </a:solidFill>
            <a:prstDash val="solid"/>
          </a:ln>
        </p:spPr>
      </p:sp>
      <p:sp>
        <p:nvSpPr>
          <p:cNvPr id="40" name="Text 38"/>
          <p:cNvSpPr/>
          <p:nvPr/>
        </p:nvSpPr>
        <p:spPr>
          <a:xfrm>
            <a:off x="6153912" y="2231136"/>
            <a:ext cx="219456" cy="219456"/>
          </a:xfrm>
          <a:prstGeom prst="rect">
            <a:avLst/>
          </a:prstGeom>
          <a:noFill/>
          <a:ln/>
        </p:spPr>
        <p:txBody>
          <a:bodyPr wrap="square"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2</a:t>
            </a:r>
            <a:endParaRPr lang="en-US" sz="900" dirty="0"/>
          </a:p>
        </p:txBody>
      </p:sp>
      <p:sp>
        <p:nvSpPr>
          <p:cNvPr id="41" name="Text 39"/>
          <p:cNvSpPr/>
          <p:nvPr/>
        </p:nvSpPr>
        <p:spPr>
          <a:xfrm>
            <a:off x="6455664" y="2221992"/>
            <a:ext cx="539496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Transaction Prisma : mise à jour stock + mouvement + log audit</a:t>
            </a:r>
            <a:endParaRPr lang="en-US" sz="1250" dirty="0"/>
          </a:p>
        </p:txBody>
      </p:sp>
      <p:sp>
        <p:nvSpPr>
          <p:cNvPr id="42" name="Shape 40"/>
          <p:cNvSpPr/>
          <p:nvPr/>
        </p:nvSpPr>
        <p:spPr>
          <a:xfrm>
            <a:off x="6153912" y="2660904"/>
            <a:ext cx="219456" cy="219456"/>
          </a:xfrm>
          <a:prstGeom prst="ellipse">
            <a:avLst/>
          </a:prstGeom>
          <a:solidFill>
            <a:srgbClr val="F0A500"/>
          </a:solidFill>
          <a:ln w="12700">
            <a:solidFill>
              <a:srgbClr val="F0A500"/>
            </a:solidFill>
            <a:prstDash val="solid"/>
          </a:ln>
        </p:spPr>
      </p:sp>
      <p:sp>
        <p:nvSpPr>
          <p:cNvPr id="43" name="Text 41"/>
          <p:cNvSpPr/>
          <p:nvPr/>
        </p:nvSpPr>
        <p:spPr>
          <a:xfrm>
            <a:off x="6153912" y="2660904"/>
            <a:ext cx="219456" cy="219456"/>
          </a:xfrm>
          <a:prstGeom prst="rect">
            <a:avLst/>
          </a:prstGeom>
          <a:noFill/>
          <a:ln/>
        </p:spPr>
        <p:txBody>
          <a:bodyPr wrap="square"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3</a:t>
            </a:r>
            <a:endParaRPr lang="en-US" sz="900" dirty="0"/>
          </a:p>
        </p:txBody>
      </p:sp>
      <p:sp>
        <p:nvSpPr>
          <p:cNvPr id="44" name="Text 42"/>
          <p:cNvSpPr/>
          <p:nvPr/>
        </p:nvSpPr>
        <p:spPr>
          <a:xfrm>
            <a:off x="6455664" y="2651760"/>
            <a:ext cx="539496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alertsPort.syncProductAlerts(tx, produit) dans la transaction</a:t>
            </a:r>
            <a:endParaRPr lang="en-US" sz="1250" dirty="0"/>
          </a:p>
        </p:txBody>
      </p:sp>
      <p:sp>
        <p:nvSpPr>
          <p:cNvPr id="45" name="Shape 43"/>
          <p:cNvSpPr/>
          <p:nvPr/>
        </p:nvSpPr>
        <p:spPr>
          <a:xfrm>
            <a:off x="6153912" y="3090672"/>
            <a:ext cx="219456" cy="219456"/>
          </a:xfrm>
          <a:prstGeom prst="ellipse">
            <a:avLst/>
          </a:prstGeom>
          <a:solidFill>
            <a:srgbClr val="F0A500"/>
          </a:solidFill>
          <a:ln w="12700">
            <a:solidFill>
              <a:srgbClr val="F0A500"/>
            </a:solidFill>
            <a:prstDash val="solid"/>
          </a:ln>
        </p:spPr>
      </p:sp>
      <p:sp>
        <p:nvSpPr>
          <p:cNvPr id="46" name="Text 44"/>
          <p:cNvSpPr/>
          <p:nvPr/>
        </p:nvSpPr>
        <p:spPr>
          <a:xfrm>
            <a:off x="6153912" y="3090672"/>
            <a:ext cx="219456" cy="219456"/>
          </a:xfrm>
          <a:prstGeom prst="rect">
            <a:avLst/>
          </a:prstGeom>
          <a:noFill/>
          <a:ln/>
        </p:spPr>
        <p:txBody>
          <a:bodyPr wrap="square"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4</a:t>
            </a:r>
            <a:endParaRPr lang="en-US" sz="900" dirty="0"/>
          </a:p>
        </p:txBody>
      </p:sp>
      <p:sp>
        <p:nvSpPr>
          <p:cNvPr id="47" name="Text 45"/>
          <p:cNvSpPr/>
          <p:nvPr/>
        </p:nvSpPr>
        <p:spPr>
          <a:xfrm>
            <a:off x="6455664" y="3081528"/>
            <a:ext cx="539496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Retourne l'item inventaire mis à jour</a:t>
            </a:r>
            <a:endParaRPr lang="en-US" sz="1250" dirty="0"/>
          </a:p>
        </p:txBody>
      </p:sp>
      <p:sp>
        <p:nvSpPr>
          <p:cNvPr id="48" name="Shape 46"/>
          <p:cNvSpPr/>
          <p:nvPr/>
        </p:nvSpPr>
        <p:spPr>
          <a:xfrm>
            <a:off x="6035040" y="3913632"/>
            <a:ext cx="5925312" cy="2395728"/>
          </a:xfrm>
          <a:prstGeom prst="roundRect">
            <a:avLst>
              <a:gd name="adj" fmla="val 2672"/>
            </a:avLst>
          </a:prstGeom>
          <a:solidFill>
            <a:srgbClr val="112236"/>
          </a:solidFill>
          <a:ln w="19050">
            <a:solidFill>
              <a:srgbClr val="E05C5C"/>
            </a:solidFill>
            <a:prstDash val="solid"/>
          </a:ln>
        </p:spPr>
      </p:sp>
      <p:sp>
        <p:nvSpPr>
          <p:cNvPr id="49" name="Shape 47"/>
          <p:cNvSpPr/>
          <p:nvPr/>
        </p:nvSpPr>
        <p:spPr>
          <a:xfrm>
            <a:off x="6153912" y="3977640"/>
            <a:ext cx="2286000" cy="256032"/>
          </a:xfrm>
          <a:prstGeom prst="roundRect">
            <a:avLst>
              <a:gd name="adj" fmla="val 21429"/>
            </a:avLst>
          </a:prstGeom>
          <a:solidFill>
            <a:srgbClr val="E05C5C"/>
          </a:solidFill>
          <a:ln w="12700">
            <a:solidFill>
              <a:srgbClr val="E05C5C"/>
            </a:solidFill>
            <a:prstDash val="solid"/>
          </a:ln>
        </p:spPr>
      </p:sp>
      <p:sp>
        <p:nvSpPr>
          <p:cNvPr id="50" name="Text 48"/>
          <p:cNvSpPr/>
          <p:nvPr/>
        </p:nvSpPr>
        <p:spPr>
          <a:xfrm>
            <a:off x="6153912" y="3977640"/>
            <a:ext cx="22860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STOCK-OUT &amp; EXPIRATION</a:t>
            </a:r>
            <a:endParaRPr lang="en-US" sz="900" dirty="0"/>
          </a:p>
        </p:txBody>
      </p:sp>
      <p:sp>
        <p:nvSpPr>
          <p:cNvPr id="51" name="Shape 49"/>
          <p:cNvSpPr/>
          <p:nvPr/>
        </p:nvSpPr>
        <p:spPr>
          <a:xfrm>
            <a:off x="6153912" y="4379976"/>
            <a:ext cx="109728" cy="201168"/>
          </a:xfrm>
          <a:prstGeom prst="rect">
            <a:avLst/>
          </a:prstGeom>
          <a:solidFill>
            <a:srgbClr val="E05C5C"/>
          </a:solidFill>
          <a:ln w="12700">
            <a:solidFill>
              <a:srgbClr val="E05C5C"/>
            </a:solidFill>
            <a:prstDash val="solid"/>
          </a:ln>
        </p:spPr>
      </p:sp>
      <p:sp>
        <p:nvSpPr>
          <p:cNvPr id="52" name="Text 50"/>
          <p:cNvSpPr/>
          <p:nvPr/>
        </p:nvSpPr>
        <p:spPr>
          <a:xfrm>
            <a:off x="6373368" y="4352544"/>
            <a:ext cx="548640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Stock-OUT : protection anti-stock négatif (erreur 422)</a:t>
            </a:r>
            <a:endParaRPr lang="en-US" sz="1250" dirty="0"/>
          </a:p>
        </p:txBody>
      </p:sp>
      <p:sp>
        <p:nvSpPr>
          <p:cNvPr id="53" name="Shape 51"/>
          <p:cNvSpPr/>
          <p:nvPr/>
        </p:nvSpPr>
        <p:spPr>
          <a:xfrm>
            <a:off x="6153912" y="4809744"/>
            <a:ext cx="109728" cy="201168"/>
          </a:xfrm>
          <a:prstGeom prst="rect">
            <a:avLst/>
          </a:prstGeom>
          <a:solidFill>
            <a:srgbClr val="E05C5C"/>
          </a:solidFill>
          <a:ln w="12700">
            <a:solidFill>
              <a:srgbClr val="E05C5C"/>
            </a:solidFill>
            <a:prstDash val="solid"/>
          </a:ln>
        </p:spPr>
      </p:sp>
      <p:sp>
        <p:nvSpPr>
          <p:cNvPr id="54" name="Text 52"/>
          <p:cNvSpPr/>
          <p:nvPr/>
        </p:nvSpPr>
        <p:spPr>
          <a:xfrm>
            <a:off x="6373368" y="4782312"/>
            <a:ext cx="548640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findExpiringSoon() : produits expirant sous 5 jours</a:t>
            </a:r>
            <a:endParaRPr lang="en-US" sz="1250" dirty="0"/>
          </a:p>
        </p:txBody>
      </p:sp>
      <p:sp>
        <p:nvSpPr>
          <p:cNvPr id="55" name="Shape 53"/>
          <p:cNvSpPr/>
          <p:nvPr/>
        </p:nvSpPr>
        <p:spPr>
          <a:xfrm>
            <a:off x="6153912" y="5239512"/>
            <a:ext cx="109728" cy="201168"/>
          </a:xfrm>
          <a:prstGeom prst="rect">
            <a:avLst/>
          </a:prstGeom>
          <a:solidFill>
            <a:srgbClr val="E05C5C"/>
          </a:solidFill>
          <a:ln w="12700">
            <a:solidFill>
              <a:srgbClr val="E05C5C"/>
            </a:solidFill>
            <a:prstDash val="solid"/>
          </a:ln>
        </p:spPr>
      </p:sp>
      <p:sp>
        <p:nvSpPr>
          <p:cNvPr id="56" name="Text 54"/>
          <p:cNvSpPr/>
          <p:nvPr/>
        </p:nvSpPr>
        <p:spPr>
          <a:xfrm>
            <a:off x="6373368" y="5212080"/>
            <a:ext cx="548640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findRecentMovements() : 50 derniers mouvements du magasin</a:t>
            </a:r>
            <a:endParaRPr lang="en-US" sz="1250" dirty="0"/>
          </a:p>
        </p:txBody>
      </p:sp>
      <p:sp>
        <p:nvSpPr>
          <p:cNvPr id="57" name="Shape 55"/>
          <p:cNvSpPr/>
          <p:nvPr/>
        </p:nvSpPr>
        <p:spPr>
          <a:xfrm>
            <a:off x="6153912" y="5669280"/>
            <a:ext cx="109728" cy="201168"/>
          </a:xfrm>
          <a:prstGeom prst="rect">
            <a:avLst/>
          </a:prstGeom>
          <a:solidFill>
            <a:srgbClr val="E05C5C"/>
          </a:solidFill>
          <a:ln w="12700">
            <a:solidFill>
              <a:srgbClr val="E05C5C"/>
            </a:solidFill>
            <a:prstDash val="solid"/>
          </a:ln>
        </p:spPr>
      </p:sp>
      <p:sp>
        <p:nvSpPr>
          <p:cNvPr id="58" name="Text 56"/>
          <p:cNvSpPr/>
          <p:nvPr/>
        </p:nvSpPr>
        <p:spPr>
          <a:xfrm>
            <a:off x="6373368" y="5641848"/>
            <a:ext cx="5486400" cy="3474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isLowStock calculé à chaque réponse API (currentStock ≤ seuil)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0A500"/>
          </a:solidFill>
          <a:ln w="12700">
            <a:solidFill>
              <a:srgbClr val="F0A500"/>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F0A500"/>
                </a:solidFill>
                <a:latin typeface="Calibri" pitchFamily="34" charset="0"/>
                <a:ea typeface="Calibri" pitchFamily="34" charset="-122"/>
                <a:cs typeface="Calibri" pitchFamily="34" charset="-120"/>
              </a:rPr>
              <a:t>MODULE ALERTES</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Module Alertes — Analyse Approfondie</a:t>
            </a:r>
            <a:endParaRPr lang="en-US" sz="2600" dirty="0"/>
          </a:p>
        </p:txBody>
      </p:sp>
      <p:sp>
        <p:nvSpPr>
          <p:cNvPr id="5" name="Shape 3"/>
          <p:cNvSpPr/>
          <p:nvPr/>
        </p:nvSpPr>
        <p:spPr>
          <a:xfrm>
            <a:off x="228600" y="1216152"/>
            <a:ext cx="11704320" cy="22860"/>
          </a:xfrm>
          <a:prstGeom prst="rect">
            <a:avLst/>
          </a:prstGeom>
          <a:solidFill>
            <a:srgbClr val="F0A500"/>
          </a:solidFill>
          <a:ln w="12700">
            <a:solidFill>
              <a:srgbClr val="F0A500"/>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6 / 12</a:t>
            </a:r>
            <a:endParaRPr lang="en-US" sz="900" dirty="0"/>
          </a:p>
        </p:txBody>
      </p:sp>
      <p:sp>
        <p:nvSpPr>
          <p:cNvPr id="7" name="Shape 5"/>
          <p:cNvSpPr/>
          <p:nvPr/>
        </p:nvSpPr>
        <p:spPr>
          <a:xfrm>
            <a:off x="228600" y="1353312"/>
            <a:ext cx="5687568" cy="3063240"/>
          </a:xfrm>
          <a:prstGeom prst="roundRect">
            <a:avLst>
              <a:gd name="adj" fmla="val 2090"/>
            </a:avLst>
          </a:prstGeom>
          <a:solidFill>
            <a:srgbClr val="112236"/>
          </a:solidFill>
          <a:ln w="19050">
            <a:solidFill>
              <a:srgbClr val="F0A500"/>
            </a:solidFill>
            <a:prstDash val="solid"/>
          </a:ln>
        </p:spPr>
      </p:sp>
      <p:sp>
        <p:nvSpPr>
          <p:cNvPr id="8" name="Shape 6"/>
          <p:cNvSpPr/>
          <p:nvPr/>
        </p:nvSpPr>
        <p:spPr>
          <a:xfrm>
            <a:off x="365760" y="1417320"/>
            <a:ext cx="3200400" cy="256032"/>
          </a:xfrm>
          <a:prstGeom prst="roundRect">
            <a:avLst>
              <a:gd name="adj" fmla="val 21429"/>
            </a:avLst>
          </a:prstGeom>
          <a:solidFill>
            <a:srgbClr val="F0A500"/>
          </a:solidFill>
          <a:ln w="12700">
            <a:solidFill>
              <a:srgbClr val="F0A500"/>
            </a:solidFill>
            <a:prstDash val="solid"/>
          </a:ln>
        </p:spPr>
      </p:sp>
      <p:sp>
        <p:nvSpPr>
          <p:cNvPr id="9" name="Text 7"/>
          <p:cNvSpPr/>
          <p:nvPr/>
        </p:nvSpPr>
        <p:spPr>
          <a:xfrm>
            <a:off x="365760" y="1417320"/>
            <a:ext cx="32004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ALERTE  LOW_STOCK</a:t>
            </a:r>
            <a:endParaRPr lang="en-US" sz="900" dirty="0"/>
          </a:p>
        </p:txBody>
      </p:sp>
      <p:sp>
        <p:nvSpPr>
          <p:cNvPr id="10" name="Text 8"/>
          <p:cNvSpPr/>
          <p:nvPr/>
        </p:nvSpPr>
        <p:spPr>
          <a:xfrm>
            <a:off x="365760" y="1801368"/>
            <a:ext cx="5394960" cy="274320"/>
          </a:xfrm>
          <a:prstGeom prst="rect">
            <a:avLst/>
          </a:prstGeom>
          <a:noFill/>
          <a:ln/>
        </p:spPr>
        <p:txBody>
          <a:bodyPr wrap="square" rtlCol="0" anchor="ctr"/>
          <a:lstStyle/>
          <a:p>
            <a:pPr indent="0" marL="0">
              <a:buNone/>
            </a:pPr>
            <a:r>
              <a:rPr lang="en-US" sz="1000" b="1" dirty="0">
                <a:solidFill>
                  <a:srgbClr val="8BA3BE"/>
                </a:solidFill>
                <a:latin typeface="Calibri" pitchFamily="34" charset="0"/>
                <a:ea typeface="Calibri" pitchFamily="34" charset="-122"/>
                <a:cs typeface="Calibri" pitchFamily="34" charset="-120"/>
              </a:rPr>
              <a:t>Condition de déclenchement</a:t>
            </a:r>
            <a:endParaRPr lang="en-US" sz="1000" dirty="0"/>
          </a:p>
        </p:txBody>
      </p:sp>
      <p:sp>
        <p:nvSpPr>
          <p:cNvPr id="11" name="Text 9"/>
          <p:cNvSpPr/>
          <p:nvPr/>
        </p:nvSpPr>
        <p:spPr>
          <a:xfrm>
            <a:off x="365760" y="2075688"/>
            <a:ext cx="5394960" cy="320040"/>
          </a:xfrm>
          <a:prstGeom prst="rect">
            <a:avLst/>
          </a:prstGeom>
          <a:noFill/>
          <a:ln/>
        </p:spPr>
        <p:txBody>
          <a:bodyPr wrap="square" rtlCol="0" anchor="ctr"/>
          <a:lstStyle/>
          <a:p>
            <a:pPr indent="0" marL="0">
              <a:buNone/>
            </a:pPr>
            <a:r>
              <a:rPr lang="en-US" sz="1200" b="1" dirty="0">
                <a:solidFill>
                  <a:srgbClr val="F0A500"/>
                </a:solidFill>
                <a:latin typeface="Courier New" pitchFamily="34" charset="0"/>
                <a:ea typeface="Courier New" pitchFamily="34" charset="-122"/>
                <a:cs typeface="Courier New" pitchFamily="34" charset="-120"/>
              </a:rPr>
              <a:t>currentStock  &lt;=  lowStockThreshold</a:t>
            </a:r>
            <a:endParaRPr lang="en-US" sz="1200" dirty="0"/>
          </a:p>
        </p:txBody>
      </p:sp>
      <p:sp>
        <p:nvSpPr>
          <p:cNvPr id="12" name="Shape 10"/>
          <p:cNvSpPr/>
          <p:nvPr/>
        </p:nvSpPr>
        <p:spPr>
          <a:xfrm>
            <a:off x="365760" y="2432304"/>
            <a:ext cx="5394960" cy="18288"/>
          </a:xfrm>
          <a:prstGeom prst="rect">
            <a:avLst/>
          </a:prstGeom>
          <a:solidFill>
            <a:srgbClr val="F0A500">
              <a:alpha val="30000"/>
            </a:srgbClr>
          </a:solidFill>
          <a:ln w="12700">
            <a:solidFill>
              <a:srgbClr val="F0A500">
                <a:alpha val="30000"/>
              </a:srgbClr>
            </a:solidFill>
            <a:prstDash val="solid"/>
          </a:ln>
        </p:spPr>
      </p:sp>
      <p:sp>
        <p:nvSpPr>
          <p:cNvPr id="13" name="Text 11"/>
          <p:cNvSpPr/>
          <p:nvPr/>
        </p:nvSpPr>
        <p:spPr>
          <a:xfrm>
            <a:off x="365760" y="2496312"/>
            <a:ext cx="5394960" cy="274320"/>
          </a:xfrm>
          <a:prstGeom prst="rect">
            <a:avLst/>
          </a:prstGeom>
          <a:noFill/>
          <a:ln/>
        </p:spPr>
        <p:txBody>
          <a:bodyPr wrap="square" rtlCol="0" anchor="ctr"/>
          <a:lstStyle/>
          <a:p>
            <a:pPr indent="0" marL="0">
              <a:buNone/>
            </a:pPr>
            <a:r>
              <a:rPr lang="en-US" sz="1000" b="1" dirty="0">
                <a:solidFill>
                  <a:srgbClr val="8BA3BE"/>
                </a:solidFill>
                <a:latin typeface="Calibri" pitchFamily="34" charset="0"/>
                <a:ea typeface="Calibri" pitchFamily="34" charset="-122"/>
                <a:cs typeface="Calibri" pitchFamily="34" charset="-120"/>
              </a:rPr>
              <a:t>Exemple de message</a:t>
            </a:r>
            <a:endParaRPr lang="en-US" sz="1000" dirty="0"/>
          </a:p>
        </p:txBody>
      </p:sp>
      <p:sp>
        <p:nvSpPr>
          <p:cNvPr id="14" name="Text 12"/>
          <p:cNvSpPr/>
          <p:nvPr/>
        </p:nvSpPr>
        <p:spPr>
          <a:xfrm>
            <a:off x="365760" y="2788920"/>
            <a:ext cx="5394960" cy="658368"/>
          </a:xfrm>
          <a:prstGeom prst="rect">
            <a:avLst/>
          </a:prstGeom>
          <a:noFill/>
          <a:ln/>
        </p:spPr>
        <p:txBody>
          <a:bodyPr wrap="square" rtlCol="0" anchor="ctr"/>
          <a:lstStyle/>
          <a:p>
            <a:pPr indent="0" marL="0">
              <a:buNone/>
            </a:pPr>
            <a:r>
              <a:rPr lang="en-US" sz="1150" i="1" dirty="0">
                <a:solidFill>
                  <a:srgbClr val="E8EEF6"/>
                </a:solidFill>
                <a:latin typeface="Calibri" pitchFamily="34" charset="0"/>
                <a:ea typeface="Calibri" pitchFamily="34" charset="-122"/>
                <a:cs typeface="Calibri" pitchFamily="34" charset="-120"/>
              </a:rPr>
              <a:t>"Stock bas pour Coca-Cola :</a:t>
            </a:r>
            <a:endParaRPr lang="en-US" sz="1150" dirty="0"/>
          </a:p>
          <a:p>
            <a:pPr indent="0" marL="0">
              <a:buNone/>
            </a:pPr>
            <a:r>
              <a:rPr lang="en-US" sz="1150" i="1" dirty="0">
                <a:solidFill>
                  <a:srgbClr val="E8EEF6"/>
                </a:solidFill>
                <a:latin typeface="Calibri" pitchFamily="34" charset="0"/>
                <a:ea typeface="Calibri" pitchFamily="34" charset="-122"/>
                <a:cs typeface="Calibri" pitchFamily="34" charset="-120"/>
              </a:rPr>
              <a:t>3 unité(s) restantes sur un seuil de 5."</a:t>
            </a:r>
            <a:endParaRPr lang="en-US" sz="1150" dirty="0"/>
          </a:p>
        </p:txBody>
      </p:sp>
      <p:sp>
        <p:nvSpPr>
          <p:cNvPr id="15" name="Shape 13"/>
          <p:cNvSpPr/>
          <p:nvPr/>
        </p:nvSpPr>
        <p:spPr>
          <a:xfrm>
            <a:off x="365760" y="3538728"/>
            <a:ext cx="91440" cy="91440"/>
          </a:xfrm>
          <a:prstGeom prst="rect">
            <a:avLst/>
          </a:prstGeom>
          <a:solidFill>
            <a:srgbClr val="F0A500"/>
          </a:solidFill>
          <a:ln w="12700">
            <a:solidFill>
              <a:srgbClr val="F0A500"/>
            </a:solidFill>
            <a:prstDash val="solid"/>
          </a:ln>
        </p:spPr>
      </p:sp>
      <p:sp>
        <p:nvSpPr>
          <p:cNvPr id="16" name="Text 14"/>
          <p:cNvSpPr/>
          <p:nvPr/>
        </p:nvSpPr>
        <p:spPr>
          <a:xfrm>
            <a:off x="548640" y="3502152"/>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Évalue chaque produit actif du magasin</a:t>
            </a:r>
            <a:endParaRPr lang="en-US" sz="1200" dirty="0"/>
          </a:p>
        </p:txBody>
      </p:sp>
      <p:sp>
        <p:nvSpPr>
          <p:cNvPr id="17" name="Shape 15"/>
          <p:cNvSpPr/>
          <p:nvPr/>
        </p:nvSpPr>
        <p:spPr>
          <a:xfrm>
            <a:off x="365760" y="3831336"/>
            <a:ext cx="91440" cy="91440"/>
          </a:xfrm>
          <a:prstGeom prst="rect">
            <a:avLst/>
          </a:prstGeom>
          <a:solidFill>
            <a:srgbClr val="F0A500"/>
          </a:solidFill>
          <a:ln w="12700">
            <a:solidFill>
              <a:srgbClr val="F0A500"/>
            </a:solidFill>
            <a:prstDash val="solid"/>
          </a:ln>
        </p:spPr>
      </p:sp>
      <p:sp>
        <p:nvSpPr>
          <p:cNvPr id="18" name="Text 16"/>
          <p:cNvSpPr/>
          <p:nvPr/>
        </p:nvSpPr>
        <p:spPr>
          <a:xfrm>
            <a:off x="548640" y="3794760"/>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Seuil configurable par produit</a:t>
            </a:r>
            <a:endParaRPr lang="en-US" sz="1200" dirty="0"/>
          </a:p>
        </p:txBody>
      </p:sp>
      <p:sp>
        <p:nvSpPr>
          <p:cNvPr id="19" name="Shape 17"/>
          <p:cNvSpPr/>
          <p:nvPr/>
        </p:nvSpPr>
        <p:spPr>
          <a:xfrm>
            <a:off x="365760" y="4123944"/>
            <a:ext cx="91440" cy="91440"/>
          </a:xfrm>
          <a:prstGeom prst="rect">
            <a:avLst/>
          </a:prstGeom>
          <a:solidFill>
            <a:srgbClr val="F0A500"/>
          </a:solidFill>
          <a:ln w="12700">
            <a:solidFill>
              <a:srgbClr val="F0A500"/>
            </a:solidFill>
            <a:prstDash val="solid"/>
          </a:ln>
        </p:spPr>
      </p:sp>
      <p:sp>
        <p:nvSpPr>
          <p:cNvPr id="20" name="Text 18"/>
          <p:cNvSpPr/>
          <p:nvPr/>
        </p:nvSpPr>
        <p:spPr>
          <a:xfrm>
            <a:off x="548640" y="4087368"/>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 déclenche à chaque entrée/sortie de stock</a:t>
            </a:r>
            <a:endParaRPr lang="en-US" sz="1200" dirty="0"/>
          </a:p>
        </p:txBody>
      </p:sp>
      <p:sp>
        <p:nvSpPr>
          <p:cNvPr id="21" name="Shape 19"/>
          <p:cNvSpPr/>
          <p:nvPr/>
        </p:nvSpPr>
        <p:spPr>
          <a:xfrm>
            <a:off x="6144768" y="1353312"/>
            <a:ext cx="5687568" cy="3063240"/>
          </a:xfrm>
          <a:prstGeom prst="roundRect">
            <a:avLst>
              <a:gd name="adj" fmla="val 2090"/>
            </a:avLst>
          </a:prstGeom>
          <a:solidFill>
            <a:srgbClr val="112236"/>
          </a:solidFill>
          <a:ln w="19050">
            <a:solidFill>
              <a:srgbClr val="E05C5C"/>
            </a:solidFill>
            <a:prstDash val="solid"/>
          </a:ln>
        </p:spPr>
      </p:sp>
      <p:sp>
        <p:nvSpPr>
          <p:cNvPr id="22" name="Shape 20"/>
          <p:cNvSpPr/>
          <p:nvPr/>
        </p:nvSpPr>
        <p:spPr>
          <a:xfrm>
            <a:off x="6281928" y="1417320"/>
            <a:ext cx="3200400" cy="256032"/>
          </a:xfrm>
          <a:prstGeom prst="roundRect">
            <a:avLst>
              <a:gd name="adj" fmla="val 21429"/>
            </a:avLst>
          </a:prstGeom>
          <a:solidFill>
            <a:srgbClr val="E05C5C"/>
          </a:solidFill>
          <a:ln w="12700">
            <a:solidFill>
              <a:srgbClr val="E05C5C"/>
            </a:solidFill>
            <a:prstDash val="solid"/>
          </a:ln>
        </p:spPr>
      </p:sp>
      <p:sp>
        <p:nvSpPr>
          <p:cNvPr id="23" name="Text 21"/>
          <p:cNvSpPr/>
          <p:nvPr/>
        </p:nvSpPr>
        <p:spPr>
          <a:xfrm>
            <a:off x="6281928" y="1417320"/>
            <a:ext cx="32004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ALERTE  EXPIRY</a:t>
            </a:r>
            <a:endParaRPr lang="en-US" sz="900" dirty="0"/>
          </a:p>
        </p:txBody>
      </p:sp>
      <p:sp>
        <p:nvSpPr>
          <p:cNvPr id="24" name="Text 22"/>
          <p:cNvSpPr/>
          <p:nvPr/>
        </p:nvSpPr>
        <p:spPr>
          <a:xfrm>
            <a:off x="6281928" y="1801368"/>
            <a:ext cx="5394960" cy="274320"/>
          </a:xfrm>
          <a:prstGeom prst="rect">
            <a:avLst/>
          </a:prstGeom>
          <a:noFill/>
          <a:ln/>
        </p:spPr>
        <p:txBody>
          <a:bodyPr wrap="square" rtlCol="0" anchor="ctr"/>
          <a:lstStyle/>
          <a:p>
            <a:pPr indent="0" marL="0">
              <a:buNone/>
            </a:pPr>
            <a:r>
              <a:rPr lang="en-US" sz="1000" b="1" dirty="0">
                <a:solidFill>
                  <a:srgbClr val="8BA3BE"/>
                </a:solidFill>
                <a:latin typeface="Calibri" pitchFamily="34" charset="0"/>
                <a:ea typeface="Calibri" pitchFamily="34" charset="-122"/>
                <a:cs typeface="Calibri" pitchFamily="34" charset="-120"/>
              </a:rPr>
              <a:t>Condition de déclenchement</a:t>
            </a:r>
            <a:endParaRPr lang="en-US" sz="1000" dirty="0"/>
          </a:p>
        </p:txBody>
      </p:sp>
      <p:sp>
        <p:nvSpPr>
          <p:cNvPr id="25" name="Text 23"/>
          <p:cNvSpPr/>
          <p:nvPr/>
        </p:nvSpPr>
        <p:spPr>
          <a:xfrm>
            <a:off x="6281928" y="2075688"/>
            <a:ext cx="5394960" cy="320040"/>
          </a:xfrm>
          <a:prstGeom prst="rect">
            <a:avLst/>
          </a:prstGeom>
          <a:noFill/>
          <a:ln/>
        </p:spPr>
        <p:txBody>
          <a:bodyPr wrap="square" rtlCol="0" anchor="ctr"/>
          <a:lstStyle/>
          <a:p>
            <a:pPr indent="0" marL="0">
              <a:buNone/>
            </a:pPr>
            <a:r>
              <a:rPr lang="en-US" sz="1200" b="1" dirty="0">
                <a:solidFill>
                  <a:srgbClr val="E05C5C"/>
                </a:solidFill>
                <a:latin typeface="Courier New" pitchFamily="34" charset="0"/>
                <a:ea typeface="Courier New" pitchFamily="34" charset="-122"/>
                <a:cs typeface="Courier New" pitchFamily="34" charset="-120"/>
              </a:rPr>
              <a:t>expirationDate  &lt;=  aujourd'hui + 5 jours  &amp;&amp;  stock &gt; 0</a:t>
            </a:r>
            <a:endParaRPr lang="en-US" sz="1200" dirty="0"/>
          </a:p>
        </p:txBody>
      </p:sp>
      <p:sp>
        <p:nvSpPr>
          <p:cNvPr id="26" name="Shape 24"/>
          <p:cNvSpPr/>
          <p:nvPr/>
        </p:nvSpPr>
        <p:spPr>
          <a:xfrm>
            <a:off x="6281928" y="2432304"/>
            <a:ext cx="5394960" cy="18288"/>
          </a:xfrm>
          <a:prstGeom prst="rect">
            <a:avLst/>
          </a:prstGeom>
          <a:solidFill>
            <a:srgbClr val="E05C5C">
              <a:alpha val="30000"/>
            </a:srgbClr>
          </a:solidFill>
          <a:ln w="12700">
            <a:solidFill>
              <a:srgbClr val="E05C5C">
                <a:alpha val="30000"/>
              </a:srgbClr>
            </a:solidFill>
            <a:prstDash val="solid"/>
          </a:ln>
        </p:spPr>
      </p:sp>
      <p:sp>
        <p:nvSpPr>
          <p:cNvPr id="27" name="Text 25"/>
          <p:cNvSpPr/>
          <p:nvPr/>
        </p:nvSpPr>
        <p:spPr>
          <a:xfrm>
            <a:off x="6281928" y="2496312"/>
            <a:ext cx="5394960" cy="274320"/>
          </a:xfrm>
          <a:prstGeom prst="rect">
            <a:avLst/>
          </a:prstGeom>
          <a:noFill/>
          <a:ln/>
        </p:spPr>
        <p:txBody>
          <a:bodyPr wrap="square" rtlCol="0" anchor="ctr"/>
          <a:lstStyle/>
          <a:p>
            <a:pPr indent="0" marL="0">
              <a:buNone/>
            </a:pPr>
            <a:r>
              <a:rPr lang="en-US" sz="1000" b="1" dirty="0">
                <a:solidFill>
                  <a:srgbClr val="8BA3BE"/>
                </a:solidFill>
                <a:latin typeface="Calibri" pitchFamily="34" charset="0"/>
                <a:ea typeface="Calibri" pitchFamily="34" charset="-122"/>
                <a:cs typeface="Calibri" pitchFamily="34" charset="-120"/>
              </a:rPr>
              <a:t>Exemple de message</a:t>
            </a:r>
            <a:endParaRPr lang="en-US" sz="1000" dirty="0"/>
          </a:p>
        </p:txBody>
      </p:sp>
      <p:sp>
        <p:nvSpPr>
          <p:cNvPr id="28" name="Text 26"/>
          <p:cNvSpPr/>
          <p:nvPr/>
        </p:nvSpPr>
        <p:spPr>
          <a:xfrm>
            <a:off x="6281928" y="2788920"/>
            <a:ext cx="5394960" cy="658368"/>
          </a:xfrm>
          <a:prstGeom prst="rect">
            <a:avLst/>
          </a:prstGeom>
          <a:noFill/>
          <a:ln/>
        </p:spPr>
        <p:txBody>
          <a:bodyPr wrap="square" rtlCol="0" anchor="ctr"/>
          <a:lstStyle/>
          <a:p>
            <a:pPr indent="0" marL="0">
              <a:buNone/>
            </a:pPr>
            <a:r>
              <a:rPr lang="en-US" sz="1150" i="1" dirty="0">
                <a:solidFill>
                  <a:srgbClr val="E8EEF6"/>
                </a:solidFill>
                <a:latin typeface="Calibri" pitchFamily="34" charset="0"/>
                <a:ea typeface="Calibri" pitchFamily="34" charset="-122"/>
                <a:cs typeface="Calibri" pitchFamily="34" charset="-120"/>
              </a:rPr>
              <a:t>"Expiration proche pour Lait :</a:t>
            </a:r>
            <a:endParaRPr lang="en-US" sz="1150" dirty="0"/>
          </a:p>
          <a:p>
            <a:pPr indent="0" marL="0">
              <a:buNone/>
            </a:pPr>
            <a:r>
              <a:rPr lang="en-US" sz="1150" i="1" dirty="0">
                <a:solidFill>
                  <a:srgbClr val="E8EEF6"/>
                </a:solidFill>
                <a:latin typeface="Calibri" pitchFamily="34" charset="0"/>
                <a:ea typeface="Calibri" pitchFamily="34" charset="-122"/>
                <a:cs typeface="Calibri" pitchFamily="34" charset="-120"/>
              </a:rPr>
              <a:t>lot à vérifier avant le 2026-05-23."</a:t>
            </a:r>
            <a:endParaRPr lang="en-US" sz="1150" dirty="0"/>
          </a:p>
        </p:txBody>
      </p:sp>
      <p:sp>
        <p:nvSpPr>
          <p:cNvPr id="29" name="Shape 27"/>
          <p:cNvSpPr/>
          <p:nvPr/>
        </p:nvSpPr>
        <p:spPr>
          <a:xfrm>
            <a:off x="6281928" y="3538728"/>
            <a:ext cx="91440" cy="91440"/>
          </a:xfrm>
          <a:prstGeom prst="rect">
            <a:avLst/>
          </a:prstGeom>
          <a:solidFill>
            <a:srgbClr val="E05C5C"/>
          </a:solidFill>
          <a:ln w="12700">
            <a:solidFill>
              <a:srgbClr val="E05C5C"/>
            </a:solidFill>
            <a:prstDash val="solid"/>
          </a:ln>
        </p:spPr>
      </p:sp>
      <p:sp>
        <p:nvSpPr>
          <p:cNvPr id="30" name="Text 28"/>
          <p:cNvSpPr/>
          <p:nvPr/>
        </p:nvSpPr>
        <p:spPr>
          <a:xfrm>
            <a:off x="6464808" y="3502152"/>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Seulement si le produit est encore en stock</a:t>
            </a:r>
            <a:endParaRPr lang="en-US" sz="1200" dirty="0"/>
          </a:p>
        </p:txBody>
      </p:sp>
      <p:sp>
        <p:nvSpPr>
          <p:cNvPr id="31" name="Shape 29"/>
          <p:cNvSpPr/>
          <p:nvPr/>
        </p:nvSpPr>
        <p:spPr>
          <a:xfrm>
            <a:off x="6281928" y="3831336"/>
            <a:ext cx="91440" cy="91440"/>
          </a:xfrm>
          <a:prstGeom prst="rect">
            <a:avLst/>
          </a:prstGeom>
          <a:solidFill>
            <a:srgbClr val="E05C5C"/>
          </a:solidFill>
          <a:ln w="12700">
            <a:solidFill>
              <a:srgbClr val="E05C5C"/>
            </a:solidFill>
            <a:prstDash val="solid"/>
          </a:ln>
        </p:spPr>
      </p:sp>
      <p:sp>
        <p:nvSpPr>
          <p:cNvPr id="32" name="Text 30"/>
          <p:cNvSpPr/>
          <p:nvPr/>
        </p:nvSpPr>
        <p:spPr>
          <a:xfrm>
            <a:off x="6464808" y="3794760"/>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Fenêtre de 5 jours (ALERT_EXPIRY_DAYS)</a:t>
            </a:r>
            <a:endParaRPr lang="en-US" sz="1200" dirty="0"/>
          </a:p>
        </p:txBody>
      </p:sp>
      <p:sp>
        <p:nvSpPr>
          <p:cNvPr id="33" name="Shape 31"/>
          <p:cNvSpPr/>
          <p:nvPr/>
        </p:nvSpPr>
        <p:spPr>
          <a:xfrm>
            <a:off x="6281928" y="4123944"/>
            <a:ext cx="91440" cy="91440"/>
          </a:xfrm>
          <a:prstGeom prst="rect">
            <a:avLst/>
          </a:prstGeom>
          <a:solidFill>
            <a:srgbClr val="E05C5C"/>
          </a:solidFill>
          <a:ln w="12700">
            <a:solidFill>
              <a:srgbClr val="E05C5C"/>
            </a:solidFill>
            <a:prstDash val="solid"/>
          </a:ln>
        </p:spPr>
      </p:sp>
      <p:sp>
        <p:nvSpPr>
          <p:cNvPr id="34" name="Text 32"/>
          <p:cNvSpPr/>
          <p:nvPr/>
        </p:nvSpPr>
        <p:spPr>
          <a:xfrm>
            <a:off x="6464808" y="4087368"/>
            <a:ext cx="5394960" cy="2560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Date affichée en format ISO lisible</a:t>
            </a:r>
            <a:endParaRPr lang="en-US" sz="1200" dirty="0"/>
          </a:p>
        </p:txBody>
      </p:sp>
      <p:sp>
        <p:nvSpPr>
          <p:cNvPr id="35" name="Shape 33"/>
          <p:cNvSpPr/>
          <p:nvPr/>
        </p:nvSpPr>
        <p:spPr>
          <a:xfrm>
            <a:off x="228600" y="4572000"/>
            <a:ext cx="11686032" cy="1719072"/>
          </a:xfrm>
          <a:prstGeom prst="roundRect">
            <a:avLst>
              <a:gd name="adj" fmla="val 3723"/>
            </a:avLst>
          </a:prstGeom>
          <a:solidFill>
            <a:srgbClr val="112236"/>
          </a:solidFill>
          <a:ln w="19050">
            <a:solidFill>
              <a:srgbClr val="00B4D8"/>
            </a:solidFill>
            <a:prstDash val="solid"/>
          </a:ln>
        </p:spPr>
      </p:sp>
      <p:sp>
        <p:nvSpPr>
          <p:cNvPr id="36" name="Shape 34"/>
          <p:cNvSpPr/>
          <p:nvPr/>
        </p:nvSpPr>
        <p:spPr>
          <a:xfrm>
            <a:off x="347472" y="4636008"/>
            <a:ext cx="4114800" cy="256032"/>
          </a:xfrm>
          <a:prstGeom prst="roundRect">
            <a:avLst>
              <a:gd name="adj" fmla="val 21429"/>
            </a:avLst>
          </a:prstGeom>
          <a:solidFill>
            <a:srgbClr val="00B4D8"/>
          </a:solidFill>
          <a:ln w="12700">
            <a:solidFill>
              <a:srgbClr val="00B4D8"/>
            </a:solidFill>
            <a:prstDash val="solid"/>
          </a:ln>
        </p:spPr>
      </p:sp>
      <p:sp>
        <p:nvSpPr>
          <p:cNvPr id="37" name="Text 35"/>
          <p:cNvSpPr/>
          <p:nvPr/>
        </p:nvSpPr>
        <p:spPr>
          <a:xfrm>
            <a:off x="347472" y="4636008"/>
            <a:ext cx="41148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reconcileProductAlerts() — LOGIQUE DE DÉDUPLICATION</a:t>
            </a:r>
            <a:endParaRPr lang="en-US" sz="900" dirty="0"/>
          </a:p>
        </p:txBody>
      </p:sp>
      <p:sp>
        <p:nvSpPr>
          <p:cNvPr id="38" name="Shape 36"/>
          <p:cNvSpPr/>
          <p:nvPr/>
        </p:nvSpPr>
        <p:spPr>
          <a:xfrm>
            <a:off x="347472" y="5047488"/>
            <a:ext cx="109728" cy="109728"/>
          </a:xfrm>
          <a:prstGeom prst="rect">
            <a:avLst/>
          </a:prstGeom>
          <a:solidFill>
            <a:srgbClr val="00B4D8"/>
          </a:solidFill>
          <a:ln w="12700">
            <a:solidFill>
              <a:srgbClr val="00B4D8"/>
            </a:solidFill>
            <a:prstDash val="solid"/>
          </a:ln>
        </p:spPr>
      </p:sp>
      <p:sp>
        <p:nvSpPr>
          <p:cNvPr id="39" name="Text 37"/>
          <p:cNvSpPr/>
          <p:nvPr/>
        </p:nvSpPr>
        <p:spPr>
          <a:xfrm>
            <a:off x="548640" y="5020056"/>
            <a:ext cx="11247120" cy="25603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 la condition est FAUSSE  →  supprimer toute alerte existante de ce type</a:t>
            </a:r>
            <a:endParaRPr lang="en-US" sz="1250" dirty="0"/>
          </a:p>
        </p:txBody>
      </p:sp>
      <p:sp>
        <p:nvSpPr>
          <p:cNvPr id="40" name="Shape 38"/>
          <p:cNvSpPr/>
          <p:nvPr/>
        </p:nvSpPr>
        <p:spPr>
          <a:xfrm>
            <a:off x="347472" y="5349240"/>
            <a:ext cx="109728" cy="109728"/>
          </a:xfrm>
          <a:prstGeom prst="rect">
            <a:avLst/>
          </a:prstGeom>
          <a:solidFill>
            <a:srgbClr val="00B4D8"/>
          </a:solidFill>
          <a:ln w="12700">
            <a:solidFill>
              <a:srgbClr val="00B4D8"/>
            </a:solidFill>
            <a:prstDash val="solid"/>
          </a:ln>
        </p:spPr>
      </p:sp>
      <p:sp>
        <p:nvSpPr>
          <p:cNvPr id="41" name="Text 39"/>
          <p:cNvSpPr/>
          <p:nvPr/>
        </p:nvSpPr>
        <p:spPr>
          <a:xfrm>
            <a:off x="548640" y="5321808"/>
            <a:ext cx="11247120" cy="25603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 condition VRAIE et aucune alerte existante  →  créer une nouvelle alerte</a:t>
            </a:r>
            <a:endParaRPr lang="en-US" sz="1250" dirty="0"/>
          </a:p>
        </p:txBody>
      </p:sp>
      <p:sp>
        <p:nvSpPr>
          <p:cNvPr id="42" name="Shape 40"/>
          <p:cNvSpPr/>
          <p:nvPr/>
        </p:nvSpPr>
        <p:spPr>
          <a:xfrm>
            <a:off x="347472" y="5650992"/>
            <a:ext cx="109728" cy="109728"/>
          </a:xfrm>
          <a:prstGeom prst="rect">
            <a:avLst/>
          </a:prstGeom>
          <a:solidFill>
            <a:srgbClr val="00B4D8"/>
          </a:solidFill>
          <a:ln w="12700">
            <a:solidFill>
              <a:srgbClr val="00B4D8"/>
            </a:solidFill>
            <a:prstDash val="solid"/>
          </a:ln>
        </p:spPr>
      </p:sp>
      <p:sp>
        <p:nvSpPr>
          <p:cNvPr id="43" name="Text 41"/>
          <p:cNvSpPr/>
          <p:nvPr/>
        </p:nvSpPr>
        <p:spPr>
          <a:xfrm>
            <a:off x="548640" y="5623560"/>
            <a:ext cx="11247120" cy="25603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 condition VRAIE et message changé  →  mettre à jour + réinitialiser isRead=false + effacer emailSentAt</a:t>
            </a:r>
            <a:endParaRPr lang="en-US" sz="1250" dirty="0"/>
          </a:p>
        </p:txBody>
      </p:sp>
      <p:sp>
        <p:nvSpPr>
          <p:cNvPr id="44" name="Shape 42"/>
          <p:cNvSpPr/>
          <p:nvPr/>
        </p:nvSpPr>
        <p:spPr>
          <a:xfrm>
            <a:off x="347472" y="5952744"/>
            <a:ext cx="109728" cy="109728"/>
          </a:xfrm>
          <a:prstGeom prst="rect">
            <a:avLst/>
          </a:prstGeom>
          <a:solidFill>
            <a:srgbClr val="00B4D8"/>
          </a:solidFill>
          <a:ln w="12700">
            <a:solidFill>
              <a:srgbClr val="00B4D8"/>
            </a:solidFill>
            <a:prstDash val="solid"/>
          </a:ln>
        </p:spPr>
      </p:sp>
      <p:sp>
        <p:nvSpPr>
          <p:cNvPr id="45" name="Text 43"/>
          <p:cNvSpPr/>
          <p:nvPr/>
        </p:nvSpPr>
        <p:spPr>
          <a:xfrm>
            <a:off x="548640" y="5925312"/>
            <a:ext cx="11247120" cy="25603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 doublons (condition de course)  →  conserver le premier, supprimer les autres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7B68EE"/>
          </a:solidFill>
          <a:ln w="12700">
            <a:solidFill>
              <a:srgbClr val="7B68EE"/>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7B68EE"/>
                </a:solidFill>
                <a:latin typeface="Calibri" pitchFamily="34" charset="0"/>
                <a:ea typeface="Calibri" pitchFamily="34" charset="-122"/>
                <a:cs typeface="Calibri" pitchFamily="34" charset="-120"/>
              </a:rPr>
              <a:t>FLUX DE DONNÉES</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Ce qui se passe quand une vente est finalisée</a:t>
            </a:r>
            <a:endParaRPr lang="en-US" sz="2600" dirty="0"/>
          </a:p>
        </p:txBody>
      </p:sp>
      <p:sp>
        <p:nvSpPr>
          <p:cNvPr id="5" name="Shape 3"/>
          <p:cNvSpPr/>
          <p:nvPr/>
        </p:nvSpPr>
        <p:spPr>
          <a:xfrm>
            <a:off x="228600" y="1216152"/>
            <a:ext cx="11704320" cy="22860"/>
          </a:xfrm>
          <a:prstGeom prst="rect">
            <a:avLst/>
          </a:prstGeom>
          <a:solidFill>
            <a:srgbClr val="7B68EE"/>
          </a:solidFill>
          <a:ln w="12700">
            <a:solidFill>
              <a:srgbClr val="7B68EE"/>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7 / 12</a:t>
            </a:r>
            <a:endParaRPr lang="en-US" sz="900" dirty="0"/>
          </a:p>
        </p:txBody>
      </p:sp>
      <p:sp>
        <p:nvSpPr>
          <p:cNvPr id="7" name="Shape 5"/>
          <p:cNvSpPr/>
          <p:nvPr/>
        </p:nvSpPr>
        <p:spPr>
          <a:xfrm>
            <a:off x="228600" y="1353312"/>
            <a:ext cx="3566160" cy="1874520"/>
          </a:xfrm>
          <a:prstGeom prst="roundRect">
            <a:avLst>
              <a:gd name="adj" fmla="val 3415"/>
            </a:avLst>
          </a:prstGeom>
          <a:solidFill>
            <a:srgbClr val="112236"/>
          </a:solidFill>
          <a:ln w="19050">
            <a:solidFill>
              <a:srgbClr val="4A90D9"/>
            </a:solidFill>
            <a:prstDash val="solid"/>
          </a:ln>
        </p:spPr>
      </p:sp>
      <p:sp>
        <p:nvSpPr>
          <p:cNvPr id="8" name="Shape 6"/>
          <p:cNvSpPr/>
          <p:nvPr/>
        </p:nvSpPr>
        <p:spPr>
          <a:xfrm>
            <a:off x="365760" y="1490472"/>
            <a:ext cx="411480" cy="411480"/>
          </a:xfrm>
          <a:prstGeom prst="ellipse">
            <a:avLst/>
          </a:prstGeom>
          <a:solidFill>
            <a:srgbClr val="4A90D9"/>
          </a:solidFill>
          <a:ln w="12700">
            <a:solidFill>
              <a:srgbClr val="4A90D9"/>
            </a:solidFill>
            <a:prstDash val="solid"/>
          </a:ln>
        </p:spPr>
      </p:sp>
      <p:sp>
        <p:nvSpPr>
          <p:cNvPr id="9" name="Text 7"/>
          <p:cNvSpPr/>
          <p:nvPr/>
        </p:nvSpPr>
        <p:spPr>
          <a:xfrm>
            <a:off x="365760" y="1490472"/>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868680" y="1517904"/>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Vente COMPLÉTÉE</a:t>
            </a:r>
            <a:endParaRPr lang="en-US" sz="1300" dirty="0"/>
          </a:p>
        </p:txBody>
      </p:sp>
      <p:sp>
        <p:nvSpPr>
          <p:cNvPr id="11" name="Shape 9"/>
          <p:cNvSpPr/>
          <p:nvPr/>
        </p:nvSpPr>
        <p:spPr>
          <a:xfrm>
            <a:off x="365760" y="1965960"/>
            <a:ext cx="3291840" cy="18288"/>
          </a:xfrm>
          <a:prstGeom prst="rect">
            <a:avLst/>
          </a:prstGeom>
          <a:solidFill>
            <a:srgbClr val="4A90D9">
              <a:alpha val="35000"/>
            </a:srgbClr>
          </a:solidFill>
          <a:ln w="12700">
            <a:solidFill>
              <a:srgbClr val="4A90D9">
                <a:alpha val="35000"/>
              </a:srgbClr>
            </a:solidFill>
            <a:prstDash val="solid"/>
          </a:ln>
        </p:spPr>
      </p:sp>
      <p:sp>
        <p:nvSpPr>
          <p:cNvPr id="12" name="Text 10"/>
          <p:cNvSpPr/>
          <p:nvPr/>
        </p:nvSpPr>
        <p:spPr>
          <a:xfrm>
            <a:off x="365760" y="2066544"/>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SaleService passe la vente à COMPLETED</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Déduit la quantité de Product.currentStock</a:t>
            </a:r>
            <a:endParaRPr lang="en-US" sz="1200" dirty="0"/>
          </a:p>
        </p:txBody>
      </p:sp>
      <p:sp>
        <p:nvSpPr>
          <p:cNvPr id="13" name="Shape 11"/>
          <p:cNvSpPr/>
          <p:nvPr/>
        </p:nvSpPr>
        <p:spPr>
          <a:xfrm>
            <a:off x="3813048" y="2267712"/>
            <a:ext cx="201168" cy="45720"/>
          </a:xfrm>
          <a:prstGeom prst="rect">
            <a:avLst/>
          </a:prstGeom>
          <a:solidFill>
            <a:srgbClr val="5B7A99"/>
          </a:solidFill>
          <a:ln w="12700">
            <a:solidFill>
              <a:srgbClr val="5B7A99"/>
            </a:solidFill>
            <a:prstDash val="solid"/>
          </a:ln>
        </p:spPr>
      </p:sp>
      <p:sp>
        <p:nvSpPr>
          <p:cNvPr id="14" name="Text 12"/>
          <p:cNvSpPr/>
          <p:nvPr/>
        </p:nvSpPr>
        <p:spPr>
          <a:xfrm>
            <a:off x="3931920" y="2144268"/>
            <a:ext cx="182880" cy="27432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050792" y="1353312"/>
            <a:ext cx="3566160" cy="1874520"/>
          </a:xfrm>
          <a:prstGeom prst="roundRect">
            <a:avLst>
              <a:gd name="adj" fmla="val 3415"/>
            </a:avLst>
          </a:prstGeom>
          <a:solidFill>
            <a:srgbClr val="112236"/>
          </a:solidFill>
          <a:ln w="19050">
            <a:solidFill>
              <a:srgbClr val="00B4D8"/>
            </a:solidFill>
            <a:prstDash val="solid"/>
          </a:ln>
        </p:spPr>
      </p:sp>
      <p:sp>
        <p:nvSpPr>
          <p:cNvPr id="16" name="Shape 14"/>
          <p:cNvSpPr/>
          <p:nvPr/>
        </p:nvSpPr>
        <p:spPr>
          <a:xfrm>
            <a:off x="4187952" y="1490472"/>
            <a:ext cx="411480" cy="411480"/>
          </a:xfrm>
          <a:prstGeom prst="ellipse">
            <a:avLst/>
          </a:prstGeom>
          <a:solidFill>
            <a:srgbClr val="00B4D8"/>
          </a:solidFill>
          <a:ln w="12700">
            <a:solidFill>
              <a:srgbClr val="00B4D8"/>
            </a:solidFill>
            <a:prstDash val="solid"/>
          </a:ln>
        </p:spPr>
      </p:sp>
      <p:sp>
        <p:nvSpPr>
          <p:cNvPr id="17" name="Text 15"/>
          <p:cNvSpPr/>
          <p:nvPr/>
        </p:nvSpPr>
        <p:spPr>
          <a:xfrm>
            <a:off x="4187952" y="1490472"/>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8" name="Text 16"/>
          <p:cNvSpPr/>
          <p:nvPr/>
        </p:nvSpPr>
        <p:spPr>
          <a:xfrm>
            <a:off x="4690872" y="1517904"/>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Mouvement de stock</a:t>
            </a:r>
            <a:endParaRPr lang="en-US" sz="1300" dirty="0"/>
          </a:p>
        </p:txBody>
      </p:sp>
      <p:sp>
        <p:nvSpPr>
          <p:cNvPr id="19" name="Shape 17"/>
          <p:cNvSpPr/>
          <p:nvPr/>
        </p:nvSpPr>
        <p:spPr>
          <a:xfrm>
            <a:off x="4187952" y="1965960"/>
            <a:ext cx="3291840" cy="18288"/>
          </a:xfrm>
          <a:prstGeom prst="rect">
            <a:avLst/>
          </a:prstGeom>
          <a:solidFill>
            <a:srgbClr val="00B4D8">
              <a:alpha val="35000"/>
            </a:srgbClr>
          </a:solidFill>
          <a:ln w="12700">
            <a:solidFill>
              <a:srgbClr val="00B4D8">
                <a:alpha val="35000"/>
              </a:srgbClr>
            </a:solidFill>
            <a:prstDash val="solid"/>
          </a:ln>
        </p:spPr>
      </p:sp>
      <p:sp>
        <p:nvSpPr>
          <p:cNvPr id="20" name="Text 18"/>
          <p:cNvSpPr/>
          <p:nvPr/>
        </p:nvSpPr>
        <p:spPr>
          <a:xfrm>
            <a:off x="4187952" y="2066544"/>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Création d'un StockMovement</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type=OUT, qtyDelta=−qté, motif=SALE</a:t>
            </a:r>
            <a:endParaRPr lang="en-US" sz="1200" dirty="0"/>
          </a:p>
        </p:txBody>
      </p:sp>
      <p:sp>
        <p:nvSpPr>
          <p:cNvPr id="21" name="Shape 19"/>
          <p:cNvSpPr/>
          <p:nvPr/>
        </p:nvSpPr>
        <p:spPr>
          <a:xfrm>
            <a:off x="7635240" y="2267712"/>
            <a:ext cx="201168" cy="45720"/>
          </a:xfrm>
          <a:prstGeom prst="rect">
            <a:avLst/>
          </a:prstGeom>
          <a:solidFill>
            <a:srgbClr val="5B7A99"/>
          </a:solidFill>
          <a:ln w="12700">
            <a:solidFill>
              <a:srgbClr val="5B7A99"/>
            </a:solidFill>
            <a:prstDash val="solid"/>
          </a:ln>
        </p:spPr>
      </p:sp>
      <p:sp>
        <p:nvSpPr>
          <p:cNvPr id="22" name="Text 20"/>
          <p:cNvSpPr/>
          <p:nvPr/>
        </p:nvSpPr>
        <p:spPr>
          <a:xfrm>
            <a:off x="7754112" y="2144268"/>
            <a:ext cx="182880" cy="27432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7872984" y="1353312"/>
            <a:ext cx="3566160" cy="1874520"/>
          </a:xfrm>
          <a:prstGeom prst="roundRect">
            <a:avLst>
              <a:gd name="adj" fmla="val 3415"/>
            </a:avLst>
          </a:prstGeom>
          <a:solidFill>
            <a:srgbClr val="112236"/>
          </a:solidFill>
          <a:ln w="19050">
            <a:solidFill>
              <a:srgbClr val="F0A500"/>
            </a:solidFill>
            <a:prstDash val="solid"/>
          </a:ln>
        </p:spPr>
      </p:sp>
      <p:sp>
        <p:nvSpPr>
          <p:cNvPr id="24" name="Shape 22"/>
          <p:cNvSpPr/>
          <p:nvPr/>
        </p:nvSpPr>
        <p:spPr>
          <a:xfrm>
            <a:off x="8010144" y="1490472"/>
            <a:ext cx="411480" cy="411480"/>
          </a:xfrm>
          <a:prstGeom prst="ellipse">
            <a:avLst/>
          </a:prstGeom>
          <a:solidFill>
            <a:srgbClr val="F0A500"/>
          </a:solidFill>
          <a:ln w="12700">
            <a:solidFill>
              <a:srgbClr val="F0A500"/>
            </a:solidFill>
            <a:prstDash val="solid"/>
          </a:ln>
        </p:spPr>
      </p:sp>
      <p:sp>
        <p:nvSpPr>
          <p:cNvPr id="25" name="Text 23"/>
          <p:cNvSpPr/>
          <p:nvPr/>
        </p:nvSpPr>
        <p:spPr>
          <a:xfrm>
            <a:off x="8010144" y="1490472"/>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8513064" y="1517904"/>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Vérification du seuil</a:t>
            </a:r>
            <a:endParaRPr lang="en-US" sz="1300" dirty="0"/>
          </a:p>
        </p:txBody>
      </p:sp>
      <p:sp>
        <p:nvSpPr>
          <p:cNvPr id="27" name="Shape 25"/>
          <p:cNvSpPr/>
          <p:nvPr/>
        </p:nvSpPr>
        <p:spPr>
          <a:xfrm>
            <a:off x="8010144" y="1965960"/>
            <a:ext cx="3291840" cy="18288"/>
          </a:xfrm>
          <a:prstGeom prst="rect">
            <a:avLst/>
          </a:prstGeom>
          <a:solidFill>
            <a:srgbClr val="F0A500">
              <a:alpha val="35000"/>
            </a:srgbClr>
          </a:solidFill>
          <a:ln w="12700">
            <a:solidFill>
              <a:srgbClr val="F0A500">
                <a:alpha val="35000"/>
              </a:srgbClr>
            </a:solidFill>
            <a:prstDash val="solid"/>
          </a:ln>
        </p:spPr>
      </p:sp>
      <p:sp>
        <p:nvSpPr>
          <p:cNvPr id="28" name="Text 26"/>
          <p:cNvSpPr/>
          <p:nvPr/>
        </p:nvSpPr>
        <p:spPr>
          <a:xfrm>
            <a:off x="8010144" y="2066544"/>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alertsPort.syncProductAlerts(tx, produit)</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buildDesiredAlerts() évalue LOW_STOCK + EXPIRY</a:t>
            </a:r>
            <a:endParaRPr lang="en-US" sz="1200" dirty="0"/>
          </a:p>
        </p:txBody>
      </p:sp>
      <p:sp>
        <p:nvSpPr>
          <p:cNvPr id="29" name="Shape 27"/>
          <p:cNvSpPr/>
          <p:nvPr/>
        </p:nvSpPr>
        <p:spPr>
          <a:xfrm>
            <a:off x="228600" y="3429000"/>
            <a:ext cx="3566160" cy="1874520"/>
          </a:xfrm>
          <a:prstGeom prst="roundRect">
            <a:avLst>
              <a:gd name="adj" fmla="val 3415"/>
            </a:avLst>
          </a:prstGeom>
          <a:solidFill>
            <a:srgbClr val="112236"/>
          </a:solidFill>
          <a:ln w="19050">
            <a:solidFill>
              <a:srgbClr val="E05C5C"/>
            </a:solidFill>
            <a:prstDash val="solid"/>
          </a:ln>
        </p:spPr>
      </p:sp>
      <p:sp>
        <p:nvSpPr>
          <p:cNvPr id="30" name="Shape 28"/>
          <p:cNvSpPr/>
          <p:nvPr/>
        </p:nvSpPr>
        <p:spPr>
          <a:xfrm>
            <a:off x="365760" y="3566160"/>
            <a:ext cx="411480" cy="411480"/>
          </a:xfrm>
          <a:prstGeom prst="ellipse">
            <a:avLst/>
          </a:prstGeom>
          <a:solidFill>
            <a:srgbClr val="E05C5C"/>
          </a:solidFill>
          <a:ln w="12700">
            <a:solidFill>
              <a:srgbClr val="E05C5C"/>
            </a:solidFill>
            <a:prstDash val="solid"/>
          </a:ln>
        </p:spPr>
      </p:sp>
      <p:sp>
        <p:nvSpPr>
          <p:cNvPr id="31" name="Text 29"/>
          <p:cNvSpPr/>
          <p:nvPr/>
        </p:nvSpPr>
        <p:spPr>
          <a:xfrm>
            <a:off x="365760" y="3566160"/>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868680" y="3593592"/>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Alerte réconciliée</a:t>
            </a:r>
            <a:endParaRPr lang="en-US" sz="1300" dirty="0"/>
          </a:p>
        </p:txBody>
      </p:sp>
      <p:sp>
        <p:nvSpPr>
          <p:cNvPr id="33" name="Shape 31"/>
          <p:cNvSpPr/>
          <p:nvPr/>
        </p:nvSpPr>
        <p:spPr>
          <a:xfrm>
            <a:off x="365760" y="4041648"/>
            <a:ext cx="3291840" cy="18288"/>
          </a:xfrm>
          <a:prstGeom prst="rect">
            <a:avLst/>
          </a:prstGeom>
          <a:solidFill>
            <a:srgbClr val="E05C5C">
              <a:alpha val="35000"/>
            </a:srgbClr>
          </a:solidFill>
          <a:ln w="12700">
            <a:solidFill>
              <a:srgbClr val="E05C5C">
                <a:alpha val="35000"/>
              </a:srgbClr>
            </a:solidFill>
            <a:prstDash val="solid"/>
          </a:ln>
        </p:spPr>
      </p:sp>
      <p:sp>
        <p:nvSpPr>
          <p:cNvPr id="34" name="Text 32"/>
          <p:cNvSpPr/>
          <p:nvPr/>
        </p:nvSpPr>
        <p:spPr>
          <a:xfrm>
            <a:off x="365760" y="4142232"/>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Alerte créée/mise à jour/supprimée en DB</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Dans la même transaction — atomique</a:t>
            </a:r>
            <a:endParaRPr lang="en-US" sz="1200" dirty="0"/>
          </a:p>
        </p:txBody>
      </p:sp>
      <p:sp>
        <p:nvSpPr>
          <p:cNvPr id="35" name="Shape 33"/>
          <p:cNvSpPr/>
          <p:nvPr/>
        </p:nvSpPr>
        <p:spPr>
          <a:xfrm>
            <a:off x="3813048" y="4343400"/>
            <a:ext cx="201168" cy="45720"/>
          </a:xfrm>
          <a:prstGeom prst="rect">
            <a:avLst/>
          </a:prstGeom>
          <a:solidFill>
            <a:srgbClr val="5B7A99"/>
          </a:solidFill>
          <a:ln w="12700">
            <a:solidFill>
              <a:srgbClr val="5B7A99"/>
            </a:solidFill>
            <a:prstDash val="solid"/>
          </a:ln>
        </p:spPr>
      </p:sp>
      <p:sp>
        <p:nvSpPr>
          <p:cNvPr id="36" name="Text 34"/>
          <p:cNvSpPr/>
          <p:nvPr/>
        </p:nvSpPr>
        <p:spPr>
          <a:xfrm>
            <a:off x="3931920" y="4219956"/>
            <a:ext cx="182880" cy="27432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t>
            </a:r>
            <a:endParaRPr lang="en-US" sz="1800" dirty="0"/>
          </a:p>
        </p:txBody>
      </p:sp>
      <p:sp>
        <p:nvSpPr>
          <p:cNvPr id="37" name="Shape 35"/>
          <p:cNvSpPr/>
          <p:nvPr/>
        </p:nvSpPr>
        <p:spPr>
          <a:xfrm>
            <a:off x="4050792" y="3429000"/>
            <a:ext cx="3566160" cy="1874520"/>
          </a:xfrm>
          <a:prstGeom prst="roundRect">
            <a:avLst>
              <a:gd name="adj" fmla="val 3415"/>
            </a:avLst>
          </a:prstGeom>
          <a:solidFill>
            <a:srgbClr val="112236"/>
          </a:solidFill>
          <a:ln w="19050">
            <a:solidFill>
              <a:srgbClr val="7B68EE"/>
            </a:solidFill>
            <a:prstDash val="solid"/>
          </a:ln>
        </p:spPr>
      </p:sp>
      <p:sp>
        <p:nvSpPr>
          <p:cNvPr id="38" name="Shape 36"/>
          <p:cNvSpPr/>
          <p:nvPr/>
        </p:nvSpPr>
        <p:spPr>
          <a:xfrm>
            <a:off x="4187952" y="3566160"/>
            <a:ext cx="411480" cy="411480"/>
          </a:xfrm>
          <a:prstGeom prst="ellipse">
            <a:avLst/>
          </a:prstGeom>
          <a:solidFill>
            <a:srgbClr val="7B68EE"/>
          </a:solidFill>
          <a:ln w="12700">
            <a:solidFill>
              <a:srgbClr val="7B68EE"/>
            </a:solidFill>
            <a:prstDash val="solid"/>
          </a:ln>
        </p:spPr>
      </p:sp>
      <p:sp>
        <p:nvSpPr>
          <p:cNvPr id="39" name="Text 37"/>
          <p:cNvSpPr/>
          <p:nvPr/>
        </p:nvSpPr>
        <p:spPr>
          <a:xfrm>
            <a:off x="4187952" y="3566160"/>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40" name="Text 38"/>
          <p:cNvSpPr/>
          <p:nvPr/>
        </p:nvSpPr>
        <p:spPr>
          <a:xfrm>
            <a:off x="4690872" y="3593592"/>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Cron prend en charge</a:t>
            </a:r>
            <a:endParaRPr lang="en-US" sz="1300" dirty="0"/>
          </a:p>
        </p:txBody>
      </p:sp>
      <p:sp>
        <p:nvSpPr>
          <p:cNvPr id="41" name="Shape 39"/>
          <p:cNvSpPr/>
          <p:nvPr/>
        </p:nvSpPr>
        <p:spPr>
          <a:xfrm>
            <a:off x="4187952" y="4041648"/>
            <a:ext cx="3291840" cy="18288"/>
          </a:xfrm>
          <a:prstGeom prst="rect">
            <a:avLst/>
          </a:prstGeom>
          <a:solidFill>
            <a:srgbClr val="7B68EE">
              <a:alpha val="35000"/>
            </a:srgbClr>
          </a:solidFill>
          <a:ln w="12700">
            <a:solidFill>
              <a:srgbClr val="7B68EE">
                <a:alpha val="35000"/>
              </a:srgbClr>
            </a:solidFill>
            <a:prstDash val="solid"/>
          </a:ln>
        </p:spPr>
      </p:sp>
      <p:sp>
        <p:nvSpPr>
          <p:cNvPr id="42" name="Text 40"/>
          <p:cNvSpPr/>
          <p:nvPr/>
        </p:nvSpPr>
        <p:spPr>
          <a:xfrm>
            <a:off x="4187952" y="4142232"/>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Toutes les 15 min : alertes non envoyées → e-mail</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Destinataires : rôle OWNER du magasin</a:t>
            </a:r>
            <a:endParaRPr lang="en-US" sz="1200" dirty="0"/>
          </a:p>
        </p:txBody>
      </p:sp>
      <p:sp>
        <p:nvSpPr>
          <p:cNvPr id="43" name="Shape 41"/>
          <p:cNvSpPr/>
          <p:nvPr/>
        </p:nvSpPr>
        <p:spPr>
          <a:xfrm>
            <a:off x="7635240" y="4343400"/>
            <a:ext cx="201168" cy="45720"/>
          </a:xfrm>
          <a:prstGeom prst="rect">
            <a:avLst/>
          </a:prstGeom>
          <a:solidFill>
            <a:srgbClr val="5B7A99"/>
          </a:solidFill>
          <a:ln w="12700">
            <a:solidFill>
              <a:srgbClr val="5B7A99"/>
            </a:solidFill>
            <a:prstDash val="solid"/>
          </a:ln>
        </p:spPr>
      </p:sp>
      <p:sp>
        <p:nvSpPr>
          <p:cNvPr id="44" name="Text 42"/>
          <p:cNvSpPr/>
          <p:nvPr/>
        </p:nvSpPr>
        <p:spPr>
          <a:xfrm>
            <a:off x="7754112" y="4219956"/>
            <a:ext cx="182880" cy="27432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t>
            </a:r>
            <a:endParaRPr lang="en-US" sz="1800" dirty="0"/>
          </a:p>
        </p:txBody>
      </p:sp>
      <p:sp>
        <p:nvSpPr>
          <p:cNvPr id="45" name="Shape 43"/>
          <p:cNvSpPr/>
          <p:nvPr/>
        </p:nvSpPr>
        <p:spPr>
          <a:xfrm>
            <a:off x="7872984" y="3429000"/>
            <a:ext cx="3566160" cy="1874520"/>
          </a:xfrm>
          <a:prstGeom prst="roundRect">
            <a:avLst>
              <a:gd name="adj" fmla="val 3415"/>
            </a:avLst>
          </a:prstGeom>
          <a:solidFill>
            <a:srgbClr val="112236"/>
          </a:solidFill>
          <a:ln w="19050">
            <a:solidFill>
              <a:srgbClr val="3CB879"/>
            </a:solidFill>
            <a:prstDash val="solid"/>
          </a:ln>
        </p:spPr>
      </p:sp>
      <p:sp>
        <p:nvSpPr>
          <p:cNvPr id="46" name="Shape 44"/>
          <p:cNvSpPr/>
          <p:nvPr/>
        </p:nvSpPr>
        <p:spPr>
          <a:xfrm>
            <a:off x="8010144" y="3566160"/>
            <a:ext cx="411480" cy="411480"/>
          </a:xfrm>
          <a:prstGeom prst="ellipse">
            <a:avLst/>
          </a:prstGeom>
          <a:solidFill>
            <a:srgbClr val="3CB879"/>
          </a:solidFill>
          <a:ln w="12700">
            <a:solidFill>
              <a:srgbClr val="3CB879"/>
            </a:solidFill>
            <a:prstDash val="solid"/>
          </a:ln>
        </p:spPr>
      </p:sp>
      <p:sp>
        <p:nvSpPr>
          <p:cNvPr id="47" name="Text 45"/>
          <p:cNvSpPr/>
          <p:nvPr/>
        </p:nvSpPr>
        <p:spPr>
          <a:xfrm>
            <a:off x="8010144" y="3566160"/>
            <a:ext cx="411480" cy="411480"/>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6</a:t>
            </a:r>
            <a:endParaRPr lang="en-US" sz="1400" dirty="0"/>
          </a:p>
        </p:txBody>
      </p:sp>
      <p:sp>
        <p:nvSpPr>
          <p:cNvPr id="48" name="Text 46"/>
          <p:cNvSpPr/>
          <p:nvPr/>
        </p:nvSpPr>
        <p:spPr>
          <a:xfrm>
            <a:off x="8513064" y="3593592"/>
            <a:ext cx="27889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 patron est notifié</a:t>
            </a:r>
            <a:endParaRPr lang="en-US" sz="1300" dirty="0"/>
          </a:p>
        </p:txBody>
      </p:sp>
      <p:sp>
        <p:nvSpPr>
          <p:cNvPr id="49" name="Shape 47"/>
          <p:cNvSpPr/>
          <p:nvPr/>
        </p:nvSpPr>
        <p:spPr>
          <a:xfrm>
            <a:off x="8010144" y="4041648"/>
            <a:ext cx="3291840" cy="18288"/>
          </a:xfrm>
          <a:prstGeom prst="rect">
            <a:avLst/>
          </a:prstGeom>
          <a:solidFill>
            <a:srgbClr val="3CB879">
              <a:alpha val="35000"/>
            </a:srgbClr>
          </a:solidFill>
          <a:ln w="12700">
            <a:solidFill>
              <a:srgbClr val="3CB879">
                <a:alpha val="35000"/>
              </a:srgbClr>
            </a:solidFill>
            <a:prstDash val="solid"/>
          </a:ln>
        </p:spPr>
      </p:sp>
      <p:sp>
        <p:nvSpPr>
          <p:cNvPr id="50" name="Text 48"/>
          <p:cNvSpPr/>
          <p:nvPr/>
        </p:nvSpPr>
        <p:spPr>
          <a:xfrm>
            <a:off x="8010144" y="4142232"/>
            <a:ext cx="3291840" cy="100584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Badge dashboard mis à jour (poll 30 s)</a:t>
            </a:r>
            <a:endParaRPr lang="en-US" sz="1200" dirty="0"/>
          </a:p>
          <a:p>
            <a:pPr indent="0" marL="0">
              <a:buNone/>
            </a:pPr>
            <a:r>
              <a:rPr lang="en-US" sz="1200" dirty="0">
                <a:solidFill>
                  <a:srgbClr val="E8EEF6"/>
                </a:solidFill>
                <a:latin typeface="Calibri" pitchFamily="34" charset="0"/>
                <a:ea typeface="Calibri" pitchFamily="34" charset="-122"/>
                <a:cs typeface="Calibri" pitchFamily="34" charset="-120"/>
              </a:rPr>
              <a:t>Menu déroulant : top 5 alertes avec compteur</a:t>
            </a:r>
            <a:endParaRPr lang="en-US" sz="1200" dirty="0"/>
          </a:p>
        </p:txBody>
      </p:sp>
      <p:sp>
        <p:nvSpPr>
          <p:cNvPr id="51" name="Text 49"/>
          <p:cNvSpPr/>
          <p:nvPr/>
        </p:nvSpPr>
        <p:spPr>
          <a:xfrm rot="5400000">
            <a:off x="11750040" y="2423160"/>
            <a:ext cx="228600" cy="36576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t>
            </a:r>
            <a:endParaRPr lang="en-US" sz="1800" dirty="0"/>
          </a:p>
        </p:txBody>
      </p:sp>
      <p:sp>
        <p:nvSpPr>
          <p:cNvPr id="52" name="Text 50"/>
          <p:cNvSpPr/>
          <p:nvPr/>
        </p:nvSpPr>
        <p:spPr>
          <a:xfrm>
            <a:off x="11521440" y="2852928"/>
            <a:ext cx="594360" cy="274320"/>
          </a:xfrm>
          <a:prstGeom prst="rect">
            <a:avLst/>
          </a:prstGeom>
          <a:noFill/>
          <a:ln/>
        </p:spPr>
        <p:txBody>
          <a:bodyPr wrap="square" rtlCol="0" anchor="ctr"/>
          <a:lstStyle/>
          <a:p>
            <a:pPr algn="ctr" indent="0" marL="0">
              <a:buNone/>
            </a:pPr>
            <a:r>
              <a:rPr lang="en-US" sz="1000" dirty="0">
                <a:solidFill>
                  <a:srgbClr val="8BA3BE"/>
                </a:solidFill>
                <a:latin typeface="Calibri" pitchFamily="34" charset="0"/>
                <a:ea typeface="Calibri" pitchFamily="34" charset="-122"/>
                <a:cs typeface="Calibri" pitchFamily="34" charset="-120"/>
              </a:rPr>
              <a:t>suite</a:t>
            </a:r>
            <a:endParaRPr lang="en-US" sz="1000" dirty="0"/>
          </a:p>
        </p:txBody>
      </p:sp>
      <p:sp>
        <p:nvSpPr>
          <p:cNvPr id="53" name="Shape 51"/>
          <p:cNvSpPr/>
          <p:nvPr/>
        </p:nvSpPr>
        <p:spPr>
          <a:xfrm>
            <a:off x="228600" y="5486400"/>
            <a:ext cx="11686032" cy="475488"/>
          </a:xfrm>
          <a:prstGeom prst="roundRect">
            <a:avLst>
              <a:gd name="adj" fmla="val 13462"/>
            </a:avLst>
          </a:prstGeom>
          <a:solidFill>
            <a:srgbClr val="0A1A0A"/>
          </a:solidFill>
          <a:ln w="19050">
            <a:solidFill>
              <a:srgbClr val="3CB879"/>
            </a:solidFill>
            <a:prstDash val="solid"/>
          </a:ln>
        </p:spPr>
      </p:sp>
      <p:sp>
        <p:nvSpPr>
          <p:cNvPr id="54" name="Text 52"/>
          <p:cNvSpPr/>
          <p:nvPr/>
        </p:nvSpPr>
        <p:spPr>
          <a:xfrm>
            <a:off x="384048" y="5577840"/>
            <a:ext cx="11338560" cy="292608"/>
          </a:xfrm>
          <a:prstGeom prst="rect">
            <a:avLst/>
          </a:prstGeom>
          <a:noFill/>
          <a:ln/>
        </p:spPr>
        <p:txBody>
          <a:bodyPr wrap="square" rtlCol="0" anchor="ctr"/>
          <a:lstStyle/>
          <a:p>
            <a:pPr indent="0" marL="0">
              <a:buNone/>
            </a:pPr>
            <a:r>
              <a:rPr lang="en-US" sz="1200" i="1" dirty="0">
                <a:solidFill>
                  <a:srgbClr val="3CB879"/>
                </a:solidFill>
                <a:latin typeface="Calibri" pitchFamily="34" charset="0"/>
                <a:ea typeface="Calibri" pitchFamily="34" charset="-122"/>
                <a:cs typeface="Calibri" pitchFamily="34" charset="-120"/>
              </a:rPr>
              <a:t>Étapes 1 à 4 dans une seule transaction Prisma — si l'une échoue, tout est annulé. Stock et alertes restent toujours cohérents.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00B4D8"/>
          </a:solidFill>
          <a:ln w="12700">
            <a:solidFill>
              <a:srgbClr val="00B4D8"/>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00B4D8"/>
                </a:solidFill>
                <a:latin typeface="Calibri" pitchFamily="34" charset="0"/>
                <a:ea typeface="Calibri" pitchFamily="34" charset="-122"/>
                <a:cs typeface="Calibri" pitchFamily="34" charset="-120"/>
              </a:rPr>
              <a:t>DÉCISIONS TECHNIQUES</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Trois Choix d'Architecture Qui Ont Compté</a:t>
            </a:r>
            <a:endParaRPr lang="en-US" sz="2600" dirty="0"/>
          </a:p>
        </p:txBody>
      </p:sp>
      <p:sp>
        <p:nvSpPr>
          <p:cNvPr id="5" name="Shape 3"/>
          <p:cNvSpPr/>
          <p:nvPr/>
        </p:nvSpPr>
        <p:spPr>
          <a:xfrm>
            <a:off x="228600" y="1216152"/>
            <a:ext cx="11704320" cy="22860"/>
          </a:xfrm>
          <a:prstGeom prst="rect">
            <a:avLst/>
          </a:prstGeom>
          <a:solidFill>
            <a:srgbClr val="00B4D8"/>
          </a:solidFill>
          <a:ln w="12700">
            <a:solidFill>
              <a:srgbClr val="00B4D8"/>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8 / 12</a:t>
            </a:r>
            <a:endParaRPr lang="en-US" sz="900" dirty="0"/>
          </a:p>
        </p:txBody>
      </p:sp>
      <p:sp>
        <p:nvSpPr>
          <p:cNvPr id="7" name="Shape 5"/>
          <p:cNvSpPr/>
          <p:nvPr/>
        </p:nvSpPr>
        <p:spPr>
          <a:xfrm>
            <a:off x="228600" y="1353312"/>
            <a:ext cx="11686032" cy="1444752"/>
          </a:xfrm>
          <a:prstGeom prst="roundRect">
            <a:avLst>
              <a:gd name="adj" fmla="val 4430"/>
            </a:avLst>
          </a:prstGeom>
          <a:solidFill>
            <a:srgbClr val="112236"/>
          </a:solidFill>
          <a:ln w="19050">
            <a:solidFill>
              <a:srgbClr val="4A90D9"/>
            </a:solidFill>
            <a:prstDash val="solid"/>
          </a:ln>
        </p:spPr>
      </p:sp>
      <p:sp>
        <p:nvSpPr>
          <p:cNvPr id="8" name="Shape 6"/>
          <p:cNvSpPr/>
          <p:nvPr/>
        </p:nvSpPr>
        <p:spPr>
          <a:xfrm>
            <a:off x="347472" y="1517904"/>
            <a:ext cx="731520" cy="731520"/>
          </a:xfrm>
          <a:prstGeom prst="ellipse">
            <a:avLst/>
          </a:prstGeom>
          <a:solidFill>
            <a:srgbClr val="4A90D9">
              <a:alpha val="85000"/>
            </a:srgbClr>
          </a:solidFill>
          <a:ln w="12700">
            <a:solidFill>
              <a:srgbClr val="4A90D9"/>
            </a:solidFill>
            <a:prstDash val="solid"/>
          </a:ln>
        </p:spPr>
      </p:sp>
      <p:sp>
        <p:nvSpPr>
          <p:cNvPr id="9" name="Text 7"/>
          <p:cNvSpPr/>
          <p:nvPr/>
        </p:nvSpPr>
        <p:spPr>
          <a:xfrm>
            <a:off x="347472" y="1517904"/>
            <a:ext cx="731520" cy="731520"/>
          </a:xfrm>
          <a:prstGeom prst="rect">
            <a:avLst/>
          </a:prstGeom>
          <a:noFill/>
          <a:ln/>
        </p:spPr>
        <p:txBody>
          <a:bodyPr wrap="square" rtlCol="0" anchor="ctr"/>
          <a:lstStyle/>
          <a:p>
            <a:pPr algn="ctr" indent="0" marL="0">
              <a:buNone/>
            </a:pPr>
            <a:r>
              <a:rPr lang="en-US" sz="1800" b="1" dirty="0">
                <a:solidFill>
                  <a:srgbClr val="4A90D9"/>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1234440" y="1472184"/>
            <a:ext cx="8686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Inversion de Dépendance pour les Alertes</a:t>
            </a:r>
            <a:endParaRPr lang="en-US" sz="1400" dirty="0"/>
          </a:p>
        </p:txBody>
      </p:sp>
      <p:sp>
        <p:nvSpPr>
          <p:cNvPr id="11" name="Shape 9"/>
          <p:cNvSpPr/>
          <p:nvPr/>
        </p:nvSpPr>
        <p:spPr>
          <a:xfrm>
            <a:off x="10058400" y="1499616"/>
            <a:ext cx="1719072" cy="256032"/>
          </a:xfrm>
          <a:prstGeom prst="roundRect">
            <a:avLst>
              <a:gd name="adj" fmla="val 21429"/>
            </a:avLst>
          </a:prstGeom>
          <a:solidFill>
            <a:srgbClr val="1A2E48"/>
          </a:solidFill>
          <a:ln w="12700">
            <a:solidFill>
              <a:srgbClr val="1A2E48"/>
            </a:solidFill>
            <a:prstDash val="solid"/>
          </a:ln>
        </p:spPr>
      </p:sp>
      <p:sp>
        <p:nvSpPr>
          <p:cNvPr id="12" name="Text 10"/>
          <p:cNvSpPr/>
          <p:nvPr/>
        </p:nvSpPr>
        <p:spPr>
          <a:xfrm>
            <a:off x="10058400" y="1499616"/>
            <a:ext cx="1719072"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alerts.module.ts</a:t>
            </a:r>
            <a:endParaRPr lang="en-US" sz="900" dirty="0"/>
          </a:p>
        </p:txBody>
      </p:sp>
      <p:sp>
        <p:nvSpPr>
          <p:cNvPr id="13" name="Shape 11"/>
          <p:cNvSpPr/>
          <p:nvPr/>
        </p:nvSpPr>
        <p:spPr>
          <a:xfrm>
            <a:off x="1234440" y="1901952"/>
            <a:ext cx="10515600" cy="18288"/>
          </a:xfrm>
          <a:prstGeom prst="rect">
            <a:avLst/>
          </a:prstGeom>
          <a:solidFill>
            <a:srgbClr val="4A90D9">
              <a:alpha val="30000"/>
            </a:srgbClr>
          </a:solidFill>
          <a:ln w="12700">
            <a:solidFill>
              <a:srgbClr val="4A90D9">
                <a:alpha val="30000"/>
              </a:srgbClr>
            </a:solidFill>
            <a:prstDash val="solid"/>
          </a:ln>
        </p:spPr>
      </p:sp>
      <p:sp>
        <p:nvSpPr>
          <p:cNvPr id="14" name="Text 12"/>
          <p:cNvSpPr/>
          <p:nvPr/>
        </p:nvSpPr>
        <p:spPr>
          <a:xfrm>
            <a:off x="1234440" y="1993392"/>
            <a:ext cx="10515600" cy="713232"/>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InventoryService injecte AlertsPort (interface) — pas AlertsService directement.   ·   Jeton Symbol : ALERTS_PORT  →  useExisting: AlertsService   ·   Avantage : modules découplés, facilement testables, substituables sans toucher InventoryService.   ·   Code : @Inject(ALERTS_PORT) private readonly alertsPort: AlertsPort</a:t>
            </a:r>
            <a:endParaRPr lang="en-US" sz="1200" dirty="0"/>
          </a:p>
        </p:txBody>
      </p:sp>
      <p:sp>
        <p:nvSpPr>
          <p:cNvPr id="15" name="Shape 13"/>
          <p:cNvSpPr/>
          <p:nvPr/>
        </p:nvSpPr>
        <p:spPr>
          <a:xfrm>
            <a:off x="228600" y="2953512"/>
            <a:ext cx="11686032" cy="1444752"/>
          </a:xfrm>
          <a:prstGeom prst="roundRect">
            <a:avLst>
              <a:gd name="adj" fmla="val 4430"/>
            </a:avLst>
          </a:prstGeom>
          <a:solidFill>
            <a:srgbClr val="112236"/>
          </a:solidFill>
          <a:ln w="19050">
            <a:solidFill>
              <a:srgbClr val="F0A500"/>
            </a:solidFill>
            <a:prstDash val="solid"/>
          </a:ln>
        </p:spPr>
      </p:sp>
      <p:sp>
        <p:nvSpPr>
          <p:cNvPr id="16" name="Shape 14"/>
          <p:cNvSpPr/>
          <p:nvPr/>
        </p:nvSpPr>
        <p:spPr>
          <a:xfrm>
            <a:off x="347472" y="3118104"/>
            <a:ext cx="731520" cy="731520"/>
          </a:xfrm>
          <a:prstGeom prst="ellipse">
            <a:avLst/>
          </a:prstGeom>
          <a:solidFill>
            <a:srgbClr val="F0A500">
              <a:alpha val="85000"/>
            </a:srgbClr>
          </a:solidFill>
          <a:ln w="12700">
            <a:solidFill>
              <a:srgbClr val="F0A500"/>
            </a:solidFill>
            <a:prstDash val="solid"/>
          </a:ln>
        </p:spPr>
      </p:sp>
      <p:sp>
        <p:nvSpPr>
          <p:cNvPr id="17" name="Text 15"/>
          <p:cNvSpPr/>
          <p:nvPr/>
        </p:nvSpPr>
        <p:spPr>
          <a:xfrm>
            <a:off x="347472" y="3118104"/>
            <a:ext cx="731520" cy="731520"/>
          </a:xfrm>
          <a:prstGeom prst="rect">
            <a:avLst/>
          </a:prstGeom>
          <a:noFill/>
          <a:ln/>
        </p:spPr>
        <p:txBody>
          <a:bodyPr wrap="square" rtlCol="0" anchor="ctr"/>
          <a:lstStyle/>
          <a:p>
            <a:pPr algn="ctr" indent="0" marL="0">
              <a:buNone/>
            </a:pPr>
            <a:r>
              <a:rPr lang="en-US" sz="1800" b="1" dirty="0">
                <a:solidFill>
                  <a:srgbClr val="F0A500"/>
                </a:solidFill>
                <a:latin typeface="Calibri" pitchFamily="34" charset="0"/>
                <a:ea typeface="Calibri" pitchFamily="34" charset="-122"/>
                <a:cs typeface="Calibri" pitchFamily="34" charset="-120"/>
              </a:rPr>
              <a:t>02</a:t>
            </a:r>
            <a:endParaRPr lang="en-US" sz="1800" dirty="0"/>
          </a:p>
        </p:txBody>
      </p:sp>
      <p:sp>
        <p:nvSpPr>
          <p:cNvPr id="18" name="Text 16"/>
          <p:cNvSpPr/>
          <p:nvPr/>
        </p:nvSpPr>
        <p:spPr>
          <a:xfrm>
            <a:off x="1234440" y="3072384"/>
            <a:ext cx="8686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Réconciliation d'Alertes dans la Transaction DB</a:t>
            </a:r>
            <a:endParaRPr lang="en-US" sz="1400" dirty="0"/>
          </a:p>
        </p:txBody>
      </p:sp>
      <p:sp>
        <p:nvSpPr>
          <p:cNvPr id="19" name="Shape 17"/>
          <p:cNvSpPr/>
          <p:nvPr/>
        </p:nvSpPr>
        <p:spPr>
          <a:xfrm>
            <a:off x="10058400" y="3099816"/>
            <a:ext cx="1719072" cy="256032"/>
          </a:xfrm>
          <a:prstGeom prst="roundRect">
            <a:avLst>
              <a:gd name="adj" fmla="val 21429"/>
            </a:avLst>
          </a:prstGeom>
          <a:solidFill>
            <a:srgbClr val="1A2E48"/>
          </a:solidFill>
          <a:ln w="12700">
            <a:solidFill>
              <a:srgbClr val="1A2E48"/>
            </a:solidFill>
            <a:prstDash val="solid"/>
          </a:ln>
        </p:spPr>
      </p:sp>
      <p:sp>
        <p:nvSpPr>
          <p:cNvPr id="20" name="Text 18"/>
          <p:cNvSpPr/>
          <p:nvPr/>
        </p:nvSpPr>
        <p:spPr>
          <a:xfrm>
            <a:off x="10058400" y="3099816"/>
            <a:ext cx="1719072" cy="256032"/>
          </a:xfrm>
          <a:prstGeom prst="rect">
            <a:avLst/>
          </a:prstGeom>
          <a:noFill/>
          <a:ln/>
        </p:spPr>
        <p:txBody>
          <a:bodyPr wrap="square" rtlCol="0" anchor="ctr"/>
          <a:lstStyle/>
          <a:p>
            <a:pPr algn="ctr" indent="0" marL="0">
              <a:buNone/>
            </a:pPr>
            <a:r>
              <a:rPr lang="en-US" sz="900" b="1" dirty="0">
                <a:solidFill>
                  <a:srgbClr val="F0A500"/>
                </a:solidFill>
                <a:latin typeface="Calibri" pitchFamily="34" charset="0"/>
                <a:ea typeface="Calibri" pitchFamily="34" charset="-122"/>
                <a:cs typeface="Calibri" pitchFamily="34" charset="-120"/>
              </a:rPr>
              <a:t>inventory.service.ts</a:t>
            </a:r>
            <a:endParaRPr lang="en-US" sz="900" dirty="0"/>
          </a:p>
        </p:txBody>
      </p:sp>
      <p:sp>
        <p:nvSpPr>
          <p:cNvPr id="21" name="Shape 19"/>
          <p:cNvSpPr/>
          <p:nvPr/>
        </p:nvSpPr>
        <p:spPr>
          <a:xfrm>
            <a:off x="1234440" y="3502152"/>
            <a:ext cx="10515600" cy="18288"/>
          </a:xfrm>
          <a:prstGeom prst="rect">
            <a:avLst/>
          </a:prstGeom>
          <a:solidFill>
            <a:srgbClr val="F0A500">
              <a:alpha val="30000"/>
            </a:srgbClr>
          </a:solidFill>
          <a:ln w="12700">
            <a:solidFill>
              <a:srgbClr val="F0A500">
                <a:alpha val="30000"/>
              </a:srgbClr>
            </a:solidFill>
            <a:prstDash val="solid"/>
          </a:ln>
        </p:spPr>
      </p:sp>
      <p:sp>
        <p:nvSpPr>
          <p:cNvPr id="22" name="Text 20"/>
          <p:cNvSpPr/>
          <p:nvPr/>
        </p:nvSpPr>
        <p:spPr>
          <a:xfrm>
            <a:off x="1234440" y="3593592"/>
            <a:ext cx="10515600" cy="713232"/>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stockIn() et stockOut() appellent alertsPort.syncProductAlerts(tx, produit)   ·   tx est le Prisma TransactionClient — même transaction que la mise à jour du stock.   ·   Si l'alerte échoue, la mise à jour du stock est annulée aussi. Zéro incohérence.   ·   Pas d'alerte fantôme, pas de changement de stock orphelin.</a:t>
            </a:r>
            <a:endParaRPr lang="en-US" sz="1200" dirty="0"/>
          </a:p>
        </p:txBody>
      </p:sp>
      <p:sp>
        <p:nvSpPr>
          <p:cNvPr id="23" name="Shape 21"/>
          <p:cNvSpPr/>
          <p:nvPr/>
        </p:nvSpPr>
        <p:spPr>
          <a:xfrm>
            <a:off x="228600" y="4553712"/>
            <a:ext cx="11686032" cy="1444752"/>
          </a:xfrm>
          <a:prstGeom prst="roundRect">
            <a:avLst>
              <a:gd name="adj" fmla="val 4430"/>
            </a:avLst>
          </a:prstGeom>
          <a:solidFill>
            <a:srgbClr val="112236"/>
          </a:solidFill>
          <a:ln w="19050">
            <a:solidFill>
              <a:srgbClr val="3CB879"/>
            </a:solidFill>
            <a:prstDash val="solid"/>
          </a:ln>
        </p:spPr>
      </p:sp>
      <p:sp>
        <p:nvSpPr>
          <p:cNvPr id="24" name="Shape 22"/>
          <p:cNvSpPr/>
          <p:nvPr/>
        </p:nvSpPr>
        <p:spPr>
          <a:xfrm>
            <a:off x="347472" y="4718304"/>
            <a:ext cx="731520" cy="731520"/>
          </a:xfrm>
          <a:prstGeom prst="ellipse">
            <a:avLst/>
          </a:prstGeom>
          <a:solidFill>
            <a:srgbClr val="3CB879">
              <a:alpha val="85000"/>
            </a:srgbClr>
          </a:solidFill>
          <a:ln w="12700">
            <a:solidFill>
              <a:srgbClr val="3CB879"/>
            </a:solidFill>
            <a:prstDash val="solid"/>
          </a:ln>
        </p:spPr>
      </p:sp>
      <p:sp>
        <p:nvSpPr>
          <p:cNvPr id="25" name="Text 23"/>
          <p:cNvSpPr/>
          <p:nvPr/>
        </p:nvSpPr>
        <p:spPr>
          <a:xfrm>
            <a:off x="347472" y="4718304"/>
            <a:ext cx="731520" cy="731520"/>
          </a:xfrm>
          <a:prstGeom prst="rect">
            <a:avLst/>
          </a:prstGeom>
          <a:noFill/>
          <a:ln/>
        </p:spPr>
        <p:txBody>
          <a:bodyPr wrap="square" rtlCol="0" anchor="ctr"/>
          <a:lstStyle/>
          <a:p>
            <a:pPr algn="ctr" indent="0" marL="0">
              <a:buNone/>
            </a:pPr>
            <a:r>
              <a:rPr lang="en-US" sz="1800" b="1" dirty="0">
                <a:solidFill>
                  <a:srgbClr val="3CB879"/>
                </a:solidFill>
                <a:latin typeface="Calibri" pitchFamily="34" charset="0"/>
                <a:ea typeface="Calibri" pitchFamily="34" charset="-122"/>
                <a:cs typeface="Calibri" pitchFamily="34" charset="-120"/>
              </a:rPr>
              <a:t>03</a:t>
            </a:r>
            <a:endParaRPr lang="en-US" sz="1800" dirty="0"/>
          </a:p>
        </p:txBody>
      </p:sp>
      <p:sp>
        <p:nvSpPr>
          <p:cNvPr id="26" name="Text 24"/>
          <p:cNvSpPr/>
          <p:nvPr/>
        </p:nvSpPr>
        <p:spPr>
          <a:xfrm>
            <a:off x="1234440" y="4672584"/>
            <a:ext cx="8686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currentStock comme Colonne Cache</a:t>
            </a:r>
            <a:endParaRPr lang="en-US" sz="1400" dirty="0"/>
          </a:p>
        </p:txBody>
      </p:sp>
      <p:sp>
        <p:nvSpPr>
          <p:cNvPr id="27" name="Shape 25"/>
          <p:cNvSpPr/>
          <p:nvPr/>
        </p:nvSpPr>
        <p:spPr>
          <a:xfrm>
            <a:off x="10058400" y="4700016"/>
            <a:ext cx="1719072" cy="256032"/>
          </a:xfrm>
          <a:prstGeom prst="roundRect">
            <a:avLst>
              <a:gd name="adj" fmla="val 21429"/>
            </a:avLst>
          </a:prstGeom>
          <a:solidFill>
            <a:srgbClr val="1A2E48"/>
          </a:solidFill>
          <a:ln w="12700">
            <a:solidFill>
              <a:srgbClr val="1A2E48"/>
            </a:solidFill>
            <a:prstDash val="solid"/>
          </a:ln>
        </p:spPr>
      </p:sp>
      <p:sp>
        <p:nvSpPr>
          <p:cNvPr id="28" name="Text 26"/>
          <p:cNvSpPr/>
          <p:nvPr/>
        </p:nvSpPr>
        <p:spPr>
          <a:xfrm>
            <a:off x="10058400" y="4700016"/>
            <a:ext cx="1719072" cy="256032"/>
          </a:xfrm>
          <a:prstGeom prst="rect">
            <a:avLst/>
          </a:prstGeom>
          <a:noFill/>
          <a:ln/>
        </p:spPr>
        <p:txBody>
          <a:bodyPr wrap="square" rtlCol="0" anchor="ctr"/>
          <a:lstStyle/>
          <a:p>
            <a:pPr algn="ctr" indent="0" marL="0">
              <a:buNone/>
            </a:pPr>
            <a:r>
              <a:rPr lang="en-US" sz="900" b="1" dirty="0">
                <a:solidFill>
                  <a:srgbClr val="3CB879"/>
                </a:solidFill>
                <a:latin typeface="Calibri" pitchFamily="34" charset="0"/>
                <a:ea typeface="Calibri" pitchFamily="34" charset="-122"/>
                <a:cs typeface="Calibri" pitchFamily="34" charset="-120"/>
              </a:rPr>
              <a:t>schema.prisma</a:t>
            </a:r>
            <a:endParaRPr lang="en-US" sz="900" dirty="0"/>
          </a:p>
        </p:txBody>
      </p:sp>
      <p:sp>
        <p:nvSpPr>
          <p:cNvPr id="29" name="Shape 27"/>
          <p:cNvSpPr/>
          <p:nvPr/>
        </p:nvSpPr>
        <p:spPr>
          <a:xfrm>
            <a:off x="1234440" y="5102352"/>
            <a:ext cx="10515600" cy="18288"/>
          </a:xfrm>
          <a:prstGeom prst="rect">
            <a:avLst/>
          </a:prstGeom>
          <a:solidFill>
            <a:srgbClr val="3CB879">
              <a:alpha val="30000"/>
            </a:srgbClr>
          </a:solidFill>
          <a:ln w="12700">
            <a:solidFill>
              <a:srgbClr val="3CB879">
                <a:alpha val="30000"/>
              </a:srgbClr>
            </a:solidFill>
            <a:prstDash val="solid"/>
          </a:ln>
        </p:spPr>
      </p:sp>
      <p:sp>
        <p:nvSpPr>
          <p:cNvPr id="30" name="Text 28"/>
          <p:cNvSpPr/>
          <p:nvPr/>
        </p:nvSpPr>
        <p:spPr>
          <a:xfrm>
            <a:off x="1234440" y="5193792"/>
            <a:ext cx="10515600" cy="713232"/>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Product.currentStock est mis à jour directement — pas recalculé via SUM(mouvements).   ·   StockMovement est la piste d'audit, pas la source de vérité pour les lectures.   ·   Avantage : lectures inventaire en O(1) quelle que soit la taille de l'historique.   ·   Compromis : risque de dérive si des opérations en masse contournent la couche service.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CB879"/>
          </a:solidFill>
          <a:ln w="12700">
            <a:solidFill>
              <a:srgbClr val="3CB879"/>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3CB879"/>
                </a:solidFill>
                <a:latin typeface="Calibri" pitchFamily="34" charset="0"/>
                <a:ea typeface="Calibri" pitchFamily="34" charset="-122"/>
                <a:cs typeface="Calibri" pitchFamily="34" charset="-120"/>
              </a:rPr>
              <a:t>PARCOURS DÉMO</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Ce que voit le propriétaire — Étape par Étape</a:t>
            </a:r>
            <a:endParaRPr lang="en-US" sz="2600" dirty="0"/>
          </a:p>
        </p:txBody>
      </p:sp>
      <p:sp>
        <p:nvSpPr>
          <p:cNvPr id="5" name="Shape 3"/>
          <p:cNvSpPr/>
          <p:nvPr/>
        </p:nvSpPr>
        <p:spPr>
          <a:xfrm>
            <a:off x="228600" y="1216152"/>
            <a:ext cx="11704320" cy="22860"/>
          </a:xfrm>
          <a:prstGeom prst="rect">
            <a:avLst/>
          </a:prstGeom>
          <a:solidFill>
            <a:srgbClr val="3CB879"/>
          </a:solidFill>
          <a:ln w="12700">
            <a:solidFill>
              <a:srgbClr val="3CB879"/>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9 / 12</a:t>
            </a:r>
            <a:endParaRPr lang="en-US" sz="900" dirty="0"/>
          </a:p>
        </p:txBody>
      </p:sp>
      <p:sp>
        <p:nvSpPr>
          <p:cNvPr id="7" name="Shape 5"/>
          <p:cNvSpPr/>
          <p:nvPr/>
        </p:nvSpPr>
        <p:spPr>
          <a:xfrm>
            <a:off x="228600" y="1353312"/>
            <a:ext cx="5623560" cy="1508760"/>
          </a:xfrm>
          <a:prstGeom prst="roundRect">
            <a:avLst>
              <a:gd name="adj" fmla="val 4242"/>
            </a:avLst>
          </a:prstGeom>
          <a:solidFill>
            <a:srgbClr val="112236"/>
          </a:solidFill>
          <a:ln w="19050">
            <a:solidFill>
              <a:srgbClr val="4A90D9"/>
            </a:solidFill>
            <a:prstDash val="solid"/>
          </a:ln>
        </p:spPr>
      </p:sp>
      <p:sp>
        <p:nvSpPr>
          <p:cNvPr id="8" name="Shape 6"/>
          <p:cNvSpPr/>
          <p:nvPr/>
        </p:nvSpPr>
        <p:spPr>
          <a:xfrm>
            <a:off x="365760" y="1490472"/>
            <a:ext cx="475488" cy="475488"/>
          </a:xfrm>
          <a:prstGeom prst="ellipse">
            <a:avLst/>
          </a:prstGeom>
          <a:solidFill>
            <a:srgbClr val="4A90D9"/>
          </a:solidFill>
          <a:ln w="12700">
            <a:solidFill>
              <a:srgbClr val="4A90D9"/>
            </a:solidFill>
            <a:prstDash val="solid"/>
          </a:ln>
        </p:spPr>
      </p:sp>
      <p:sp>
        <p:nvSpPr>
          <p:cNvPr id="9" name="Text 7"/>
          <p:cNvSpPr/>
          <p:nvPr/>
        </p:nvSpPr>
        <p:spPr>
          <a:xfrm>
            <a:off x="365760" y="1490472"/>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978408" y="1517904"/>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Barre latérale</a:t>
            </a:r>
            <a:endParaRPr lang="en-US" sz="1350" dirty="0"/>
          </a:p>
        </p:txBody>
      </p:sp>
      <p:sp>
        <p:nvSpPr>
          <p:cNvPr id="11" name="Shape 9"/>
          <p:cNvSpPr/>
          <p:nvPr/>
        </p:nvSpPr>
        <p:spPr>
          <a:xfrm>
            <a:off x="365760" y="1938528"/>
            <a:ext cx="5349240" cy="18288"/>
          </a:xfrm>
          <a:prstGeom prst="rect">
            <a:avLst/>
          </a:prstGeom>
          <a:solidFill>
            <a:srgbClr val="4A90D9">
              <a:alpha val="30000"/>
            </a:srgbClr>
          </a:solidFill>
          <a:ln w="12700">
            <a:solidFill>
              <a:srgbClr val="4A90D9">
                <a:alpha val="30000"/>
              </a:srgbClr>
            </a:solidFill>
            <a:prstDash val="solid"/>
          </a:ln>
        </p:spPr>
      </p:sp>
      <p:sp>
        <p:nvSpPr>
          <p:cNvPr id="12" name="Text 10"/>
          <p:cNvSpPr/>
          <p:nvPr/>
        </p:nvSpPr>
        <p:spPr>
          <a:xfrm>
            <a:off x="365760" y="2029968"/>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Icône cloche — badge rouge avec compteur d'alertes non lues. Se met à jour toutes les 30 secondes automatiquement.</a:t>
            </a:r>
            <a:endParaRPr lang="en-US" sz="1250" dirty="0"/>
          </a:p>
        </p:txBody>
      </p:sp>
      <p:sp>
        <p:nvSpPr>
          <p:cNvPr id="13" name="Shape 11"/>
          <p:cNvSpPr/>
          <p:nvPr/>
        </p:nvSpPr>
        <p:spPr>
          <a:xfrm>
            <a:off x="6473952" y="1353312"/>
            <a:ext cx="5623560" cy="1508760"/>
          </a:xfrm>
          <a:prstGeom prst="roundRect">
            <a:avLst>
              <a:gd name="adj" fmla="val 4242"/>
            </a:avLst>
          </a:prstGeom>
          <a:solidFill>
            <a:srgbClr val="112236"/>
          </a:solidFill>
          <a:ln w="19050">
            <a:solidFill>
              <a:srgbClr val="4A90D9"/>
            </a:solidFill>
            <a:prstDash val="solid"/>
          </a:ln>
        </p:spPr>
      </p:sp>
      <p:sp>
        <p:nvSpPr>
          <p:cNvPr id="14" name="Shape 12"/>
          <p:cNvSpPr/>
          <p:nvPr/>
        </p:nvSpPr>
        <p:spPr>
          <a:xfrm>
            <a:off x="6611112" y="1490472"/>
            <a:ext cx="475488" cy="475488"/>
          </a:xfrm>
          <a:prstGeom prst="ellipse">
            <a:avLst/>
          </a:prstGeom>
          <a:solidFill>
            <a:srgbClr val="4A90D9"/>
          </a:solidFill>
          <a:ln w="12700">
            <a:solidFill>
              <a:srgbClr val="4A90D9"/>
            </a:solidFill>
            <a:prstDash val="solid"/>
          </a:ln>
        </p:spPr>
      </p:sp>
      <p:sp>
        <p:nvSpPr>
          <p:cNvPr id="15" name="Text 13"/>
          <p:cNvSpPr/>
          <p:nvPr/>
        </p:nvSpPr>
        <p:spPr>
          <a:xfrm>
            <a:off x="6611112" y="1490472"/>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7223760" y="1517904"/>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Menu déroulant alertes</a:t>
            </a:r>
            <a:endParaRPr lang="en-US" sz="1350" dirty="0"/>
          </a:p>
        </p:txBody>
      </p:sp>
      <p:sp>
        <p:nvSpPr>
          <p:cNvPr id="17" name="Shape 15"/>
          <p:cNvSpPr/>
          <p:nvPr/>
        </p:nvSpPr>
        <p:spPr>
          <a:xfrm>
            <a:off x="6611112" y="1938528"/>
            <a:ext cx="5349240" cy="18288"/>
          </a:xfrm>
          <a:prstGeom prst="rect">
            <a:avLst/>
          </a:prstGeom>
          <a:solidFill>
            <a:srgbClr val="4A90D9">
              <a:alpha val="30000"/>
            </a:srgbClr>
          </a:solidFill>
          <a:ln w="12700">
            <a:solidFill>
              <a:srgbClr val="4A90D9">
                <a:alpha val="30000"/>
              </a:srgbClr>
            </a:solidFill>
            <a:prstDash val="solid"/>
          </a:ln>
        </p:spPr>
      </p:sp>
      <p:sp>
        <p:nvSpPr>
          <p:cNvPr id="18" name="Text 16"/>
          <p:cNvSpPr/>
          <p:nvPr/>
        </p:nvSpPr>
        <p:spPr>
          <a:xfrm>
            <a:off x="6611112" y="2029968"/>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Clic sur la cloche → menu déroulant avec les 5 premières alertes. Pastille "Stock bas" ou "Expiration". Un clic navigue vers le produit.</a:t>
            </a:r>
            <a:endParaRPr lang="en-US" sz="1250" dirty="0"/>
          </a:p>
        </p:txBody>
      </p:sp>
      <p:sp>
        <p:nvSpPr>
          <p:cNvPr id="19" name="Shape 17"/>
          <p:cNvSpPr/>
          <p:nvPr/>
        </p:nvSpPr>
        <p:spPr>
          <a:xfrm>
            <a:off x="228600" y="3017520"/>
            <a:ext cx="5623560" cy="1508760"/>
          </a:xfrm>
          <a:prstGeom prst="roundRect">
            <a:avLst>
              <a:gd name="adj" fmla="val 4242"/>
            </a:avLst>
          </a:prstGeom>
          <a:solidFill>
            <a:srgbClr val="112236"/>
          </a:solidFill>
          <a:ln w="19050">
            <a:solidFill>
              <a:srgbClr val="4A90D9"/>
            </a:solidFill>
            <a:prstDash val="solid"/>
          </a:ln>
        </p:spPr>
      </p:sp>
      <p:sp>
        <p:nvSpPr>
          <p:cNvPr id="20" name="Shape 18"/>
          <p:cNvSpPr/>
          <p:nvPr/>
        </p:nvSpPr>
        <p:spPr>
          <a:xfrm>
            <a:off x="365760" y="3154680"/>
            <a:ext cx="475488" cy="475488"/>
          </a:xfrm>
          <a:prstGeom prst="ellipse">
            <a:avLst/>
          </a:prstGeom>
          <a:solidFill>
            <a:srgbClr val="4A90D9"/>
          </a:solidFill>
          <a:ln w="12700">
            <a:solidFill>
              <a:srgbClr val="4A90D9"/>
            </a:solidFill>
            <a:prstDash val="solid"/>
          </a:ln>
        </p:spPr>
      </p:sp>
      <p:sp>
        <p:nvSpPr>
          <p:cNvPr id="21" name="Text 19"/>
          <p:cNvSpPr/>
          <p:nvPr/>
        </p:nvSpPr>
        <p:spPr>
          <a:xfrm>
            <a:off x="365760" y="3154680"/>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978408" y="3182112"/>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/inventaire</a:t>
            </a:r>
            <a:endParaRPr lang="en-US" sz="1350" dirty="0"/>
          </a:p>
        </p:txBody>
      </p:sp>
      <p:sp>
        <p:nvSpPr>
          <p:cNvPr id="23" name="Shape 21"/>
          <p:cNvSpPr/>
          <p:nvPr/>
        </p:nvSpPr>
        <p:spPr>
          <a:xfrm>
            <a:off x="365760" y="3602736"/>
            <a:ext cx="5349240" cy="18288"/>
          </a:xfrm>
          <a:prstGeom prst="rect">
            <a:avLst/>
          </a:prstGeom>
          <a:solidFill>
            <a:srgbClr val="4A90D9">
              <a:alpha val="30000"/>
            </a:srgbClr>
          </a:solidFill>
          <a:ln w="12700">
            <a:solidFill>
              <a:srgbClr val="4A90D9">
                <a:alpha val="30000"/>
              </a:srgbClr>
            </a:solidFill>
            <a:prstDash val="solid"/>
          </a:ln>
        </p:spPr>
      </p:sp>
      <p:sp>
        <p:nvSpPr>
          <p:cNvPr id="24" name="Text 22"/>
          <p:cNvSpPr/>
          <p:nvPr/>
        </p:nvSpPr>
        <p:spPr>
          <a:xfrm>
            <a:off x="365760" y="3694176"/>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Tableau en direct filtrable par recherche / catégorie / état du stock. Lignes en rouge (rupture) ou orange (stock bas). URL : ?focus=productId.</a:t>
            </a:r>
            <a:endParaRPr lang="en-US" sz="1250" dirty="0"/>
          </a:p>
        </p:txBody>
      </p:sp>
      <p:sp>
        <p:nvSpPr>
          <p:cNvPr id="25" name="Shape 23"/>
          <p:cNvSpPr/>
          <p:nvPr/>
        </p:nvSpPr>
        <p:spPr>
          <a:xfrm>
            <a:off x="6473952" y="3017520"/>
            <a:ext cx="5623560" cy="1508760"/>
          </a:xfrm>
          <a:prstGeom prst="roundRect">
            <a:avLst>
              <a:gd name="adj" fmla="val 4242"/>
            </a:avLst>
          </a:prstGeom>
          <a:solidFill>
            <a:srgbClr val="112236"/>
          </a:solidFill>
          <a:ln w="19050">
            <a:solidFill>
              <a:srgbClr val="4A90D9"/>
            </a:solidFill>
            <a:prstDash val="solid"/>
          </a:ln>
        </p:spPr>
      </p:sp>
      <p:sp>
        <p:nvSpPr>
          <p:cNvPr id="26" name="Shape 24"/>
          <p:cNvSpPr/>
          <p:nvPr/>
        </p:nvSpPr>
        <p:spPr>
          <a:xfrm>
            <a:off x="6611112" y="3154680"/>
            <a:ext cx="475488" cy="475488"/>
          </a:xfrm>
          <a:prstGeom prst="ellipse">
            <a:avLst/>
          </a:prstGeom>
          <a:solidFill>
            <a:srgbClr val="4A90D9"/>
          </a:solidFill>
          <a:ln w="12700">
            <a:solidFill>
              <a:srgbClr val="4A90D9"/>
            </a:solidFill>
            <a:prstDash val="solid"/>
          </a:ln>
        </p:spPr>
      </p:sp>
      <p:sp>
        <p:nvSpPr>
          <p:cNvPr id="27" name="Text 25"/>
          <p:cNvSpPr/>
          <p:nvPr/>
        </p:nvSpPr>
        <p:spPr>
          <a:xfrm>
            <a:off x="6611112" y="3154680"/>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7223760" y="3182112"/>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Formulaire Stock-IN</a:t>
            </a:r>
            <a:endParaRPr lang="en-US" sz="1350" dirty="0"/>
          </a:p>
        </p:txBody>
      </p:sp>
      <p:sp>
        <p:nvSpPr>
          <p:cNvPr id="29" name="Shape 27"/>
          <p:cNvSpPr/>
          <p:nvPr/>
        </p:nvSpPr>
        <p:spPr>
          <a:xfrm>
            <a:off x="6611112" y="3602736"/>
            <a:ext cx="5349240" cy="18288"/>
          </a:xfrm>
          <a:prstGeom prst="rect">
            <a:avLst/>
          </a:prstGeom>
          <a:solidFill>
            <a:srgbClr val="4A90D9">
              <a:alpha val="30000"/>
            </a:srgbClr>
          </a:solidFill>
          <a:ln w="12700">
            <a:solidFill>
              <a:srgbClr val="4A90D9">
                <a:alpha val="30000"/>
              </a:srgbClr>
            </a:solidFill>
            <a:prstDash val="solid"/>
          </a:ln>
        </p:spPr>
      </p:sp>
      <p:sp>
        <p:nvSpPr>
          <p:cNvPr id="30" name="Text 28"/>
          <p:cNvSpPr/>
          <p:nvPr/>
        </p:nvSpPr>
        <p:spPr>
          <a:xfrm>
            <a:off x="6611112" y="3694176"/>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Le propriétaire saisit : quantité + motif (requis) + date d'expiration (optionnelle). Envoi → stock mis à jour instantanément, alerte disparaît.</a:t>
            </a:r>
            <a:endParaRPr lang="en-US" sz="1250" dirty="0"/>
          </a:p>
        </p:txBody>
      </p:sp>
      <p:sp>
        <p:nvSpPr>
          <p:cNvPr id="31" name="Shape 29"/>
          <p:cNvSpPr/>
          <p:nvPr/>
        </p:nvSpPr>
        <p:spPr>
          <a:xfrm>
            <a:off x="228600" y="4681728"/>
            <a:ext cx="5623560" cy="1508760"/>
          </a:xfrm>
          <a:prstGeom prst="roundRect">
            <a:avLst>
              <a:gd name="adj" fmla="val 4242"/>
            </a:avLst>
          </a:prstGeom>
          <a:solidFill>
            <a:srgbClr val="112236"/>
          </a:solidFill>
          <a:ln w="19050">
            <a:solidFill>
              <a:srgbClr val="4A90D9"/>
            </a:solidFill>
            <a:prstDash val="solid"/>
          </a:ln>
        </p:spPr>
      </p:sp>
      <p:sp>
        <p:nvSpPr>
          <p:cNvPr id="32" name="Shape 30"/>
          <p:cNvSpPr/>
          <p:nvPr/>
        </p:nvSpPr>
        <p:spPr>
          <a:xfrm>
            <a:off x="365760" y="4818888"/>
            <a:ext cx="475488" cy="475488"/>
          </a:xfrm>
          <a:prstGeom prst="ellipse">
            <a:avLst/>
          </a:prstGeom>
          <a:solidFill>
            <a:srgbClr val="4A90D9"/>
          </a:solidFill>
          <a:ln w="12700">
            <a:solidFill>
              <a:srgbClr val="4A90D9"/>
            </a:solidFill>
            <a:prstDash val="solid"/>
          </a:ln>
        </p:spPr>
      </p:sp>
      <p:sp>
        <p:nvSpPr>
          <p:cNvPr id="33" name="Text 31"/>
          <p:cNvSpPr/>
          <p:nvPr/>
        </p:nvSpPr>
        <p:spPr>
          <a:xfrm>
            <a:off x="365760" y="4818888"/>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34" name="Text 32"/>
          <p:cNvSpPr/>
          <p:nvPr/>
        </p:nvSpPr>
        <p:spPr>
          <a:xfrm>
            <a:off x="978408" y="4846320"/>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/alertes</a:t>
            </a:r>
            <a:endParaRPr lang="en-US" sz="1350" dirty="0"/>
          </a:p>
        </p:txBody>
      </p:sp>
      <p:sp>
        <p:nvSpPr>
          <p:cNvPr id="35" name="Shape 33"/>
          <p:cNvSpPr/>
          <p:nvPr/>
        </p:nvSpPr>
        <p:spPr>
          <a:xfrm>
            <a:off x="365760" y="5266944"/>
            <a:ext cx="5349240" cy="18288"/>
          </a:xfrm>
          <a:prstGeom prst="rect">
            <a:avLst/>
          </a:prstGeom>
          <a:solidFill>
            <a:srgbClr val="4A90D9">
              <a:alpha val="30000"/>
            </a:srgbClr>
          </a:solidFill>
          <a:ln w="12700">
            <a:solidFill>
              <a:srgbClr val="4A90D9">
                <a:alpha val="30000"/>
              </a:srgbClr>
            </a:solidFill>
            <a:prstDash val="solid"/>
          </a:ln>
        </p:spPr>
      </p:sp>
      <p:sp>
        <p:nvSpPr>
          <p:cNvPr id="36" name="Text 34"/>
          <p:cNvSpPr/>
          <p:nvPr/>
        </p:nvSpPr>
        <p:spPr>
          <a:xfrm>
            <a:off x="365760" y="5358384"/>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Liste complète avec bouton "Marquer comme lue". Basculer pour masquer les alertes déjà traitées. Compteur non-lu visible en navigation.</a:t>
            </a:r>
            <a:endParaRPr lang="en-US" sz="1250" dirty="0"/>
          </a:p>
        </p:txBody>
      </p:sp>
      <p:sp>
        <p:nvSpPr>
          <p:cNvPr id="37" name="Shape 35"/>
          <p:cNvSpPr/>
          <p:nvPr/>
        </p:nvSpPr>
        <p:spPr>
          <a:xfrm>
            <a:off x="6473952" y="4681728"/>
            <a:ext cx="5623560" cy="1508760"/>
          </a:xfrm>
          <a:prstGeom prst="roundRect">
            <a:avLst>
              <a:gd name="adj" fmla="val 4242"/>
            </a:avLst>
          </a:prstGeom>
          <a:solidFill>
            <a:srgbClr val="112236"/>
          </a:solidFill>
          <a:ln w="19050">
            <a:solidFill>
              <a:srgbClr val="4A90D9"/>
            </a:solidFill>
            <a:prstDash val="solid"/>
          </a:ln>
        </p:spPr>
      </p:sp>
      <p:sp>
        <p:nvSpPr>
          <p:cNvPr id="38" name="Shape 36"/>
          <p:cNvSpPr/>
          <p:nvPr/>
        </p:nvSpPr>
        <p:spPr>
          <a:xfrm>
            <a:off x="6611112" y="4818888"/>
            <a:ext cx="475488" cy="475488"/>
          </a:xfrm>
          <a:prstGeom prst="ellipse">
            <a:avLst/>
          </a:prstGeom>
          <a:solidFill>
            <a:srgbClr val="4A90D9"/>
          </a:solidFill>
          <a:ln w="12700">
            <a:solidFill>
              <a:srgbClr val="4A90D9"/>
            </a:solidFill>
            <a:prstDash val="solid"/>
          </a:ln>
        </p:spPr>
      </p:sp>
      <p:sp>
        <p:nvSpPr>
          <p:cNvPr id="39" name="Text 37"/>
          <p:cNvSpPr/>
          <p:nvPr/>
        </p:nvSpPr>
        <p:spPr>
          <a:xfrm>
            <a:off x="6611112" y="4818888"/>
            <a:ext cx="475488" cy="475488"/>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6</a:t>
            </a:r>
            <a:endParaRPr lang="en-US" sz="1400" dirty="0"/>
          </a:p>
        </p:txBody>
      </p:sp>
      <p:sp>
        <p:nvSpPr>
          <p:cNvPr id="40" name="Text 38"/>
          <p:cNvSpPr/>
          <p:nvPr/>
        </p:nvSpPr>
        <p:spPr>
          <a:xfrm>
            <a:off x="7223760" y="4846320"/>
            <a:ext cx="4709160" cy="347472"/>
          </a:xfrm>
          <a:prstGeom prst="rect">
            <a:avLst/>
          </a:prstGeom>
          <a:noFill/>
          <a:ln/>
        </p:spPr>
        <p:txBody>
          <a:bodyPr wrap="square" rtlCol="0" anchor="ctr"/>
          <a:lstStyle/>
          <a:p>
            <a:pPr indent="0" marL="0">
              <a:buNone/>
            </a:pPr>
            <a:r>
              <a:rPr lang="en-US" sz="1350" b="1" dirty="0">
                <a:solidFill>
                  <a:srgbClr val="4A90D9"/>
                </a:solidFill>
                <a:latin typeface="Calibri" pitchFamily="34" charset="0"/>
                <a:ea typeface="Calibri" pitchFamily="34" charset="-122"/>
                <a:cs typeface="Calibri" pitchFamily="34" charset="-120"/>
              </a:rPr>
              <a:t>Boîte mail</a:t>
            </a:r>
            <a:endParaRPr lang="en-US" sz="1350" dirty="0"/>
          </a:p>
        </p:txBody>
      </p:sp>
      <p:sp>
        <p:nvSpPr>
          <p:cNvPr id="41" name="Shape 39"/>
          <p:cNvSpPr/>
          <p:nvPr/>
        </p:nvSpPr>
        <p:spPr>
          <a:xfrm>
            <a:off x="6611112" y="5266944"/>
            <a:ext cx="5349240" cy="18288"/>
          </a:xfrm>
          <a:prstGeom prst="rect">
            <a:avLst/>
          </a:prstGeom>
          <a:solidFill>
            <a:srgbClr val="4A90D9">
              <a:alpha val="30000"/>
            </a:srgbClr>
          </a:solidFill>
          <a:ln w="12700">
            <a:solidFill>
              <a:srgbClr val="4A90D9">
                <a:alpha val="30000"/>
              </a:srgbClr>
            </a:solidFill>
            <a:prstDash val="solid"/>
          </a:ln>
        </p:spPr>
      </p:sp>
      <p:sp>
        <p:nvSpPr>
          <p:cNvPr id="42" name="Text 40"/>
          <p:cNvSpPr/>
          <p:nvPr/>
        </p:nvSpPr>
        <p:spPr>
          <a:xfrm>
            <a:off x="6611112" y="5358384"/>
            <a:ext cx="5349240" cy="749808"/>
          </a:xfrm>
          <a:prstGeom prst="rect">
            <a:avLst/>
          </a:prstGeom>
          <a:noFill/>
          <a:ln/>
        </p:spPr>
        <p:txBody>
          <a:bodyPr wrap="square" rtlCol="0" anchor="t"/>
          <a:lstStyle/>
          <a:p>
            <a:pPr indent="0" marL="0">
              <a:buNone/>
            </a:pPr>
            <a:r>
              <a:rPr lang="en-US" sz="1250" dirty="0">
                <a:solidFill>
                  <a:srgbClr val="E8EEF6"/>
                </a:solidFill>
                <a:latin typeface="Calibri" pitchFamily="34" charset="0"/>
                <a:ea typeface="Calibri" pitchFamily="34" charset="-122"/>
                <a:cs typeface="Calibri" pitchFamily="34" charset="-120"/>
              </a:rPr>
              <a:t>Si alerte non consultée sous ~15 min : e-mail avec nom produit, stock actuel, seuil et date d'expiration. Pas de double envoi.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CB879"/>
          </a:solidFill>
          <a:ln w="12700">
            <a:solidFill>
              <a:srgbClr val="3CB879"/>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3CB879"/>
                </a:solidFill>
                <a:latin typeface="Calibri" pitchFamily="34" charset="0"/>
                <a:ea typeface="Calibri" pitchFamily="34" charset="-122"/>
                <a:cs typeface="Calibri" pitchFamily="34" charset="-120"/>
              </a:rPr>
              <a:t>IMPACT</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Avant &amp; Après</a:t>
            </a:r>
            <a:endParaRPr lang="en-US" sz="2600" dirty="0"/>
          </a:p>
        </p:txBody>
      </p:sp>
      <p:sp>
        <p:nvSpPr>
          <p:cNvPr id="5" name="Shape 3"/>
          <p:cNvSpPr/>
          <p:nvPr/>
        </p:nvSpPr>
        <p:spPr>
          <a:xfrm>
            <a:off x="228600" y="1216152"/>
            <a:ext cx="11704320" cy="22860"/>
          </a:xfrm>
          <a:prstGeom prst="rect">
            <a:avLst/>
          </a:prstGeom>
          <a:solidFill>
            <a:srgbClr val="3CB879"/>
          </a:solidFill>
          <a:ln w="12700">
            <a:solidFill>
              <a:srgbClr val="3CB879"/>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10 / 12</a:t>
            </a:r>
            <a:endParaRPr lang="en-US" sz="900" dirty="0"/>
          </a:p>
        </p:txBody>
      </p:sp>
      <p:sp>
        <p:nvSpPr>
          <p:cNvPr id="7" name="Shape 5"/>
          <p:cNvSpPr/>
          <p:nvPr/>
        </p:nvSpPr>
        <p:spPr>
          <a:xfrm>
            <a:off x="228600" y="1353312"/>
            <a:ext cx="5394960" cy="5138928"/>
          </a:xfrm>
          <a:prstGeom prst="roundRect">
            <a:avLst>
              <a:gd name="adj" fmla="val 1246"/>
            </a:avLst>
          </a:prstGeom>
          <a:solidFill>
            <a:srgbClr val="1A0808"/>
          </a:solidFill>
          <a:ln w="19050">
            <a:solidFill>
              <a:srgbClr val="E05C5C"/>
            </a:solidFill>
            <a:prstDash val="solid"/>
          </a:ln>
        </p:spPr>
      </p:sp>
      <p:sp>
        <p:nvSpPr>
          <p:cNvPr id="8" name="Shape 6"/>
          <p:cNvSpPr/>
          <p:nvPr/>
        </p:nvSpPr>
        <p:spPr>
          <a:xfrm>
            <a:off x="228600" y="1353312"/>
            <a:ext cx="5394960" cy="457200"/>
          </a:xfrm>
          <a:prstGeom prst="roundRect">
            <a:avLst>
              <a:gd name="adj" fmla="val 14000"/>
            </a:avLst>
          </a:prstGeom>
          <a:solidFill>
            <a:srgbClr val="E05C5C">
              <a:alpha val="80000"/>
            </a:srgbClr>
          </a:solidFill>
          <a:ln w="12700">
            <a:solidFill>
              <a:srgbClr val="E05C5C"/>
            </a:solidFill>
            <a:prstDash val="solid"/>
          </a:ln>
        </p:spPr>
      </p:sp>
      <p:sp>
        <p:nvSpPr>
          <p:cNvPr id="9" name="Text 7"/>
          <p:cNvSpPr/>
          <p:nvPr/>
        </p:nvSpPr>
        <p:spPr>
          <a:xfrm>
            <a:off x="347472" y="1417320"/>
            <a:ext cx="5120640" cy="347472"/>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AVANT</a:t>
            </a:r>
            <a:endParaRPr lang="en-US" sz="1400" dirty="0"/>
          </a:p>
        </p:txBody>
      </p:sp>
      <p:sp>
        <p:nvSpPr>
          <p:cNvPr id="10" name="Shape 8"/>
          <p:cNvSpPr/>
          <p:nvPr/>
        </p:nvSpPr>
        <p:spPr>
          <a:xfrm>
            <a:off x="384048" y="1993392"/>
            <a:ext cx="109728" cy="201168"/>
          </a:xfrm>
          <a:prstGeom prst="rect">
            <a:avLst/>
          </a:prstGeom>
          <a:solidFill>
            <a:srgbClr val="E05C5C"/>
          </a:solidFill>
          <a:ln w="12700">
            <a:solidFill>
              <a:srgbClr val="E05C5C"/>
            </a:solidFill>
            <a:prstDash val="solid"/>
          </a:ln>
        </p:spPr>
      </p:sp>
      <p:sp>
        <p:nvSpPr>
          <p:cNvPr id="11" name="Text 9"/>
          <p:cNvSpPr/>
          <p:nvPr/>
        </p:nvSpPr>
        <p:spPr>
          <a:xfrm>
            <a:off x="603504" y="1956816"/>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Stock compté manuellement, peut-être une fois par semaine</a:t>
            </a:r>
            <a:endParaRPr lang="en-US" sz="1350" dirty="0"/>
          </a:p>
        </p:txBody>
      </p:sp>
      <p:sp>
        <p:nvSpPr>
          <p:cNvPr id="12" name="Shape 10"/>
          <p:cNvSpPr/>
          <p:nvPr/>
        </p:nvSpPr>
        <p:spPr>
          <a:xfrm>
            <a:off x="384048" y="2798064"/>
            <a:ext cx="109728" cy="201168"/>
          </a:xfrm>
          <a:prstGeom prst="rect">
            <a:avLst/>
          </a:prstGeom>
          <a:solidFill>
            <a:srgbClr val="E05C5C"/>
          </a:solidFill>
          <a:ln w="12700">
            <a:solidFill>
              <a:srgbClr val="E05C5C"/>
            </a:solidFill>
            <a:prstDash val="solid"/>
          </a:ln>
        </p:spPr>
      </p:sp>
      <p:sp>
        <p:nvSpPr>
          <p:cNvPr id="13" name="Text 11"/>
          <p:cNvSpPr/>
          <p:nvPr/>
        </p:nvSpPr>
        <p:spPr>
          <a:xfrm>
            <a:off x="603504" y="2761488"/>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Dates d'expiration sur des post-it ou ignorées</a:t>
            </a:r>
            <a:endParaRPr lang="en-US" sz="1350" dirty="0"/>
          </a:p>
        </p:txBody>
      </p:sp>
      <p:sp>
        <p:nvSpPr>
          <p:cNvPr id="14" name="Shape 12"/>
          <p:cNvSpPr/>
          <p:nvPr/>
        </p:nvSpPr>
        <p:spPr>
          <a:xfrm>
            <a:off x="384048" y="3602736"/>
            <a:ext cx="109728" cy="201168"/>
          </a:xfrm>
          <a:prstGeom prst="rect">
            <a:avLst/>
          </a:prstGeom>
          <a:solidFill>
            <a:srgbClr val="E05C5C"/>
          </a:solidFill>
          <a:ln w="12700">
            <a:solidFill>
              <a:srgbClr val="E05C5C"/>
            </a:solidFill>
            <a:prstDash val="solid"/>
          </a:ln>
        </p:spPr>
      </p:sp>
      <p:sp>
        <p:nvSpPr>
          <p:cNvPr id="15" name="Text 13"/>
          <p:cNvSpPr/>
          <p:nvPr/>
        </p:nvSpPr>
        <p:spPr>
          <a:xfrm>
            <a:off x="603504" y="3566160"/>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Patron découvre le rayon vide quand le client demande</a:t>
            </a:r>
            <a:endParaRPr lang="en-US" sz="1350" dirty="0"/>
          </a:p>
        </p:txBody>
      </p:sp>
      <p:sp>
        <p:nvSpPr>
          <p:cNvPr id="16" name="Shape 14"/>
          <p:cNvSpPr/>
          <p:nvPr/>
        </p:nvSpPr>
        <p:spPr>
          <a:xfrm>
            <a:off x="384048" y="4407408"/>
            <a:ext cx="109728" cy="201168"/>
          </a:xfrm>
          <a:prstGeom prst="rect">
            <a:avLst/>
          </a:prstGeom>
          <a:solidFill>
            <a:srgbClr val="E05C5C"/>
          </a:solidFill>
          <a:ln w="12700">
            <a:solidFill>
              <a:srgbClr val="E05C5C"/>
            </a:solidFill>
            <a:prstDash val="solid"/>
          </a:ln>
        </p:spPr>
      </p:sp>
      <p:sp>
        <p:nvSpPr>
          <p:cNvPr id="17" name="Text 15"/>
          <p:cNvSpPr/>
          <p:nvPr/>
        </p:nvSpPr>
        <p:spPr>
          <a:xfrm>
            <a:off x="603504" y="4370832"/>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Aucune trace de qui a déplacé quoi ou pourquoi</a:t>
            </a:r>
            <a:endParaRPr lang="en-US" sz="1350" dirty="0"/>
          </a:p>
        </p:txBody>
      </p:sp>
      <p:sp>
        <p:nvSpPr>
          <p:cNvPr id="18" name="Shape 16"/>
          <p:cNvSpPr/>
          <p:nvPr/>
        </p:nvSpPr>
        <p:spPr>
          <a:xfrm>
            <a:off x="384048" y="5212080"/>
            <a:ext cx="109728" cy="201168"/>
          </a:xfrm>
          <a:prstGeom prst="rect">
            <a:avLst/>
          </a:prstGeom>
          <a:solidFill>
            <a:srgbClr val="E05C5C"/>
          </a:solidFill>
          <a:ln w="12700">
            <a:solidFill>
              <a:srgbClr val="E05C5C"/>
            </a:solidFill>
            <a:prstDash val="solid"/>
          </a:ln>
        </p:spPr>
      </p:sp>
      <p:sp>
        <p:nvSpPr>
          <p:cNvPr id="19" name="Text 17"/>
          <p:cNvSpPr/>
          <p:nvPr/>
        </p:nvSpPr>
        <p:spPr>
          <a:xfrm>
            <a:off x="603504" y="5175504"/>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Réapprovisionnement basé sur la mémoire et l'instinct</a:t>
            </a:r>
            <a:endParaRPr lang="en-US" sz="1350" dirty="0"/>
          </a:p>
        </p:txBody>
      </p:sp>
      <p:sp>
        <p:nvSpPr>
          <p:cNvPr id="20" name="Text 18"/>
          <p:cNvSpPr/>
          <p:nvPr/>
        </p:nvSpPr>
        <p:spPr>
          <a:xfrm>
            <a:off x="5806440" y="3474720"/>
            <a:ext cx="548640" cy="640080"/>
          </a:xfrm>
          <a:prstGeom prst="rect">
            <a:avLst/>
          </a:prstGeom>
          <a:noFill/>
          <a:ln/>
        </p:spPr>
        <p:txBody>
          <a:bodyPr wrap="square" rtlCol="0" anchor="ctr"/>
          <a:lstStyle/>
          <a:p>
            <a:pPr indent="0" marL="0">
              <a:buNone/>
            </a:pPr>
            <a:r>
              <a:rPr lang="en-US" sz="3600" b="1" dirty="0">
                <a:solidFill>
                  <a:srgbClr val="4A90D9"/>
                </a:solidFill>
                <a:latin typeface="Calibri" pitchFamily="34" charset="0"/>
                <a:ea typeface="Calibri" pitchFamily="34" charset="-122"/>
                <a:cs typeface="Calibri" pitchFamily="34" charset="-120"/>
              </a:rPr>
              <a:t>›</a:t>
            </a:r>
            <a:endParaRPr lang="en-US" sz="3600" dirty="0"/>
          </a:p>
        </p:txBody>
      </p:sp>
      <p:sp>
        <p:nvSpPr>
          <p:cNvPr id="21" name="Shape 19"/>
          <p:cNvSpPr/>
          <p:nvPr/>
        </p:nvSpPr>
        <p:spPr>
          <a:xfrm>
            <a:off x="6565392" y="1353312"/>
            <a:ext cx="5394960" cy="5138928"/>
          </a:xfrm>
          <a:prstGeom prst="roundRect">
            <a:avLst>
              <a:gd name="adj" fmla="val 1246"/>
            </a:avLst>
          </a:prstGeom>
          <a:solidFill>
            <a:srgbClr val="081A0D"/>
          </a:solidFill>
          <a:ln w="19050">
            <a:solidFill>
              <a:srgbClr val="3CB879"/>
            </a:solidFill>
            <a:prstDash val="solid"/>
          </a:ln>
        </p:spPr>
      </p:sp>
      <p:sp>
        <p:nvSpPr>
          <p:cNvPr id="22" name="Shape 20"/>
          <p:cNvSpPr/>
          <p:nvPr/>
        </p:nvSpPr>
        <p:spPr>
          <a:xfrm>
            <a:off x="6565392" y="1353312"/>
            <a:ext cx="5394960" cy="457200"/>
          </a:xfrm>
          <a:prstGeom prst="roundRect">
            <a:avLst>
              <a:gd name="adj" fmla="val 14000"/>
            </a:avLst>
          </a:prstGeom>
          <a:solidFill>
            <a:srgbClr val="3CB879">
              <a:alpha val="80000"/>
            </a:srgbClr>
          </a:solidFill>
          <a:ln w="12700">
            <a:solidFill>
              <a:srgbClr val="3CB879"/>
            </a:solidFill>
            <a:prstDash val="solid"/>
          </a:ln>
        </p:spPr>
      </p:sp>
      <p:sp>
        <p:nvSpPr>
          <p:cNvPr id="23" name="Text 21"/>
          <p:cNvSpPr/>
          <p:nvPr/>
        </p:nvSpPr>
        <p:spPr>
          <a:xfrm>
            <a:off x="6693408" y="1417320"/>
            <a:ext cx="5120640" cy="347472"/>
          </a:xfrm>
          <a:prstGeom prst="rect">
            <a:avLst/>
          </a:prstGeom>
          <a:noFill/>
          <a:ln/>
        </p:spPr>
        <p:txBody>
          <a:bodyPr wrap="square"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APRÈS</a:t>
            </a:r>
            <a:endParaRPr lang="en-US" sz="1400" dirty="0"/>
          </a:p>
        </p:txBody>
      </p:sp>
      <p:sp>
        <p:nvSpPr>
          <p:cNvPr id="24" name="Shape 22"/>
          <p:cNvSpPr/>
          <p:nvPr/>
        </p:nvSpPr>
        <p:spPr>
          <a:xfrm>
            <a:off x="6720840" y="1993392"/>
            <a:ext cx="109728" cy="201168"/>
          </a:xfrm>
          <a:prstGeom prst="rect">
            <a:avLst/>
          </a:prstGeom>
          <a:solidFill>
            <a:srgbClr val="3CB879"/>
          </a:solidFill>
          <a:ln w="12700">
            <a:solidFill>
              <a:srgbClr val="3CB879"/>
            </a:solidFill>
            <a:prstDash val="solid"/>
          </a:ln>
        </p:spPr>
      </p:sp>
      <p:sp>
        <p:nvSpPr>
          <p:cNvPr id="25" name="Text 23"/>
          <p:cNvSpPr/>
          <p:nvPr/>
        </p:nvSpPr>
        <p:spPr>
          <a:xfrm>
            <a:off x="6940296" y="1956816"/>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Chaque vente met à jour le stock en temps réel — zéro travail manuel</a:t>
            </a:r>
            <a:endParaRPr lang="en-US" sz="1350" dirty="0"/>
          </a:p>
        </p:txBody>
      </p:sp>
      <p:sp>
        <p:nvSpPr>
          <p:cNvPr id="26" name="Shape 24"/>
          <p:cNvSpPr/>
          <p:nvPr/>
        </p:nvSpPr>
        <p:spPr>
          <a:xfrm>
            <a:off x="6720840" y="2798064"/>
            <a:ext cx="109728" cy="201168"/>
          </a:xfrm>
          <a:prstGeom prst="rect">
            <a:avLst/>
          </a:prstGeom>
          <a:solidFill>
            <a:srgbClr val="3CB879"/>
          </a:solidFill>
          <a:ln w="12700">
            <a:solidFill>
              <a:srgbClr val="3CB879"/>
            </a:solidFill>
            <a:prstDash val="solid"/>
          </a:ln>
        </p:spPr>
      </p:sp>
      <p:sp>
        <p:nvSpPr>
          <p:cNvPr id="27" name="Text 25"/>
          <p:cNvSpPr/>
          <p:nvPr/>
        </p:nvSpPr>
        <p:spPr>
          <a:xfrm>
            <a:off x="6940296" y="2761488"/>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Dates d'expiration dans le système, alerte automatique 5 jours avant</a:t>
            </a:r>
            <a:endParaRPr lang="en-US" sz="1350" dirty="0"/>
          </a:p>
        </p:txBody>
      </p:sp>
      <p:sp>
        <p:nvSpPr>
          <p:cNvPr id="28" name="Shape 26"/>
          <p:cNvSpPr/>
          <p:nvPr/>
        </p:nvSpPr>
        <p:spPr>
          <a:xfrm>
            <a:off x="6720840" y="3602736"/>
            <a:ext cx="109728" cy="201168"/>
          </a:xfrm>
          <a:prstGeom prst="rect">
            <a:avLst/>
          </a:prstGeom>
          <a:solidFill>
            <a:srgbClr val="3CB879"/>
          </a:solidFill>
          <a:ln w="12700">
            <a:solidFill>
              <a:srgbClr val="3CB879"/>
            </a:solidFill>
            <a:prstDash val="solid"/>
          </a:ln>
        </p:spPr>
      </p:sp>
      <p:sp>
        <p:nvSpPr>
          <p:cNvPr id="29" name="Text 27"/>
          <p:cNvSpPr/>
          <p:nvPr/>
        </p:nvSpPr>
        <p:spPr>
          <a:xfrm>
            <a:off x="6940296" y="3566160"/>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Le patron reçoit un e-mail avant que le rayon ne soit vide</a:t>
            </a:r>
            <a:endParaRPr lang="en-US" sz="1350" dirty="0"/>
          </a:p>
        </p:txBody>
      </p:sp>
      <p:sp>
        <p:nvSpPr>
          <p:cNvPr id="30" name="Shape 28"/>
          <p:cNvSpPr/>
          <p:nvPr/>
        </p:nvSpPr>
        <p:spPr>
          <a:xfrm>
            <a:off x="6720840" y="4407408"/>
            <a:ext cx="109728" cy="201168"/>
          </a:xfrm>
          <a:prstGeom prst="rect">
            <a:avLst/>
          </a:prstGeom>
          <a:solidFill>
            <a:srgbClr val="3CB879"/>
          </a:solidFill>
          <a:ln w="12700">
            <a:solidFill>
              <a:srgbClr val="3CB879"/>
            </a:solidFill>
            <a:prstDash val="solid"/>
          </a:ln>
        </p:spPr>
      </p:sp>
      <p:sp>
        <p:nvSpPr>
          <p:cNvPr id="31" name="Text 29"/>
          <p:cNvSpPr/>
          <p:nvPr/>
        </p:nvSpPr>
        <p:spPr>
          <a:xfrm>
            <a:off x="6940296" y="4370832"/>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Historique complet : qui, quoi, quand, pourquoi</a:t>
            </a:r>
            <a:endParaRPr lang="en-US" sz="1350" dirty="0"/>
          </a:p>
        </p:txBody>
      </p:sp>
      <p:sp>
        <p:nvSpPr>
          <p:cNvPr id="32" name="Shape 30"/>
          <p:cNvSpPr/>
          <p:nvPr/>
        </p:nvSpPr>
        <p:spPr>
          <a:xfrm>
            <a:off x="6720840" y="5212080"/>
            <a:ext cx="109728" cy="201168"/>
          </a:xfrm>
          <a:prstGeom prst="rect">
            <a:avLst/>
          </a:prstGeom>
          <a:solidFill>
            <a:srgbClr val="3CB879"/>
          </a:solidFill>
          <a:ln w="12700">
            <a:solidFill>
              <a:srgbClr val="3CB879"/>
            </a:solidFill>
            <a:prstDash val="solid"/>
          </a:ln>
        </p:spPr>
      </p:sp>
      <p:sp>
        <p:nvSpPr>
          <p:cNvPr id="33" name="Text 31"/>
          <p:cNvSpPr/>
          <p:nvPr/>
        </p:nvSpPr>
        <p:spPr>
          <a:xfrm>
            <a:off x="6940296" y="5175504"/>
            <a:ext cx="4846320" cy="658368"/>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Décisions de réapprovisionnement basées sur des données réelles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7B68EE"/>
          </a:solidFill>
          <a:ln w="12700">
            <a:solidFill>
              <a:srgbClr val="7B68EE"/>
            </a:solidFill>
            <a:prstDash val="solid"/>
          </a:ln>
        </p:spPr>
      </p:sp>
      <p:sp>
        <p:nvSpPr>
          <p:cNvPr id="3" name="Text 1"/>
          <p:cNvSpPr/>
          <p:nvPr/>
        </p:nvSpPr>
        <p:spPr>
          <a:xfrm>
            <a:off x="228600" y="164592"/>
            <a:ext cx="3657600" cy="256032"/>
          </a:xfrm>
          <a:prstGeom prst="rect">
            <a:avLst/>
          </a:prstGeom>
          <a:noFill/>
          <a:ln/>
        </p:spPr>
        <p:txBody>
          <a:bodyPr wrap="square" rtlCol="0" anchor="ctr"/>
          <a:lstStyle/>
          <a:p>
            <a:pPr indent="0" marL="0">
              <a:buNone/>
            </a:pPr>
            <a:r>
              <a:rPr lang="en-US" sz="900" b="1" spc="200" kern="0" dirty="0">
                <a:solidFill>
                  <a:srgbClr val="7B68EE"/>
                </a:solidFill>
                <a:latin typeface="Calibri" pitchFamily="34" charset="0"/>
                <a:ea typeface="Calibri" pitchFamily="34" charset="-122"/>
                <a:cs typeface="Calibri" pitchFamily="34" charset="-120"/>
              </a:rPr>
              <a:t>RETOUR D'EXPÉRIENCE</a:t>
            </a:r>
            <a:endParaRPr lang="en-US" sz="900" dirty="0"/>
          </a:p>
        </p:txBody>
      </p:sp>
      <p:sp>
        <p:nvSpPr>
          <p:cNvPr id="4" name="Text 2"/>
          <p:cNvSpPr/>
          <p:nvPr/>
        </p:nvSpPr>
        <p:spPr>
          <a:xfrm>
            <a:off x="228600" y="475488"/>
            <a:ext cx="11704320" cy="65836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Ce que Nous Avons Appris</a:t>
            </a:r>
            <a:endParaRPr lang="en-US" sz="2600" dirty="0"/>
          </a:p>
        </p:txBody>
      </p:sp>
      <p:sp>
        <p:nvSpPr>
          <p:cNvPr id="5" name="Shape 3"/>
          <p:cNvSpPr/>
          <p:nvPr/>
        </p:nvSpPr>
        <p:spPr>
          <a:xfrm>
            <a:off x="228600" y="1216152"/>
            <a:ext cx="11704320" cy="22860"/>
          </a:xfrm>
          <a:prstGeom prst="rect">
            <a:avLst/>
          </a:prstGeom>
          <a:solidFill>
            <a:srgbClr val="7B68EE"/>
          </a:solidFill>
          <a:ln w="12700">
            <a:solidFill>
              <a:srgbClr val="7B68EE"/>
            </a:solidFill>
            <a:prstDash val="solid"/>
          </a:ln>
        </p:spPr>
      </p:sp>
      <p:sp>
        <p:nvSpPr>
          <p:cNvPr id="6" name="Text 4"/>
          <p:cNvSpPr/>
          <p:nvPr/>
        </p:nvSpPr>
        <p:spPr>
          <a:xfrm>
            <a:off x="11430000" y="6492240"/>
            <a:ext cx="640080" cy="256032"/>
          </a:xfrm>
          <a:prstGeom prst="rect">
            <a:avLst/>
          </a:prstGeom>
          <a:noFill/>
          <a:ln/>
        </p:spPr>
        <p:txBody>
          <a:bodyPr wrap="square" rtlCol="0" anchor="ctr"/>
          <a:lstStyle/>
          <a:p>
            <a:pPr algn="r" indent="0" marL="0">
              <a:buNone/>
            </a:pPr>
            <a:r>
              <a:rPr lang="en-US" sz="900" dirty="0">
                <a:solidFill>
                  <a:srgbClr val="5B7A99"/>
                </a:solidFill>
                <a:latin typeface="Calibri" pitchFamily="34" charset="0"/>
                <a:ea typeface="Calibri" pitchFamily="34" charset="-122"/>
                <a:cs typeface="Calibri" pitchFamily="34" charset="-120"/>
              </a:rPr>
              <a:t>11 / 12</a:t>
            </a:r>
            <a:endParaRPr lang="en-US" sz="900" dirty="0"/>
          </a:p>
        </p:txBody>
      </p:sp>
      <p:sp>
        <p:nvSpPr>
          <p:cNvPr id="7" name="Shape 5"/>
          <p:cNvSpPr/>
          <p:nvPr/>
        </p:nvSpPr>
        <p:spPr>
          <a:xfrm>
            <a:off x="228600" y="1353312"/>
            <a:ext cx="11686032" cy="1508760"/>
          </a:xfrm>
          <a:prstGeom prst="roundRect">
            <a:avLst>
              <a:gd name="adj" fmla="val 4242"/>
            </a:avLst>
          </a:prstGeom>
          <a:solidFill>
            <a:srgbClr val="112236"/>
          </a:solidFill>
          <a:ln w="19050">
            <a:solidFill>
              <a:srgbClr val="4A90D9"/>
            </a:solidFill>
            <a:prstDash val="solid"/>
          </a:ln>
        </p:spPr>
      </p:sp>
      <p:sp>
        <p:nvSpPr>
          <p:cNvPr id="8" name="Shape 6"/>
          <p:cNvSpPr/>
          <p:nvPr/>
        </p:nvSpPr>
        <p:spPr>
          <a:xfrm>
            <a:off x="347472" y="1517904"/>
            <a:ext cx="713232" cy="713232"/>
          </a:xfrm>
          <a:prstGeom prst="ellipse">
            <a:avLst/>
          </a:prstGeom>
          <a:solidFill>
            <a:srgbClr val="4A90D9">
              <a:alpha val="82000"/>
            </a:srgbClr>
          </a:solidFill>
          <a:ln w="12700">
            <a:solidFill>
              <a:srgbClr val="4A90D9"/>
            </a:solidFill>
            <a:prstDash val="solid"/>
          </a:ln>
        </p:spPr>
      </p:sp>
      <p:sp>
        <p:nvSpPr>
          <p:cNvPr id="9" name="Text 7"/>
          <p:cNvSpPr/>
          <p:nvPr/>
        </p:nvSpPr>
        <p:spPr>
          <a:xfrm>
            <a:off x="347472" y="1517904"/>
            <a:ext cx="713232" cy="713232"/>
          </a:xfrm>
          <a:prstGeom prst="rect">
            <a:avLst/>
          </a:prstGeom>
          <a:noFill/>
          <a:ln/>
        </p:spPr>
        <p:txBody>
          <a:bodyPr wrap="square" rtlCol="0" anchor="ctr"/>
          <a:lstStyle/>
          <a:p>
            <a:pPr algn="ctr" indent="0" marL="0">
              <a:buNone/>
            </a:pPr>
            <a:r>
              <a:rPr lang="en-US" sz="1700" b="1" dirty="0">
                <a:solidFill>
                  <a:srgbClr val="4A90D9"/>
                </a:solidFill>
                <a:latin typeface="Calibri" pitchFamily="34" charset="0"/>
                <a:ea typeface="Calibri" pitchFamily="34" charset="-122"/>
                <a:cs typeface="Calibri" pitchFamily="34" charset="-120"/>
              </a:rPr>
              <a:t>01</a:t>
            </a:r>
            <a:endParaRPr lang="en-US" sz="1700" dirty="0"/>
          </a:p>
        </p:txBody>
      </p:sp>
      <p:sp>
        <p:nvSpPr>
          <p:cNvPr id="10" name="Text 8"/>
          <p:cNvSpPr/>
          <p:nvPr/>
        </p:nvSpPr>
        <p:spPr>
          <a:xfrm>
            <a:off x="1207008" y="1472184"/>
            <a:ext cx="8869680" cy="38404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découplage paye immédiatement, pas seulement "un jour"</a:t>
            </a:r>
            <a:endParaRPr lang="en-US" sz="1350" dirty="0"/>
          </a:p>
        </p:txBody>
      </p:sp>
      <p:sp>
        <p:nvSpPr>
          <p:cNvPr id="11" name="Shape 9"/>
          <p:cNvSpPr/>
          <p:nvPr/>
        </p:nvSpPr>
        <p:spPr>
          <a:xfrm>
            <a:off x="10195560" y="1499616"/>
            <a:ext cx="1600200" cy="256032"/>
          </a:xfrm>
          <a:prstGeom prst="roundRect">
            <a:avLst>
              <a:gd name="adj" fmla="val 21429"/>
            </a:avLst>
          </a:prstGeom>
          <a:solidFill>
            <a:srgbClr val="1A2E48"/>
          </a:solidFill>
          <a:ln w="12700">
            <a:solidFill>
              <a:srgbClr val="1A2E48"/>
            </a:solidFill>
            <a:prstDash val="solid"/>
          </a:ln>
        </p:spPr>
      </p:sp>
      <p:sp>
        <p:nvSpPr>
          <p:cNvPr id="12" name="Text 10"/>
          <p:cNvSpPr/>
          <p:nvPr/>
        </p:nvSpPr>
        <p:spPr>
          <a:xfrm>
            <a:off x="10195560" y="1499616"/>
            <a:ext cx="1600200" cy="256032"/>
          </a:xfrm>
          <a:prstGeom prst="rect">
            <a:avLst/>
          </a:prstGeom>
          <a:noFill/>
          <a:ln/>
        </p:spPr>
        <p:txBody>
          <a:bodyPr wrap="square" rtlCol="0" anchor="ctr"/>
          <a:lstStyle/>
          <a:p>
            <a:pPr algn="ctr" indent="0" marL="0">
              <a:buNone/>
            </a:pPr>
            <a:r>
              <a:rPr lang="en-US" sz="900" b="1" dirty="0">
                <a:solidFill>
                  <a:srgbClr val="4A90D9"/>
                </a:solidFill>
                <a:latin typeface="Calibri" pitchFamily="34" charset="0"/>
                <a:ea typeface="Calibri" pitchFamily="34" charset="-122"/>
                <a:cs typeface="Calibri" pitchFamily="34" charset="-120"/>
              </a:rPr>
              <a:t>BAAKKA Monssfe</a:t>
            </a:r>
            <a:endParaRPr lang="en-US" sz="900" dirty="0"/>
          </a:p>
        </p:txBody>
      </p:sp>
      <p:sp>
        <p:nvSpPr>
          <p:cNvPr id="13" name="Shape 11"/>
          <p:cNvSpPr/>
          <p:nvPr/>
        </p:nvSpPr>
        <p:spPr>
          <a:xfrm>
            <a:off x="1207008" y="1920240"/>
            <a:ext cx="10515600" cy="18288"/>
          </a:xfrm>
          <a:prstGeom prst="rect">
            <a:avLst/>
          </a:prstGeom>
          <a:solidFill>
            <a:srgbClr val="4A90D9">
              <a:alpha val="35000"/>
            </a:srgbClr>
          </a:solidFill>
          <a:ln w="12700">
            <a:solidFill>
              <a:srgbClr val="4A90D9">
                <a:alpha val="35000"/>
              </a:srgbClr>
            </a:solidFill>
            <a:prstDash val="solid"/>
          </a:ln>
        </p:spPr>
      </p:sp>
      <p:sp>
        <p:nvSpPr>
          <p:cNvPr id="14" name="Text 12"/>
          <p:cNvSpPr/>
          <p:nvPr/>
        </p:nvSpPr>
        <p:spPr>
          <a:xfrm>
            <a:off x="1207008" y="2020824"/>
            <a:ext cx="10515600" cy="777240"/>
          </a:xfrm>
          <a:prstGeom prst="rect">
            <a:avLst/>
          </a:prstGeom>
          <a:noFill/>
          <a:ln/>
        </p:spPr>
        <p:txBody>
          <a:bodyPr wrap="square" rtlCol="0" anchor="t"/>
          <a:lstStyle/>
          <a:p>
            <a:pPr indent="0" marL="0">
              <a:buNone/>
            </a:pPr>
            <a:r>
              <a:rPr lang="en-US" sz="1200" dirty="0">
                <a:solidFill>
                  <a:srgbClr val="8BA3BE"/>
                </a:solidFill>
                <a:latin typeface="Calibri" pitchFamily="34" charset="0"/>
                <a:ea typeface="Calibri" pitchFamily="34" charset="-122"/>
                <a:cs typeface="Calibri" pitchFamily="34" charset="-120"/>
              </a:rPr>
              <a:t>Le patron ALERTS_PORT semblait du sur-engineering au départ. Mais quand il a fallu tester le service inventaire sans créer de vraies alertes, l'interface était déjà là. Le découplage ne simplifie pas l'avenir — il simplifie aujourd'hui.</a:t>
            </a:r>
            <a:endParaRPr lang="en-US" sz="1200" dirty="0"/>
          </a:p>
        </p:txBody>
      </p:sp>
      <p:sp>
        <p:nvSpPr>
          <p:cNvPr id="15" name="Shape 13"/>
          <p:cNvSpPr/>
          <p:nvPr/>
        </p:nvSpPr>
        <p:spPr>
          <a:xfrm>
            <a:off x="228600" y="3017520"/>
            <a:ext cx="11686032" cy="1508760"/>
          </a:xfrm>
          <a:prstGeom prst="roundRect">
            <a:avLst>
              <a:gd name="adj" fmla="val 4242"/>
            </a:avLst>
          </a:prstGeom>
          <a:solidFill>
            <a:srgbClr val="112236"/>
          </a:solidFill>
          <a:ln w="19050">
            <a:solidFill>
              <a:srgbClr val="F0A500"/>
            </a:solidFill>
            <a:prstDash val="solid"/>
          </a:ln>
        </p:spPr>
      </p:sp>
      <p:sp>
        <p:nvSpPr>
          <p:cNvPr id="16" name="Shape 14"/>
          <p:cNvSpPr/>
          <p:nvPr/>
        </p:nvSpPr>
        <p:spPr>
          <a:xfrm>
            <a:off x="347472" y="3182112"/>
            <a:ext cx="713232" cy="713232"/>
          </a:xfrm>
          <a:prstGeom prst="ellipse">
            <a:avLst/>
          </a:prstGeom>
          <a:solidFill>
            <a:srgbClr val="F0A500">
              <a:alpha val="82000"/>
            </a:srgbClr>
          </a:solidFill>
          <a:ln w="12700">
            <a:solidFill>
              <a:srgbClr val="F0A500"/>
            </a:solidFill>
            <a:prstDash val="solid"/>
          </a:ln>
        </p:spPr>
      </p:sp>
      <p:sp>
        <p:nvSpPr>
          <p:cNvPr id="17" name="Text 15"/>
          <p:cNvSpPr/>
          <p:nvPr/>
        </p:nvSpPr>
        <p:spPr>
          <a:xfrm>
            <a:off x="347472" y="3182112"/>
            <a:ext cx="713232" cy="713232"/>
          </a:xfrm>
          <a:prstGeom prst="rect">
            <a:avLst/>
          </a:prstGeom>
          <a:noFill/>
          <a:ln/>
        </p:spPr>
        <p:txBody>
          <a:bodyPr wrap="square" rtlCol="0" anchor="ctr"/>
          <a:lstStyle/>
          <a:p>
            <a:pPr algn="ctr" indent="0" marL="0">
              <a:buNone/>
            </a:pPr>
            <a:r>
              <a:rPr lang="en-US" sz="1700" b="1" dirty="0">
                <a:solidFill>
                  <a:srgbClr val="F0A500"/>
                </a:solidFill>
                <a:latin typeface="Calibri" pitchFamily="34" charset="0"/>
                <a:ea typeface="Calibri" pitchFamily="34" charset="-122"/>
                <a:cs typeface="Calibri" pitchFamily="34" charset="-120"/>
              </a:rPr>
              <a:t>02</a:t>
            </a:r>
            <a:endParaRPr lang="en-US" sz="1700" dirty="0"/>
          </a:p>
        </p:txBody>
      </p:sp>
      <p:sp>
        <p:nvSpPr>
          <p:cNvPr id="18" name="Text 16"/>
          <p:cNvSpPr/>
          <p:nvPr/>
        </p:nvSpPr>
        <p:spPr>
          <a:xfrm>
            <a:off x="1207008" y="3136392"/>
            <a:ext cx="8869680" cy="38404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Les transactions sont le moyen le plus simple d'acheter de la cohérence</a:t>
            </a:r>
            <a:endParaRPr lang="en-US" sz="1350" dirty="0"/>
          </a:p>
        </p:txBody>
      </p:sp>
      <p:sp>
        <p:nvSpPr>
          <p:cNvPr id="19" name="Shape 17"/>
          <p:cNvSpPr/>
          <p:nvPr/>
        </p:nvSpPr>
        <p:spPr>
          <a:xfrm>
            <a:off x="10195560" y="3163824"/>
            <a:ext cx="1600200" cy="256032"/>
          </a:xfrm>
          <a:prstGeom prst="roundRect">
            <a:avLst>
              <a:gd name="adj" fmla="val 21429"/>
            </a:avLst>
          </a:prstGeom>
          <a:solidFill>
            <a:srgbClr val="1A2E48"/>
          </a:solidFill>
          <a:ln w="12700">
            <a:solidFill>
              <a:srgbClr val="1A2E48"/>
            </a:solidFill>
            <a:prstDash val="solid"/>
          </a:ln>
        </p:spPr>
      </p:sp>
      <p:sp>
        <p:nvSpPr>
          <p:cNvPr id="20" name="Text 18"/>
          <p:cNvSpPr/>
          <p:nvPr/>
        </p:nvSpPr>
        <p:spPr>
          <a:xfrm>
            <a:off x="10195560" y="3163824"/>
            <a:ext cx="1600200" cy="256032"/>
          </a:xfrm>
          <a:prstGeom prst="rect">
            <a:avLst/>
          </a:prstGeom>
          <a:noFill/>
          <a:ln/>
        </p:spPr>
        <p:txBody>
          <a:bodyPr wrap="square" rtlCol="0" anchor="ctr"/>
          <a:lstStyle/>
          <a:p>
            <a:pPr algn="ctr" indent="0" marL="0">
              <a:buNone/>
            </a:pPr>
            <a:r>
              <a:rPr lang="en-US" sz="900" b="1" dirty="0">
                <a:solidFill>
                  <a:srgbClr val="F0A500"/>
                </a:solidFill>
                <a:latin typeface="Calibri" pitchFamily="34" charset="0"/>
                <a:ea typeface="Calibri" pitchFamily="34" charset="-122"/>
                <a:cs typeface="Calibri" pitchFamily="34" charset="-120"/>
              </a:rPr>
              <a:t>BAGHDAD Mohamed</a:t>
            </a:r>
            <a:endParaRPr lang="en-US" sz="900" dirty="0"/>
          </a:p>
        </p:txBody>
      </p:sp>
      <p:sp>
        <p:nvSpPr>
          <p:cNvPr id="21" name="Shape 19"/>
          <p:cNvSpPr/>
          <p:nvPr/>
        </p:nvSpPr>
        <p:spPr>
          <a:xfrm>
            <a:off x="1207008" y="3584448"/>
            <a:ext cx="10515600" cy="18288"/>
          </a:xfrm>
          <a:prstGeom prst="rect">
            <a:avLst/>
          </a:prstGeom>
          <a:solidFill>
            <a:srgbClr val="F0A500">
              <a:alpha val="35000"/>
            </a:srgbClr>
          </a:solidFill>
          <a:ln w="12700">
            <a:solidFill>
              <a:srgbClr val="F0A500">
                <a:alpha val="35000"/>
              </a:srgbClr>
            </a:solidFill>
            <a:prstDash val="solid"/>
          </a:ln>
        </p:spPr>
      </p:sp>
      <p:sp>
        <p:nvSpPr>
          <p:cNvPr id="22" name="Text 20"/>
          <p:cNvSpPr/>
          <p:nvPr/>
        </p:nvSpPr>
        <p:spPr>
          <a:xfrm>
            <a:off x="1207008" y="3685032"/>
            <a:ext cx="10515600" cy="777240"/>
          </a:xfrm>
          <a:prstGeom prst="rect">
            <a:avLst/>
          </a:prstGeom>
          <a:noFill/>
          <a:ln/>
        </p:spPr>
        <p:txBody>
          <a:bodyPr wrap="square" rtlCol="0" anchor="t"/>
          <a:lstStyle/>
          <a:p>
            <a:pPr indent="0" marL="0">
              <a:buNone/>
            </a:pPr>
            <a:r>
              <a:rPr lang="en-US" sz="1200" dirty="0">
                <a:solidFill>
                  <a:srgbClr val="8BA3BE"/>
                </a:solidFill>
                <a:latin typeface="Calibri" pitchFamily="34" charset="0"/>
                <a:ea typeface="Calibri" pitchFamily="34" charset="-122"/>
                <a:cs typeface="Calibri" pitchFamily="34" charset="-120"/>
              </a:rPr>
              <a:t>Envelopper mise à jour stock + mouvement + audit log + alerte dans une transaction Prisma n'a presque rien coûté en complexité de code. L'alternative — compenser les échecs partiels — aurait été bien plus difficile. En cas de doute, utiliser une transaction.</a:t>
            </a:r>
            <a:endParaRPr lang="en-US" sz="1200" dirty="0"/>
          </a:p>
        </p:txBody>
      </p:sp>
      <p:sp>
        <p:nvSpPr>
          <p:cNvPr id="23" name="Shape 21"/>
          <p:cNvSpPr/>
          <p:nvPr/>
        </p:nvSpPr>
        <p:spPr>
          <a:xfrm>
            <a:off x="228600" y="4681728"/>
            <a:ext cx="11686032" cy="1508760"/>
          </a:xfrm>
          <a:prstGeom prst="roundRect">
            <a:avLst>
              <a:gd name="adj" fmla="val 4242"/>
            </a:avLst>
          </a:prstGeom>
          <a:solidFill>
            <a:srgbClr val="112236"/>
          </a:solidFill>
          <a:ln w="19050">
            <a:solidFill>
              <a:srgbClr val="3CB879"/>
            </a:solidFill>
            <a:prstDash val="solid"/>
          </a:ln>
        </p:spPr>
      </p:sp>
      <p:sp>
        <p:nvSpPr>
          <p:cNvPr id="24" name="Shape 22"/>
          <p:cNvSpPr/>
          <p:nvPr/>
        </p:nvSpPr>
        <p:spPr>
          <a:xfrm>
            <a:off x="347472" y="4846320"/>
            <a:ext cx="713232" cy="713232"/>
          </a:xfrm>
          <a:prstGeom prst="ellipse">
            <a:avLst/>
          </a:prstGeom>
          <a:solidFill>
            <a:srgbClr val="3CB879">
              <a:alpha val="82000"/>
            </a:srgbClr>
          </a:solidFill>
          <a:ln w="12700">
            <a:solidFill>
              <a:srgbClr val="3CB879"/>
            </a:solidFill>
            <a:prstDash val="solid"/>
          </a:ln>
        </p:spPr>
      </p:sp>
      <p:sp>
        <p:nvSpPr>
          <p:cNvPr id="25" name="Text 23"/>
          <p:cNvSpPr/>
          <p:nvPr/>
        </p:nvSpPr>
        <p:spPr>
          <a:xfrm>
            <a:off x="347472" y="4846320"/>
            <a:ext cx="713232" cy="713232"/>
          </a:xfrm>
          <a:prstGeom prst="rect">
            <a:avLst/>
          </a:prstGeom>
          <a:noFill/>
          <a:ln/>
        </p:spPr>
        <p:txBody>
          <a:bodyPr wrap="square" rtlCol="0" anchor="ctr"/>
          <a:lstStyle/>
          <a:p>
            <a:pPr algn="ctr" indent="0" marL="0">
              <a:buNone/>
            </a:pPr>
            <a:r>
              <a:rPr lang="en-US" sz="1700" b="1" dirty="0">
                <a:solidFill>
                  <a:srgbClr val="3CB879"/>
                </a:solidFill>
                <a:latin typeface="Calibri" pitchFamily="34" charset="0"/>
                <a:ea typeface="Calibri" pitchFamily="34" charset="-122"/>
                <a:cs typeface="Calibri" pitchFamily="34" charset="-120"/>
              </a:rPr>
              <a:t>03</a:t>
            </a:r>
            <a:endParaRPr lang="en-US" sz="1700" dirty="0"/>
          </a:p>
        </p:txBody>
      </p:sp>
      <p:sp>
        <p:nvSpPr>
          <p:cNvPr id="26" name="Text 24"/>
          <p:cNvSpPr/>
          <p:nvPr/>
        </p:nvSpPr>
        <p:spPr>
          <a:xfrm>
            <a:off x="1207008" y="4800600"/>
            <a:ext cx="8869680" cy="38404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polling simple bat le temps réel complexe pour ce cas d'usage</a:t>
            </a:r>
            <a:endParaRPr lang="en-US" sz="1350" dirty="0"/>
          </a:p>
        </p:txBody>
      </p:sp>
      <p:sp>
        <p:nvSpPr>
          <p:cNvPr id="27" name="Shape 25"/>
          <p:cNvSpPr/>
          <p:nvPr/>
        </p:nvSpPr>
        <p:spPr>
          <a:xfrm>
            <a:off x="10195560" y="4828032"/>
            <a:ext cx="1600200" cy="256032"/>
          </a:xfrm>
          <a:prstGeom prst="roundRect">
            <a:avLst>
              <a:gd name="adj" fmla="val 21429"/>
            </a:avLst>
          </a:prstGeom>
          <a:solidFill>
            <a:srgbClr val="1A2E48"/>
          </a:solidFill>
          <a:ln w="12700">
            <a:solidFill>
              <a:srgbClr val="1A2E48"/>
            </a:solidFill>
            <a:prstDash val="solid"/>
          </a:ln>
        </p:spPr>
      </p:sp>
      <p:sp>
        <p:nvSpPr>
          <p:cNvPr id="28" name="Text 26"/>
          <p:cNvSpPr/>
          <p:nvPr/>
        </p:nvSpPr>
        <p:spPr>
          <a:xfrm>
            <a:off x="10195560" y="4828032"/>
            <a:ext cx="1600200" cy="256032"/>
          </a:xfrm>
          <a:prstGeom prst="rect">
            <a:avLst/>
          </a:prstGeom>
          <a:noFill/>
          <a:ln/>
        </p:spPr>
        <p:txBody>
          <a:bodyPr wrap="square" rtlCol="0" anchor="ctr"/>
          <a:lstStyle/>
          <a:p>
            <a:pPr algn="ctr" indent="0" marL="0">
              <a:buNone/>
            </a:pPr>
            <a:r>
              <a:rPr lang="en-US" sz="900" b="1" dirty="0">
                <a:solidFill>
                  <a:srgbClr val="3CB879"/>
                </a:solidFill>
                <a:latin typeface="Calibri" pitchFamily="34" charset="0"/>
                <a:ea typeface="Calibri" pitchFamily="34" charset="-122"/>
                <a:cs typeface="Calibri" pitchFamily="34" charset="-120"/>
              </a:rPr>
              <a:t>BAGHDAD Mohamed &amp; BAAKKA Monssfe</a:t>
            </a:r>
            <a:endParaRPr lang="en-US" sz="900" dirty="0"/>
          </a:p>
        </p:txBody>
      </p:sp>
      <p:sp>
        <p:nvSpPr>
          <p:cNvPr id="29" name="Shape 27"/>
          <p:cNvSpPr/>
          <p:nvPr/>
        </p:nvSpPr>
        <p:spPr>
          <a:xfrm>
            <a:off x="1207008" y="5248656"/>
            <a:ext cx="10515600" cy="18288"/>
          </a:xfrm>
          <a:prstGeom prst="rect">
            <a:avLst/>
          </a:prstGeom>
          <a:solidFill>
            <a:srgbClr val="3CB879">
              <a:alpha val="35000"/>
            </a:srgbClr>
          </a:solidFill>
          <a:ln w="12700">
            <a:solidFill>
              <a:srgbClr val="3CB879">
                <a:alpha val="35000"/>
              </a:srgbClr>
            </a:solidFill>
            <a:prstDash val="solid"/>
          </a:ln>
        </p:spPr>
      </p:sp>
      <p:sp>
        <p:nvSpPr>
          <p:cNvPr id="30" name="Text 28"/>
          <p:cNvSpPr/>
          <p:nvPr/>
        </p:nvSpPr>
        <p:spPr>
          <a:xfrm>
            <a:off x="1207008" y="5349240"/>
            <a:ext cx="10515600" cy="777240"/>
          </a:xfrm>
          <a:prstGeom prst="rect">
            <a:avLst/>
          </a:prstGeom>
          <a:noFill/>
          <a:ln/>
        </p:spPr>
        <p:txBody>
          <a:bodyPr wrap="square" rtlCol="0" anchor="t"/>
          <a:lstStyle/>
          <a:p>
            <a:pPr indent="0" marL="0">
              <a:buNone/>
            </a:pPr>
            <a:r>
              <a:rPr lang="en-US" sz="1200" dirty="0">
                <a:solidFill>
                  <a:srgbClr val="8BA3BE"/>
                </a:solidFill>
                <a:latin typeface="Calibri" pitchFamily="34" charset="0"/>
                <a:ea typeface="Calibri" pitchFamily="34" charset="-122"/>
                <a:cs typeface="Calibri" pitchFamily="34" charset="-120"/>
              </a:rPr>
              <a:t>Nous avons envisagé les WebSockets pour les alertes en direct. Nous avons choisi le polling toutes les 30 secondes. Plus simple, fonctionne derrière n'importe quel proxy, survit au sommeil des onglets. Résoudre le vrai problème utilisateur, pas l'idéal théorique.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2E6DB4"/>
          </a:solidFill>
          <a:ln w="12700">
            <a:solidFill>
              <a:srgbClr val="2E6DB4"/>
            </a:solidFill>
            <a:prstDash val="solid"/>
          </a:ln>
        </p:spPr>
      </p:sp>
      <p:sp>
        <p:nvSpPr>
          <p:cNvPr id="3" name="Shape 1"/>
          <p:cNvSpPr/>
          <p:nvPr/>
        </p:nvSpPr>
        <p:spPr>
          <a:xfrm>
            <a:off x="-1828800" y="3200400"/>
            <a:ext cx="6400800" cy="6400800"/>
          </a:xfrm>
          <a:prstGeom prst="ellipse">
            <a:avLst/>
          </a:prstGeom>
          <a:solidFill>
            <a:srgbClr val="4A90D9">
              <a:alpha val="8000"/>
            </a:srgbClr>
          </a:solidFill>
          <a:ln w="12700">
            <a:solidFill>
              <a:srgbClr val="4A90D9">
                <a:alpha val="20000"/>
              </a:srgbClr>
            </a:solidFill>
            <a:prstDash val="solid"/>
          </a:ln>
        </p:spPr>
      </p:sp>
      <p:sp>
        <p:nvSpPr>
          <p:cNvPr id="4" name="Shape 2"/>
          <p:cNvSpPr/>
          <p:nvPr/>
        </p:nvSpPr>
        <p:spPr>
          <a:xfrm>
            <a:off x="8686800" y="-1828800"/>
            <a:ext cx="5486400" cy="5486400"/>
          </a:xfrm>
          <a:prstGeom prst="ellipse">
            <a:avLst/>
          </a:prstGeom>
          <a:solidFill>
            <a:srgbClr val="7B68EE">
              <a:alpha val="10000"/>
            </a:srgbClr>
          </a:solidFill>
          <a:ln w="12700">
            <a:solidFill>
              <a:srgbClr val="7B68EE">
                <a:alpha val="20000"/>
              </a:srgbClr>
            </a:solidFill>
            <a:prstDash val="solid"/>
          </a:ln>
        </p:spPr>
      </p:sp>
      <p:sp>
        <p:nvSpPr>
          <p:cNvPr id="5" name="Text 3"/>
          <p:cNvSpPr/>
          <p:nvPr/>
        </p:nvSpPr>
        <p:spPr>
          <a:xfrm>
            <a:off x="749808" y="822960"/>
            <a:ext cx="10515600" cy="137160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Merci</a:t>
            </a:r>
            <a:endParaRPr lang="en-US" sz="7200" dirty="0"/>
          </a:p>
        </p:txBody>
      </p:sp>
      <p:sp>
        <p:nvSpPr>
          <p:cNvPr id="6" name="Shape 4"/>
          <p:cNvSpPr/>
          <p:nvPr/>
        </p:nvSpPr>
        <p:spPr>
          <a:xfrm>
            <a:off x="749808" y="2286000"/>
            <a:ext cx="5943600" cy="36576"/>
          </a:xfrm>
          <a:prstGeom prst="rect">
            <a:avLst/>
          </a:prstGeom>
          <a:solidFill>
            <a:srgbClr val="4A90D9"/>
          </a:solidFill>
          <a:ln w="12700">
            <a:solidFill>
              <a:srgbClr val="4A90D9"/>
            </a:solidFill>
            <a:prstDash val="solid"/>
          </a:ln>
        </p:spPr>
      </p:sp>
      <p:sp>
        <p:nvSpPr>
          <p:cNvPr id="7" name="Text 5"/>
          <p:cNvSpPr/>
          <p:nvPr/>
        </p:nvSpPr>
        <p:spPr>
          <a:xfrm>
            <a:off x="749808" y="2423160"/>
            <a:ext cx="10515600" cy="594360"/>
          </a:xfrm>
          <a:prstGeom prst="rect">
            <a:avLst/>
          </a:prstGeom>
          <a:noFill/>
          <a:ln/>
        </p:spPr>
        <p:txBody>
          <a:bodyPr wrap="square" rtlCol="0" anchor="ctr"/>
          <a:lstStyle/>
          <a:p>
            <a:pPr indent="0" marL="0">
              <a:buNone/>
            </a:pPr>
            <a:r>
              <a:rPr lang="en-US" sz="2200" b="1" dirty="0">
                <a:solidFill>
                  <a:srgbClr val="4A90D9"/>
                </a:solidFill>
                <a:latin typeface="Calibri" pitchFamily="34" charset="0"/>
                <a:ea typeface="Calibri" pitchFamily="34" charset="-122"/>
                <a:cs typeface="Calibri" pitchFamily="34" charset="-120"/>
              </a:rPr>
              <a:t>Questions &amp; Discussion</a:t>
            </a:r>
            <a:endParaRPr lang="en-US" sz="2200" dirty="0"/>
          </a:p>
        </p:txBody>
      </p:sp>
      <p:sp>
        <p:nvSpPr>
          <p:cNvPr id="8" name="Text 6"/>
          <p:cNvSpPr/>
          <p:nvPr/>
        </p:nvSpPr>
        <p:spPr>
          <a:xfrm>
            <a:off x="749808" y="3154680"/>
            <a:ext cx="3657600" cy="292608"/>
          </a:xfrm>
          <a:prstGeom prst="rect">
            <a:avLst/>
          </a:prstGeom>
          <a:noFill/>
          <a:ln/>
        </p:spPr>
        <p:txBody>
          <a:bodyPr wrap="square" rtlCol="0" anchor="ctr"/>
          <a:lstStyle/>
          <a:p>
            <a:pPr indent="0" marL="0">
              <a:buNone/>
            </a:pPr>
            <a:r>
              <a:rPr lang="en-US" sz="1100" dirty="0">
                <a:solidFill>
                  <a:srgbClr val="8BA3BE"/>
                </a:solidFill>
                <a:latin typeface="Calibri" pitchFamily="34" charset="0"/>
                <a:ea typeface="Calibri" pitchFamily="34" charset="-122"/>
                <a:cs typeface="Calibri" pitchFamily="34" charset="-120"/>
              </a:rPr>
              <a:t>Réalisé par</a:t>
            </a:r>
            <a:endParaRPr lang="en-US" sz="1100" dirty="0"/>
          </a:p>
        </p:txBody>
      </p:sp>
      <p:sp>
        <p:nvSpPr>
          <p:cNvPr id="9" name="Text 7"/>
          <p:cNvSpPr/>
          <p:nvPr/>
        </p:nvSpPr>
        <p:spPr>
          <a:xfrm>
            <a:off x="749808" y="3474720"/>
            <a:ext cx="91440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BAGHDAD Mohamed  ·  BAAKKA Monssfe</a:t>
            </a:r>
            <a:endParaRPr lang="en-US" sz="2000" dirty="0"/>
          </a:p>
        </p:txBody>
      </p:sp>
      <p:sp>
        <p:nvSpPr>
          <p:cNvPr id="10" name="Shape 8"/>
          <p:cNvSpPr/>
          <p:nvPr/>
        </p:nvSpPr>
        <p:spPr>
          <a:xfrm>
            <a:off x="749808" y="4160520"/>
            <a:ext cx="2724912" cy="1481328"/>
          </a:xfrm>
          <a:prstGeom prst="roundRect">
            <a:avLst>
              <a:gd name="adj" fmla="val 4321"/>
            </a:avLst>
          </a:prstGeom>
          <a:solidFill>
            <a:srgbClr val="112236"/>
          </a:solidFill>
          <a:ln w="19050">
            <a:solidFill>
              <a:srgbClr val="4A90D9"/>
            </a:solidFill>
            <a:prstDash val="solid"/>
          </a:ln>
        </p:spPr>
      </p:sp>
      <p:sp>
        <p:nvSpPr>
          <p:cNvPr id="11" name="Shape 9"/>
          <p:cNvSpPr/>
          <p:nvPr/>
        </p:nvSpPr>
        <p:spPr>
          <a:xfrm>
            <a:off x="749808" y="4160520"/>
            <a:ext cx="2724912" cy="320040"/>
          </a:xfrm>
          <a:prstGeom prst="rect">
            <a:avLst/>
          </a:prstGeom>
          <a:solidFill>
            <a:srgbClr val="4A90D9">
              <a:alpha val="80000"/>
            </a:srgbClr>
          </a:solidFill>
          <a:ln w="12700">
            <a:solidFill>
              <a:srgbClr val="4A90D9"/>
            </a:solidFill>
            <a:prstDash val="solid"/>
          </a:ln>
        </p:spPr>
      </p:sp>
      <p:sp>
        <p:nvSpPr>
          <p:cNvPr id="12" name="Text 10"/>
          <p:cNvSpPr/>
          <p:nvPr/>
        </p:nvSpPr>
        <p:spPr>
          <a:xfrm>
            <a:off x="859536" y="4187952"/>
            <a:ext cx="2505456"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Inventaire</a:t>
            </a:r>
            <a:endParaRPr lang="en-US" sz="1100" dirty="0"/>
          </a:p>
        </p:txBody>
      </p:sp>
      <p:sp>
        <p:nvSpPr>
          <p:cNvPr id="13" name="Text 11"/>
          <p:cNvSpPr/>
          <p:nvPr/>
        </p:nvSpPr>
        <p:spPr>
          <a:xfrm>
            <a:off x="859536" y="4590288"/>
            <a:ext cx="2505456" cy="96012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Chaque unité tracée — entrées, sorties, ajustements</a:t>
            </a:r>
            <a:endParaRPr lang="en-US" sz="1200" dirty="0"/>
          </a:p>
        </p:txBody>
      </p:sp>
      <p:sp>
        <p:nvSpPr>
          <p:cNvPr id="14" name="Shape 12"/>
          <p:cNvSpPr/>
          <p:nvPr/>
        </p:nvSpPr>
        <p:spPr>
          <a:xfrm>
            <a:off x="3602736" y="4160520"/>
            <a:ext cx="2724912" cy="1481328"/>
          </a:xfrm>
          <a:prstGeom prst="roundRect">
            <a:avLst>
              <a:gd name="adj" fmla="val 4321"/>
            </a:avLst>
          </a:prstGeom>
          <a:solidFill>
            <a:srgbClr val="112236"/>
          </a:solidFill>
          <a:ln w="19050">
            <a:solidFill>
              <a:srgbClr val="F0A500"/>
            </a:solidFill>
            <a:prstDash val="solid"/>
          </a:ln>
        </p:spPr>
      </p:sp>
      <p:sp>
        <p:nvSpPr>
          <p:cNvPr id="15" name="Shape 13"/>
          <p:cNvSpPr/>
          <p:nvPr/>
        </p:nvSpPr>
        <p:spPr>
          <a:xfrm>
            <a:off x="3602736" y="4160520"/>
            <a:ext cx="2724912" cy="320040"/>
          </a:xfrm>
          <a:prstGeom prst="rect">
            <a:avLst/>
          </a:prstGeom>
          <a:solidFill>
            <a:srgbClr val="F0A500">
              <a:alpha val="80000"/>
            </a:srgbClr>
          </a:solidFill>
          <a:ln w="12700">
            <a:solidFill>
              <a:srgbClr val="F0A500"/>
            </a:solidFill>
            <a:prstDash val="solid"/>
          </a:ln>
        </p:spPr>
      </p:sp>
      <p:sp>
        <p:nvSpPr>
          <p:cNvPr id="16" name="Text 14"/>
          <p:cNvSpPr/>
          <p:nvPr/>
        </p:nvSpPr>
        <p:spPr>
          <a:xfrm>
            <a:off x="3712464" y="4187952"/>
            <a:ext cx="2505456"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Alertes</a:t>
            </a:r>
            <a:endParaRPr lang="en-US" sz="1100" dirty="0"/>
          </a:p>
        </p:txBody>
      </p:sp>
      <p:sp>
        <p:nvSpPr>
          <p:cNvPr id="17" name="Text 15"/>
          <p:cNvSpPr/>
          <p:nvPr/>
        </p:nvSpPr>
        <p:spPr>
          <a:xfrm>
            <a:off x="3712464" y="4590288"/>
            <a:ext cx="2505456" cy="96012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Déclenchement automatique — aucune intervention humaine</a:t>
            </a:r>
            <a:endParaRPr lang="en-US" sz="1200" dirty="0"/>
          </a:p>
        </p:txBody>
      </p:sp>
      <p:sp>
        <p:nvSpPr>
          <p:cNvPr id="18" name="Shape 16"/>
          <p:cNvSpPr/>
          <p:nvPr/>
        </p:nvSpPr>
        <p:spPr>
          <a:xfrm>
            <a:off x="6455664" y="4160520"/>
            <a:ext cx="2724912" cy="1481328"/>
          </a:xfrm>
          <a:prstGeom prst="roundRect">
            <a:avLst>
              <a:gd name="adj" fmla="val 4321"/>
            </a:avLst>
          </a:prstGeom>
          <a:solidFill>
            <a:srgbClr val="112236"/>
          </a:solidFill>
          <a:ln w="19050">
            <a:solidFill>
              <a:srgbClr val="3CB879"/>
            </a:solidFill>
            <a:prstDash val="solid"/>
          </a:ln>
        </p:spPr>
      </p:sp>
      <p:sp>
        <p:nvSpPr>
          <p:cNvPr id="19" name="Shape 17"/>
          <p:cNvSpPr/>
          <p:nvPr/>
        </p:nvSpPr>
        <p:spPr>
          <a:xfrm>
            <a:off x="6455664" y="4160520"/>
            <a:ext cx="2724912" cy="320040"/>
          </a:xfrm>
          <a:prstGeom prst="rect">
            <a:avLst/>
          </a:prstGeom>
          <a:solidFill>
            <a:srgbClr val="3CB879">
              <a:alpha val="80000"/>
            </a:srgbClr>
          </a:solidFill>
          <a:ln w="12700">
            <a:solidFill>
              <a:srgbClr val="3CB879"/>
            </a:solidFill>
            <a:prstDash val="solid"/>
          </a:ln>
        </p:spPr>
      </p:sp>
      <p:sp>
        <p:nvSpPr>
          <p:cNvPr id="20" name="Text 18"/>
          <p:cNvSpPr/>
          <p:nvPr/>
        </p:nvSpPr>
        <p:spPr>
          <a:xfrm>
            <a:off x="6565392" y="4187952"/>
            <a:ext cx="2505456"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E-mail</a:t>
            </a:r>
            <a:endParaRPr lang="en-US" sz="1100" dirty="0"/>
          </a:p>
        </p:txBody>
      </p:sp>
      <p:sp>
        <p:nvSpPr>
          <p:cNvPr id="21" name="Text 19"/>
          <p:cNvSpPr/>
          <p:nvPr/>
        </p:nvSpPr>
        <p:spPr>
          <a:xfrm>
            <a:off x="6565392" y="4590288"/>
            <a:ext cx="2505456" cy="96012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Digest propriétaire toutes les 15 minutes si non consulté</a:t>
            </a:r>
            <a:endParaRPr lang="en-US" sz="1200" dirty="0"/>
          </a:p>
        </p:txBody>
      </p:sp>
      <p:sp>
        <p:nvSpPr>
          <p:cNvPr id="22" name="Shape 20"/>
          <p:cNvSpPr/>
          <p:nvPr/>
        </p:nvSpPr>
        <p:spPr>
          <a:xfrm>
            <a:off x="9308592" y="4160520"/>
            <a:ext cx="2724912" cy="1481328"/>
          </a:xfrm>
          <a:prstGeom prst="roundRect">
            <a:avLst>
              <a:gd name="adj" fmla="val 4321"/>
            </a:avLst>
          </a:prstGeom>
          <a:solidFill>
            <a:srgbClr val="112236"/>
          </a:solidFill>
          <a:ln w="19050">
            <a:solidFill>
              <a:srgbClr val="7B68EE"/>
            </a:solidFill>
            <a:prstDash val="solid"/>
          </a:ln>
        </p:spPr>
      </p:sp>
      <p:sp>
        <p:nvSpPr>
          <p:cNvPr id="23" name="Shape 21"/>
          <p:cNvSpPr/>
          <p:nvPr/>
        </p:nvSpPr>
        <p:spPr>
          <a:xfrm>
            <a:off x="9308592" y="4160520"/>
            <a:ext cx="2724912" cy="320040"/>
          </a:xfrm>
          <a:prstGeom prst="rect">
            <a:avLst/>
          </a:prstGeom>
          <a:solidFill>
            <a:srgbClr val="7B68EE">
              <a:alpha val="80000"/>
            </a:srgbClr>
          </a:solidFill>
          <a:ln w="12700">
            <a:solidFill>
              <a:srgbClr val="7B68EE"/>
            </a:solidFill>
            <a:prstDash val="solid"/>
          </a:ln>
        </p:spPr>
      </p:sp>
      <p:sp>
        <p:nvSpPr>
          <p:cNvPr id="24" name="Text 22"/>
          <p:cNvSpPr/>
          <p:nvPr/>
        </p:nvSpPr>
        <p:spPr>
          <a:xfrm>
            <a:off x="9418320" y="4187952"/>
            <a:ext cx="2505456"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Accès</a:t>
            </a:r>
            <a:endParaRPr lang="en-US" sz="1100" dirty="0"/>
          </a:p>
        </p:txBody>
      </p:sp>
      <p:sp>
        <p:nvSpPr>
          <p:cNvPr id="25" name="Text 23"/>
          <p:cNvSpPr/>
          <p:nvPr/>
        </p:nvSpPr>
        <p:spPr>
          <a:xfrm>
            <a:off x="9418320" y="4590288"/>
            <a:ext cx="2505456" cy="960120"/>
          </a:xfrm>
          <a:prstGeom prst="rect">
            <a:avLst/>
          </a:prstGeom>
          <a:noFill/>
          <a:ln/>
        </p:spPr>
        <p:txBody>
          <a:bodyPr wrap="square" rtlCol="0" anchor="t"/>
          <a:lstStyle/>
          <a:p>
            <a:pPr indent="0" marL="0">
              <a:buNone/>
            </a:pPr>
            <a:r>
              <a:rPr lang="en-US" sz="1200" dirty="0">
                <a:solidFill>
                  <a:srgbClr val="E8EEF6"/>
                </a:solidFill>
                <a:latin typeface="Calibri" pitchFamily="34" charset="0"/>
                <a:ea typeface="Calibri" pitchFamily="34" charset="-122"/>
                <a:cs typeface="Calibri" pitchFamily="34" charset="-120"/>
              </a:rPr>
              <a:t>Contrôle par rôle — caissier consulte, patron commande</a:t>
            </a:r>
            <a:endParaRPr lang="en-US" sz="1200" dirty="0"/>
          </a:p>
        </p:txBody>
      </p:sp>
      <p:sp>
        <p:nvSpPr>
          <p:cNvPr id="26" name="Text 24"/>
          <p:cNvSpPr/>
          <p:nvPr/>
        </p:nvSpPr>
        <p:spPr>
          <a:xfrm>
            <a:off x="749808" y="6309360"/>
            <a:ext cx="10972800" cy="320040"/>
          </a:xfrm>
          <a:prstGeom prst="rect">
            <a:avLst/>
          </a:prstGeom>
          <a:noFill/>
          <a:ln/>
        </p:spPr>
        <p:txBody>
          <a:bodyPr wrap="square" rtlCol="0" anchor="ctr"/>
          <a:lstStyle/>
          <a:p>
            <a:pPr indent="0" marL="0">
              <a:buNone/>
            </a:pPr>
            <a:r>
              <a:rPr lang="en-US" sz="1100" dirty="0">
                <a:solidFill>
                  <a:srgbClr val="5B7A99"/>
                </a:solidFill>
                <a:latin typeface="Calibri" pitchFamily="34" charset="0"/>
                <a:ea typeface="Calibri" pitchFamily="34" charset="-122"/>
                <a:cs typeface="Calibri" pitchFamily="34" charset="-120"/>
              </a:rPr>
              <a:t>NestJS  ·  Next.js  ·  PostgreSQL  ·  Prisma  ·  Redis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Moul Hanout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Moul Hanout — Système Inventaire &amp; Alertes</dc:title>
  <dc:subject>PptxGenJS Presentation</dc:subject>
  <dc:creator>BAGHDAD Mohamed &amp; BAAKKA Monssfe</dc:creator>
  <cp:lastModifiedBy>BAGHDAD Mohamed &amp; BAAKKA Monssfe</cp:lastModifiedBy>
  <cp:revision>1</cp:revision>
  <dcterms:created xsi:type="dcterms:W3CDTF">2026-05-18T11:42:21Z</dcterms:created>
  <dcterms:modified xsi:type="dcterms:W3CDTF">2026-05-18T11:42:21Z</dcterms:modified>
</cp:coreProperties>
</file>