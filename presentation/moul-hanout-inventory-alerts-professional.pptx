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033"/>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72033"/>
          </a:solidFill>
          <a:ln w="12700">
            <a:solidFill>
              <a:srgbClr val="172033"/>
            </a:solidFill>
            <a:prstDash val="solid"/>
          </a:ln>
        </p:spPr>
      </p:sp>
      <p:sp>
        <p:nvSpPr>
          <p:cNvPr id="3" name="Shape 1"/>
          <p:cNvSpPr/>
          <p:nvPr/>
        </p:nvSpPr>
        <p:spPr>
          <a:xfrm>
            <a:off x="585216" y="530352"/>
            <a:ext cx="128016" cy="5340096"/>
          </a:xfrm>
          <a:prstGeom prst="rect">
            <a:avLst/>
          </a:prstGeom>
          <a:solidFill>
            <a:srgbClr val="1F6B52"/>
          </a:solidFill>
          <a:ln w="12700">
            <a:solidFill>
              <a:srgbClr val="1F6B52"/>
            </a:solidFill>
            <a:prstDash val="solid"/>
          </a:ln>
        </p:spPr>
      </p:sp>
      <p:sp>
        <p:nvSpPr>
          <p:cNvPr id="4" name="Shape 2"/>
          <p:cNvSpPr/>
          <p:nvPr/>
        </p:nvSpPr>
        <p:spPr>
          <a:xfrm>
            <a:off x="8001000" y="841248"/>
            <a:ext cx="3346704" cy="5138928"/>
          </a:xfrm>
          <a:prstGeom prst="rect">
            <a:avLst/>
          </a:prstGeom>
          <a:solidFill>
            <a:srgbClr val="1E293B"/>
          </a:solidFill>
          <a:ln w="12700">
            <a:solidFill>
              <a:srgbClr val="314157"/>
            </a:solidFill>
            <a:prstDash val="solid"/>
          </a:ln>
        </p:spPr>
      </p:sp>
      <p:sp>
        <p:nvSpPr>
          <p:cNvPr id="5" name="Text 3"/>
          <p:cNvSpPr/>
          <p:nvPr/>
        </p:nvSpPr>
        <p:spPr>
          <a:xfrm>
            <a:off x="932688" y="658368"/>
            <a:ext cx="5303520" cy="201168"/>
          </a:xfrm>
          <a:prstGeom prst="rect">
            <a:avLst/>
          </a:prstGeom>
          <a:noFill/>
          <a:ln/>
        </p:spPr>
        <p:txBody>
          <a:bodyPr wrap="square" rtlCol="0" anchor="ctr"/>
          <a:lstStyle/>
          <a:p>
            <a:pPr indent="0" marL="0">
              <a:buNone/>
            </a:pPr>
            <a:r>
              <a:rPr lang="en-US" sz="850" b="1" spc="180" kern="0" dirty="0">
                <a:solidFill>
                  <a:srgbClr val="DCEEE6"/>
                </a:solidFill>
                <a:latin typeface="Aptos" pitchFamily="34" charset="0"/>
                <a:ea typeface="Aptos" pitchFamily="34" charset="-122"/>
                <a:cs typeface="Aptos" pitchFamily="34" charset="-120"/>
              </a:rPr>
              <a:t>TRANSFORMATION DIGITALE DU COMMERCE DE PROXIMITE</a:t>
            </a:r>
            <a:endParaRPr lang="en-US" sz="850" dirty="0"/>
          </a:p>
        </p:txBody>
      </p:sp>
      <p:sp>
        <p:nvSpPr>
          <p:cNvPr id="6" name="Text 4"/>
          <p:cNvSpPr/>
          <p:nvPr/>
        </p:nvSpPr>
        <p:spPr>
          <a:xfrm>
            <a:off x="932688" y="1097280"/>
            <a:ext cx="5120640" cy="777240"/>
          </a:xfrm>
          <a:prstGeom prst="rect">
            <a:avLst/>
          </a:prstGeom>
          <a:noFill/>
          <a:ln/>
        </p:spPr>
        <p:txBody>
          <a:bodyPr wrap="square" lIns="0" tIns="0" rIns="0" bIns="0" rtlCol="0" anchor="ctr"/>
          <a:lstStyle/>
          <a:p>
            <a:pPr indent="0" marL="0">
              <a:buNone/>
            </a:pPr>
            <a:r>
              <a:rPr lang="en-US" sz="3000" b="1" dirty="0">
                <a:solidFill>
                  <a:srgbClr val="FFFFFF"/>
                </a:solidFill>
                <a:latin typeface="Aptos Display" pitchFamily="34" charset="0"/>
                <a:ea typeface="Aptos Display" pitchFamily="34" charset="-122"/>
                <a:cs typeface="Aptos Display" pitchFamily="34" charset="-120"/>
              </a:rPr>
              <a:t>Moul Hanout</a:t>
            </a:r>
            <a:endParaRPr lang="en-US" sz="3000" dirty="0"/>
          </a:p>
        </p:txBody>
      </p:sp>
      <p:sp>
        <p:nvSpPr>
          <p:cNvPr id="7" name="Text 5"/>
          <p:cNvSpPr/>
          <p:nvPr/>
        </p:nvSpPr>
        <p:spPr>
          <a:xfrm>
            <a:off x="932688" y="1938528"/>
            <a:ext cx="5120640" cy="658368"/>
          </a:xfrm>
          <a:prstGeom prst="rect">
            <a:avLst/>
          </a:prstGeom>
          <a:noFill/>
          <a:ln/>
        </p:spPr>
        <p:txBody>
          <a:bodyPr wrap="square" lIns="0" tIns="0" rIns="0" bIns="0" rtlCol="0" anchor="ctr"/>
          <a:lstStyle/>
          <a:p>
            <a:pPr indent="0" marL="0">
              <a:buNone/>
            </a:pPr>
            <a:r>
              <a:rPr lang="en-US" sz="1400" dirty="0">
                <a:solidFill>
                  <a:srgbClr val="EEE7DA"/>
                </a:solidFill>
                <a:latin typeface="Aptos" pitchFamily="34" charset="0"/>
                <a:ea typeface="Aptos" pitchFamily="34" charset="-122"/>
                <a:cs typeface="Aptos" pitchFamily="34" charset="-120"/>
              </a:rPr>
              <a:t>Inventaire intelligent et alertes automatiques pour eliminer les ruptures silencieuses en epicerie.</a:t>
            </a:r>
            <a:endParaRPr lang="en-US" sz="1400" dirty="0"/>
          </a:p>
        </p:txBody>
      </p:sp>
      <p:sp>
        <p:nvSpPr>
          <p:cNvPr id="8" name="Shape 6"/>
          <p:cNvSpPr/>
          <p:nvPr/>
        </p:nvSpPr>
        <p:spPr>
          <a:xfrm>
            <a:off x="932688" y="2907792"/>
            <a:ext cx="6126480" cy="18288"/>
          </a:xfrm>
          <a:prstGeom prst="rect">
            <a:avLst/>
          </a:prstGeom>
          <a:solidFill>
            <a:srgbClr val="42516A"/>
          </a:solidFill>
          <a:ln w="12700">
            <a:solidFill>
              <a:srgbClr val="42516A"/>
            </a:solidFill>
            <a:prstDash val="solid"/>
          </a:ln>
        </p:spPr>
      </p:sp>
      <p:sp>
        <p:nvSpPr>
          <p:cNvPr id="9" name="Shape 7"/>
          <p:cNvSpPr/>
          <p:nvPr/>
        </p:nvSpPr>
        <p:spPr>
          <a:xfrm>
            <a:off x="932688" y="3182112"/>
            <a:ext cx="1783080" cy="1170432"/>
          </a:xfrm>
          <a:prstGeom prst="roundRect">
            <a:avLst>
              <a:gd name="adj" fmla="val 4688"/>
            </a:avLst>
          </a:prstGeom>
          <a:solidFill>
            <a:srgbClr val="FFFFFF"/>
          </a:solidFill>
          <a:ln w="12700">
            <a:solidFill>
              <a:srgbClr val="D8E0EA"/>
            </a:solidFill>
            <a:prstDash val="solid"/>
          </a:ln>
        </p:spPr>
      </p:sp>
      <p:sp>
        <p:nvSpPr>
          <p:cNvPr id="10" name="Shape 8"/>
          <p:cNvSpPr/>
          <p:nvPr/>
        </p:nvSpPr>
        <p:spPr>
          <a:xfrm>
            <a:off x="932688" y="3182112"/>
            <a:ext cx="73152" cy="1170432"/>
          </a:xfrm>
          <a:prstGeom prst="rect">
            <a:avLst/>
          </a:prstGeom>
          <a:solidFill>
            <a:srgbClr val="1F6B52"/>
          </a:solidFill>
          <a:ln w="12700">
            <a:solidFill>
              <a:srgbClr val="1F6B52"/>
            </a:solidFill>
            <a:prstDash val="solid"/>
          </a:ln>
        </p:spPr>
      </p:sp>
      <p:sp>
        <p:nvSpPr>
          <p:cNvPr id="11" name="Shape 9"/>
          <p:cNvSpPr/>
          <p:nvPr/>
        </p:nvSpPr>
        <p:spPr>
          <a:xfrm>
            <a:off x="1133856" y="3364992"/>
            <a:ext cx="384048" cy="219456"/>
          </a:xfrm>
          <a:prstGeom prst="roundRect">
            <a:avLst>
              <a:gd name="adj" fmla="val 12500"/>
            </a:avLst>
          </a:prstGeom>
          <a:solidFill>
            <a:srgbClr val="DCEEE6"/>
          </a:solidFill>
          <a:ln w="12700">
            <a:solidFill>
              <a:srgbClr val="DCEEE6"/>
            </a:solidFill>
            <a:prstDash val="solid"/>
          </a:ln>
        </p:spPr>
      </p:sp>
      <p:sp>
        <p:nvSpPr>
          <p:cNvPr id="12" name="Text 10"/>
          <p:cNvSpPr/>
          <p:nvPr/>
        </p:nvSpPr>
        <p:spPr>
          <a:xfrm>
            <a:off x="1645920" y="3328416"/>
            <a:ext cx="941832" cy="164592"/>
          </a:xfrm>
          <a:prstGeom prst="rect">
            <a:avLst/>
          </a:prstGeom>
          <a:noFill/>
          <a:ln/>
        </p:spPr>
        <p:txBody>
          <a:bodyPr wrap="square" rtlCol="0" anchor="ctr"/>
          <a:lstStyle/>
          <a:p>
            <a:pPr indent="0" marL="0">
              <a:buNone/>
            </a:pPr>
            <a:r>
              <a:rPr lang="en-US" sz="800" b="1" spc="100" kern="0" dirty="0">
                <a:solidFill>
                  <a:srgbClr val="64748B"/>
                </a:solidFill>
                <a:latin typeface="Aptos" pitchFamily="34" charset="0"/>
                <a:ea typeface="Aptos" pitchFamily="34" charset="-122"/>
                <a:cs typeface="Aptos" pitchFamily="34" charset="-120"/>
              </a:rPr>
              <a:t>PROBLEM</a:t>
            </a:r>
            <a:endParaRPr lang="en-US" sz="800" dirty="0"/>
          </a:p>
        </p:txBody>
      </p:sp>
      <p:sp>
        <p:nvSpPr>
          <p:cNvPr id="13" name="Text 11"/>
          <p:cNvSpPr/>
          <p:nvPr/>
        </p:nvSpPr>
        <p:spPr>
          <a:xfrm>
            <a:off x="1133856" y="3657600"/>
            <a:ext cx="1435608" cy="384048"/>
          </a:xfrm>
          <a:prstGeom prst="rect">
            <a:avLst/>
          </a:prstGeom>
          <a:noFill/>
          <a:ln/>
        </p:spPr>
        <p:txBody>
          <a:bodyPr wrap="square" lIns="0" tIns="0" rIns="0" bIns="0" rtlCol="0" anchor="ctr"/>
          <a:lstStyle/>
          <a:p>
            <a:pPr indent="0" marL="0">
              <a:buNone/>
            </a:pPr>
            <a:r>
              <a:rPr lang="en-US" sz="2000" b="1" dirty="0">
                <a:solidFill>
                  <a:srgbClr val="172033"/>
                </a:solidFill>
                <a:latin typeface="Aptos Display" pitchFamily="34" charset="0"/>
                <a:ea typeface="Aptos Display" pitchFamily="34" charset="-122"/>
                <a:cs typeface="Aptos Display" pitchFamily="34" charset="-120"/>
              </a:rPr>
              <a:t>Ruptures</a:t>
            </a:r>
            <a:endParaRPr lang="en-US" sz="2000" dirty="0"/>
          </a:p>
        </p:txBody>
      </p:sp>
      <p:sp>
        <p:nvSpPr>
          <p:cNvPr id="14" name="Shape 12"/>
          <p:cNvSpPr/>
          <p:nvPr/>
        </p:nvSpPr>
        <p:spPr>
          <a:xfrm>
            <a:off x="2880360" y="3182112"/>
            <a:ext cx="1783080" cy="1170432"/>
          </a:xfrm>
          <a:prstGeom prst="roundRect">
            <a:avLst>
              <a:gd name="adj" fmla="val 4688"/>
            </a:avLst>
          </a:prstGeom>
          <a:solidFill>
            <a:srgbClr val="FFFFFF"/>
          </a:solidFill>
          <a:ln w="12700">
            <a:solidFill>
              <a:srgbClr val="D8E0EA"/>
            </a:solidFill>
            <a:prstDash val="solid"/>
          </a:ln>
        </p:spPr>
      </p:sp>
      <p:sp>
        <p:nvSpPr>
          <p:cNvPr id="15" name="Shape 13"/>
          <p:cNvSpPr/>
          <p:nvPr/>
        </p:nvSpPr>
        <p:spPr>
          <a:xfrm>
            <a:off x="2880360" y="3182112"/>
            <a:ext cx="73152" cy="1170432"/>
          </a:xfrm>
          <a:prstGeom prst="rect">
            <a:avLst/>
          </a:prstGeom>
          <a:solidFill>
            <a:srgbClr val="1F6B52"/>
          </a:solidFill>
          <a:ln w="12700">
            <a:solidFill>
              <a:srgbClr val="1F6B52"/>
            </a:solidFill>
            <a:prstDash val="solid"/>
          </a:ln>
        </p:spPr>
      </p:sp>
      <p:sp>
        <p:nvSpPr>
          <p:cNvPr id="16" name="Shape 14"/>
          <p:cNvSpPr/>
          <p:nvPr/>
        </p:nvSpPr>
        <p:spPr>
          <a:xfrm>
            <a:off x="3081528" y="3364992"/>
            <a:ext cx="384048" cy="219456"/>
          </a:xfrm>
          <a:prstGeom prst="roundRect">
            <a:avLst>
              <a:gd name="adj" fmla="val 12500"/>
            </a:avLst>
          </a:prstGeom>
          <a:solidFill>
            <a:srgbClr val="DCEEE6"/>
          </a:solidFill>
          <a:ln w="12700">
            <a:solidFill>
              <a:srgbClr val="DCEEE6"/>
            </a:solidFill>
            <a:prstDash val="solid"/>
          </a:ln>
        </p:spPr>
      </p:sp>
      <p:sp>
        <p:nvSpPr>
          <p:cNvPr id="17" name="Text 15"/>
          <p:cNvSpPr/>
          <p:nvPr/>
        </p:nvSpPr>
        <p:spPr>
          <a:xfrm>
            <a:off x="3593592" y="3328416"/>
            <a:ext cx="941832" cy="164592"/>
          </a:xfrm>
          <a:prstGeom prst="rect">
            <a:avLst/>
          </a:prstGeom>
          <a:noFill/>
          <a:ln/>
        </p:spPr>
        <p:txBody>
          <a:bodyPr wrap="square" rtlCol="0" anchor="ctr"/>
          <a:lstStyle/>
          <a:p>
            <a:pPr indent="0" marL="0">
              <a:buNone/>
            </a:pPr>
            <a:r>
              <a:rPr lang="en-US" sz="800" b="1" spc="100" kern="0" dirty="0">
                <a:solidFill>
                  <a:srgbClr val="64748B"/>
                </a:solidFill>
                <a:latin typeface="Aptos" pitchFamily="34" charset="0"/>
                <a:ea typeface="Aptos" pitchFamily="34" charset="-122"/>
                <a:cs typeface="Aptos" pitchFamily="34" charset="-120"/>
              </a:rPr>
              <a:t>SYSTEME</a:t>
            </a:r>
            <a:endParaRPr lang="en-US" sz="800" dirty="0"/>
          </a:p>
        </p:txBody>
      </p:sp>
      <p:sp>
        <p:nvSpPr>
          <p:cNvPr id="18" name="Text 16"/>
          <p:cNvSpPr/>
          <p:nvPr/>
        </p:nvSpPr>
        <p:spPr>
          <a:xfrm>
            <a:off x="3081528" y="3657600"/>
            <a:ext cx="1435608" cy="384048"/>
          </a:xfrm>
          <a:prstGeom prst="rect">
            <a:avLst/>
          </a:prstGeom>
          <a:noFill/>
          <a:ln/>
        </p:spPr>
        <p:txBody>
          <a:bodyPr wrap="square" lIns="0" tIns="0" rIns="0" bIns="0" rtlCol="0" anchor="ctr"/>
          <a:lstStyle/>
          <a:p>
            <a:pPr indent="0" marL="0">
              <a:buNone/>
            </a:pPr>
            <a:r>
              <a:rPr lang="en-US" sz="2000" b="1" dirty="0">
                <a:solidFill>
                  <a:srgbClr val="172033"/>
                </a:solidFill>
                <a:latin typeface="Aptos Display" pitchFamily="34" charset="0"/>
                <a:ea typeface="Aptos Display" pitchFamily="34" charset="-122"/>
                <a:cs typeface="Aptos Display" pitchFamily="34" charset="-120"/>
              </a:rPr>
              <a:t>Temps reel</a:t>
            </a:r>
            <a:endParaRPr lang="en-US" sz="2000" dirty="0"/>
          </a:p>
        </p:txBody>
      </p:sp>
      <p:sp>
        <p:nvSpPr>
          <p:cNvPr id="19" name="Shape 17"/>
          <p:cNvSpPr/>
          <p:nvPr/>
        </p:nvSpPr>
        <p:spPr>
          <a:xfrm>
            <a:off x="4828032" y="3182112"/>
            <a:ext cx="1783080" cy="1170432"/>
          </a:xfrm>
          <a:prstGeom prst="roundRect">
            <a:avLst>
              <a:gd name="adj" fmla="val 4688"/>
            </a:avLst>
          </a:prstGeom>
          <a:solidFill>
            <a:srgbClr val="FFFFFF"/>
          </a:solidFill>
          <a:ln w="12700">
            <a:solidFill>
              <a:srgbClr val="D8E0EA"/>
            </a:solidFill>
            <a:prstDash val="solid"/>
          </a:ln>
        </p:spPr>
      </p:sp>
      <p:sp>
        <p:nvSpPr>
          <p:cNvPr id="20" name="Shape 18"/>
          <p:cNvSpPr/>
          <p:nvPr/>
        </p:nvSpPr>
        <p:spPr>
          <a:xfrm>
            <a:off x="4828032" y="3182112"/>
            <a:ext cx="73152" cy="1170432"/>
          </a:xfrm>
          <a:prstGeom prst="rect">
            <a:avLst/>
          </a:prstGeom>
          <a:solidFill>
            <a:srgbClr val="B7791F"/>
          </a:solidFill>
          <a:ln w="12700">
            <a:solidFill>
              <a:srgbClr val="B7791F"/>
            </a:solidFill>
            <a:prstDash val="solid"/>
          </a:ln>
        </p:spPr>
      </p:sp>
      <p:sp>
        <p:nvSpPr>
          <p:cNvPr id="21" name="Shape 19"/>
          <p:cNvSpPr/>
          <p:nvPr/>
        </p:nvSpPr>
        <p:spPr>
          <a:xfrm>
            <a:off x="5029200" y="3364992"/>
            <a:ext cx="384048" cy="219456"/>
          </a:xfrm>
          <a:prstGeom prst="roundRect">
            <a:avLst>
              <a:gd name="adj" fmla="val 12500"/>
            </a:avLst>
          </a:prstGeom>
          <a:solidFill>
            <a:srgbClr val="F6E7CB"/>
          </a:solidFill>
          <a:ln w="12700">
            <a:solidFill>
              <a:srgbClr val="F6E7CB"/>
            </a:solidFill>
            <a:prstDash val="solid"/>
          </a:ln>
        </p:spPr>
      </p:sp>
      <p:sp>
        <p:nvSpPr>
          <p:cNvPr id="22" name="Text 20"/>
          <p:cNvSpPr/>
          <p:nvPr/>
        </p:nvSpPr>
        <p:spPr>
          <a:xfrm>
            <a:off x="5541264" y="3328416"/>
            <a:ext cx="941832" cy="164592"/>
          </a:xfrm>
          <a:prstGeom prst="rect">
            <a:avLst/>
          </a:prstGeom>
          <a:noFill/>
          <a:ln/>
        </p:spPr>
        <p:txBody>
          <a:bodyPr wrap="square" rtlCol="0" anchor="ctr"/>
          <a:lstStyle/>
          <a:p>
            <a:pPr indent="0" marL="0">
              <a:buNone/>
            </a:pPr>
            <a:r>
              <a:rPr lang="en-US" sz="800" b="1" spc="100" kern="0" dirty="0">
                <a:solidFill>
                  <a:srgbClr val="64748B"/>
                </a:solidFill>
                <a:latin typeface="Aptos" pitchFamily="34" charset="0"/>
                <a:ea typeface="Aptos" pitchFamily="34" charset="-122"/>
                <a:cs typeface="Aptos" pitchFamily="34" charset="-120"/>
              </a:rPr>
              <a:t>ALERTE</a:t>
            </a:r>
            <a:endParaRPr lang="en-US" sz="800" dirty="0"/>
          </a:p>
        </p:txBody>
      </p:sp>
      <p:sp>
        <p:nvSpPr>
          <p:cNvPr id="23" name="Text 21"/>
          <p:cNvSpPr/>
          <p:nvPr/>
        </p:nvSpPr>
        <p:spPr>
          <a:xfrm>
            <a:off x="5029200" y="3657600"/>
            <a:ext cx="1435608" cy="384048"/>
          </a:xfrm>
          <a:prstGeom prst="rect">
            <a:avLst/>
          </a:prstGeom>
          <a:noFill/>
          <a:ln/>
        </p:spPr>
        <p:txBody>
          <a:bodyPr wrap="square" lIns="0" tIns="0" rIns="0" bIns="0" rtlCol="0" anchor="ctr"/>
          <a:lstStyle/>
          <a:p>
            <a:pPr indent="0" marL="0">
              <a:buNone/>
            </a:pPr>
            <a:r>
              <a:rPr lang="en-US" sz="2000" b="1" dirty="0">
                <a:solidFill>
                  <a:srgbClr val="172033"/>
                </a:solidFill>
                <a:latin typeface="Aptos Display" pitchFamily="34" charset="0"/>
                <a:ea typeface="Aptos Display" pitchFamily="34" charset="-122"/>
                <a:cs typeface="Aptos Display" pitchFamily="34" charset="-120"/>
              </a:rPr>
              <a:t>Automatique</a:t>
            </a:r>
            <a:endParaRPr lang="en-US" sz="2000" dirty="0"/>
          </a:p>
        </p:txBody>
      </p:sp>
      <p:sp>
        <p:nvSpPr>
          <p:cNvPr id="24" name="Text 22"/>
          <p:cNvSpPr/>
          <p:nvPr/>
        </p:nvSpPr>
        <p:spPr>
          <a:xfrm>
            <a:off x="932688" y="4754880"/>
            <a:ext cx="1280160" cy="182880"/>
          </a:xfrm>
          <a:prstGeom prst="rect">
            <a:avLst/>
          </a:prstGeom>
          <a:noFill/>
          <a:ln/>
        </p:spPr>
        <p:txBody>
          <a:bodyPr wrap="square" rtlCol="0" anchor="ctr"/>
          <a:lstStyle/>
          <a:p>
            <a:pPr indent="0" marL="0">
              <a:buNone/>
            </a:pPr>
            <a:r>
              <a:rPr lang="en-US" sz="850" b="1" spc="120" kern="0" dirty="0">
                <a:solidFill>
                  <a:srgbClr val="DCEEE6"/>
                </a:solidFill>
                <a:latin typeface="Aptos" pitchFamily="34" charset="0"/>
                <a:ea typeface="Aptos" pitchFamily="34" charset="-122"/>
                <a:cs typeface="Aptos" pitchFamily="34" charset="-120"/>
              </a:rPr>
              <a:t>Equipe projet</a:t>
            </a:r>
            <a:endParaRPr lang="en-US" sz="850" dirty="0"/>
          </a:p>
        </p:txBody>
      </p:sp>
      <p:sp>
        <p:nvSpPr>
          <p:cNvPr id="25" name="Text 23"/>
          <p:cNvSpPr/>
          <p:nvPr/>
        </p:nvSpPr>
        <p:spPr>
          <a:xfrm>
            <a:off x="932688" y="5010912"/>
            <a:ext cx="2926080" cy="566928"/>
          </a:xfrm>
          <a:prstGeom prst="rect">
            <a:avLst/>
          </a:prstGeom>
          <a:noFill/>
          <a:ln/>
        </p:spPr>
        <p:txBody>
          <a:bodyPr wrap="square" lIns="0" tIns="0" rIns="0" bIns="0" rtlCol="0" anchor="ctr"/>
          <a:lstStyle/>
          <a:p>
            <a:pPr indent="0" marL="0">
              <a:buNone/>
            </a:pPr>
            <a:r>
              <a:rPr lang="en-US" sz="1700" b="1" dirty="0">
                <a:solidFill>
                  <a:srgbClr val="FFFFFF"/>
                </a:solidFill>
                <a:latin typeface="Aptos Display" pitchFamily="34" charset="0"/>
                <a:ea typeface="Aptos Display" pitchFamily="34" charset="-122"/>
                <a:cs typeface="Aptos Display" pitchFamily="34" charset="-120"/>
              </a:rPr>
              <a:t>BAGHDAD Mohamed</a:t>
            </a:r>
            <a:endParaRPr lang="en-US" sz="1700" dirty="0"/>
          </a:p>
          <a:p>
            <a:pPr indent="0" marL="0">
              <a:buNone/>
            </a:pPr>
            <a:r>
              <a:rPr lang="en-US" sz="1700" b="1" dirty="0">
                <a:solidFill>
                  <a:srgbClr val="FFFFFF"/>
                </a:solidFill>
                <a:latin typeface="Aptos Display" pitchFamily="34" charset="0"/>
                <a:ea typeface="Aptos Display" pitchFamily="34" charset="-122"/>
                <a:cs typeface="Aptos Display" pitchFamily="34" charset="-120"/>
              </a:rPr>
              <a:t>BAAKKA Monssfe</a:t>
            </a:r>
            <a:endParaRPr lang="en-US" sz="1700" dirty="0"/>
          </a:p>
        </p:txBody>
      </p:sp>
      <p:sp>
        <p:nvSpPr>
          <p:cNvPr id="26" name="Text 24"/>
          <p:cNvSpPr/>
          <p:nvPr/>
        </p:nvSpPr>
        <p:spPr>
          <a:xfrm>
            <a:off x="8375904" y="1261872"/>
            <a:ext cx="2011680" cy="2560320"/>
          </a:xfrm>
          <a:prstGeom prst="rect">
            <a:avLst/>
          </a:prstGeom>
          <a:noFill/>
          <a:ln/>
        </p:spPr>
        <p:txBody>
          <a:bodyPr wrap="square" lIns="0" tIns="0" rIns="0" bIns="0" rtlCol="0" anchor="ctr"/>
          <a:lstStyle/>
          <a:p>
            <a:pPr indent="0" marL="0">
              <a:buNone/>
            </a:pPr>
            <a:r>
              <a:rPr lang="en-US" sz="1400" dirty="0">
                <a:solidFill>
                  <a:srgbClr val="FFFFFF"/>
                </a:solidFill>
                <a:latin typeface="Aptos" pitchFamily="34" charset="0"/>
                <a:ea typeface="Aptos" pitchFamily="34" charset="-122"/>
                <a:cs typeface="Aptos" pitchFamily="34" charset="-120"/>
              </a:rPr>
              <a:t>NestJS</a:t>
            </a:r>
            <a:endParaRPr lang="en-US" sz="1400" dirty="0"/>
          </a:p>
          <a:p>
            <a:pPr indent="0" marL="0">
              <a:buNone/>
            </a:pPr>
            <a:r>
              <a:rPr lang="en-US" sz="1400" dirty="0">
                <a:solidFill>
                  <a:srgbClr val="FFFFFF"/>
                </a:solidFill>
                <a:latin typeface="Aptos" pitchFamily="34" charset="0"/>
                <a:ea typeface="Aptos" pitchFamily="34" charset="-122"/>
                <a:cs typeface="Aptos" pitchFamily="34" charset="-120"/>
              </a:rPr>
              <a:t>Next.js</a:t>
            </a:r>
            <a:endParaRPr lang="en-US" sz="1400" dirty="0"/>
          </a:p>
          <a:p>
            <a:pPr indent="0" marL="0">
              <a:buNone/>
            </a:pPr>
            <a:r>
              <a:rPr lang="en-US" sz="1400" dirty="0">
                <a:solidFill>
                  <a:srgbClr val="FFFFFF"/>
                </a:solidFill>
                <a:latin typeface="Aptos" pitchFamily="34" charset="0"/>
                <a:ea typeface="Aptos" pitchFamily="34" charset="-122"/>
                <a:cs typeface="Aptos" pitchFamily="34" charset="-120"/>
              </a:rPr>
              <a:t>PostgreSQL + Prisma</a:t>
            </a:r>
            <a:endParaRPr lang="en-US" sz="1400" dirty="0"/>
          </a:p>
          <a:p>
            <a:pPr indent="0" marL="0">
              <a:buNone/>
            </a:pPr>
            <a:r>
              <a:rPr lang="en-US" sz="1400" dirty="0">
                <a:solidFill>
                  <a:srgbClr val="FFFFFF"/>
                </a:solidFill>
                <a:latin typeface="Aptos" pitchFamily="34" charset="0"/>
                <a:ea typeface="Aptos" pitchFamily="34" charset="-122"/>
                <a:cs typeface="Aptos" pitchFamily="34" charset="-120"/>
              </a:rPr>
              <a:t>Redis</a:t>
            </a:r>
            <a:endParaRPr lang="en-US" sz="1400" dirty="0"/>
          </a:p>
        </p:txBody>
      </p:sp>
      <p:sp>
        <p:nvSpPr>
          <p:cNvPr id="27" name="Text 25"/>
          <p:cNvSpPr/>
          <p:nvPr/>
        </p:nvSpPr>
        <p:spPr>
          <a:xfrm>
            <a:off x="8375904" y="4462272"/>
            <a:ext cx="2011680" cy="164592"/>
          </a:xfrm>
          <a:prstGeom prst="rect">
            <a:avLst/>
          </a:prstGeom>
          <a:noFill/>
          <a:ln/>
        </p:spPr>
        <p:txBody>
          <a:bodyPr wrap="square" rtlCol="0" anchor="ctr"/>
          <a:lstStyle/>
          <a:p>
            <a:pPr indent="0" marL="0">
              <a:buNone/>
            </a:pPr>
            <a:r>
              <a:rPr lang="en-US" sz="800" b="1" spc="120" kern="0" dirty="0">
                <a:solidFill>
                  <a:srgbClr val="EEE7DA"/>
                </a:solidFill>
                <a:latin typeface="Aptos" pitchFamily="34" charset="0"/>
                <a:ea typeface="Aptos" pitchFamily="34" charset="-122"/>
                <a:cs typeface="Aptos" pitchFamily="34" charset="-120"/>
              </a:rPr>
              <a:t>Architecture retenue</a:t>
            </a:r>
            <a:endParaRPr lang="en-US" sz="800" dirty="0"/>
          </a:p>
        </p:txBody>
      </p:sp>
      <p:sp>
        <p:nvSpPr>
          <p:cNvPr id="28" name="Text 26"/>
          <p:cNvSpPr/>
          <p:nvPr/>
        </p:nvSpPr>
        <p:spPr>
          <a:xfrm>
            <a:off x="8375904" y="4736592"/>
            <a:ext cx="2432304" cy="822960"/>
          </a:xfrm>
          <a:prstGeom prst="rect">
            <a:avLst/>
          </a:prstGeom>
          <a:noFill/>
          <a:ln/>
        </p:spPr>
        <p:txBody>
          <a:bodyPr wrap="square" lIns="0" tIns="0" rIns="0" bIns="0" rtlCol="0" anchor="ctr"/>
          <a:lstStyle/>
          <a:p>
            <a:pPr indent="0" marL="0">
              <a:buNone/>
            </a:pPr>
            <a:r>
              <a:rPr lang="en-US" sz="1050" dirty="0">
                <a:solidFill>
                  <a:srgbClr val="EEE7DA"/>
                </a:solidFill>
                <a:latin typeface="Aptos" pitchFamily="34" charset="0"/>
                <a:ea typeface="Aptos" pitchFamily="34" charset="-122"/>
                <a:cs typeface="Aptos" pitchFamily="34" charset="-120"/>
              </a:rPr>
              <a:t>Backend = source de verite</a:t>
            </a:r>
            <a:endParaRPr lang="en-US" sz="1050" dirty="0"/>
          </a:p>
          <a:p>
            <a:pPr indent="0" marL="0">
              <a:buNone/>
            </a:pPr>
            <a:r>
              <a:rPr lang="en-US" sz="1050" dirty="0">
                <a:solidFill>
                  <a:srgbClr val="EEE7DA"/>
                </a:solidFill>
                <a:latin typeface="Aptos" pitchFamily="34" charset="0"/>
                <a:ea typeface="Aptos" pitchFamily="34" charset="-122"/>
                <a:cs typeface="Aptos" pitchFamily="34" charset="-120"/>
              </a:rPr>
              <a:t>Frontend = couche de pilotage</a:t>
            </a:r>
            <a:endParaRPr lang="en-US" sz="1050" dirty="0"/>
          </a:p>
          <a:p>
            <a:pPr indent="0" marL="0">
              <a:buNone/>
            </a:pPr>
            <a:r>
              <a:rPr lang="en-US" sz="1050" dirty="0">
                <a:solidFill>
                  <a:srgbClr val="EEE7DA"/>
                </a:solidFill>
                <a:latin typeface="Aptos" pitchFamily="34" charset="0"/>
                <a:ea typeface="Aptos" pitchFamily="34" charset="-122"/>
                <a:cs typeface="Aptos" pitchFamily="34" charset="-120"/>
              </a:rPr>
              <a:t>Alertes = moteur de decision metier</a:t>
            </a:r>
            <a:endParaRPr lang="en-US" sz="1050" dirty="0"/>
          </a:p>
        </p:txBody>
      </p:sp>
      <p:sp>
        <p:nvSpPr>
          <p:cNvPr id="29" name="Text 27"/>
          <p:cNvSpPr/>
          <p:nvPr/>
        </p:nvSpPr>
        <p:spPr>
          <a:xfrm>
            <a:off x="11109960" y="6446520"/>
            <a:ext cx="640080" cy="182880"/>
          </a:xfrm>
          <a:prstGeom prst="rect">
            <a:avLst/>
          </a:prstGeom>
          <a:noFill/>
          <a:ln/>
        </p:spPr>
        <p:txBody>
          <a:bodyPr wrap="square" rtlCol="0" anchor="ctr"/>
          <a:lstStyle/>
          <a:p>
            <a:pPr algn="r" indent="0" marL="0">
              <a:buNone/>
            </a:pPr>
            <a:r>
              <a:rPr lang="en-US" sz="800" dirty="0">
                <a:solidFill>
                  <a:srgbClr val="EEE7DA"/>
                </a:solidFill>
                <a:latin typeface="Aptos" pitchFamily="34" charset="0"/>
                <a:ea typeface="Aptos" pitchFamily="34" charset="-122"/>
                <a:cs typeface="Aptos" pitchFamily="34" charset="-120"/>
              </a:rPr>
              <a:t>01 / 12</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5F1E8"/>
          </a:solidFill>
          <a:ln w="12700">
            <a:solidFill>
              <a:srgbClr val="F5F1E8">
                <a:alpha val="0"/>
              </a:srgbClr>
            </a:solidFill>
            <a:prstDash val="solid"/>
          </a:ln>
        </p:spPr>
      </p:sp>
      <p:sp>
        <p:nvSpPr>
          <p:cNvPr id="3" name="Shape 1"/>
          <p:cNvSpPr/>
          <p:nvPr/>
        </p:nvSpPr>
        <p:spPr>
          <a:xfrm>
            <a:off x="384048" y="347472"/>
            <a:ext cx="11420856" cy="18288"/>
          </a:xfrm>
          <a:prstGeom prst="rect">
            <a:avLst/>
          </a:prstGeom>
          <a:solidFill>
            <a:srgbClr val="D8E0EA"/>
          </a:solidFill>
          <a:ln w="12700">
            <a:solidFill>
              <a:srgbClr val="D8E0EA"/>
            </a:solidFill>
            <a:prstDash val="solid"/>
          </a:ln>
        </p:spPr>
      </p:sp>
      <p:sp>
        <p:nvSpPr>
          <p:cNvPr id="4" name="Text 2"/>
          <p:cNvSpPr/>
          <p:nvPr/>
        </p:nvSpPr>
        <p:spPr>
          <a:xfrm>
            <a:off x="512064" y="155448"/>
            <a:ext cx="2926080" cy="164592"/>
          </a:xfrm>
          <a:prstGeom prst="rect">
            <a:avLst/>
          </a:prstGeom>
          <a:noFill/>
          <a:ln/>
        </p:spPr>
        <p:txBody>
          <a:bodyPr wrap="square" rtlCol="0" anchor="ctr"/>
          <a:lstStyle/>
          <a:p>
            <a:pPr indent="0" marL="0">
              <a:buNone/>
            </a:pPr>
            <a:r>
              <a:rPr lang="en-US" sz="800" b="1" spc="160" kern="0" dirty="0">
                <a:solidFill>
                  <a:srgbClr val="1F6B52"/>
                </a:solidFill>
                <a:latin typeface="Aptos" pitchFamily="34" charset="0"/>
                <a:ea typeface="Aptos" pitchFamily="34" charset="-122"/>
                <a:cs typeface="Aptos" pitchFamily="34" charset="-120"/>
              </a:rPr>
              <a:t>CONTEXTE</a:t>
            </a:r>
            <a:endParaRPr lang="en-US" sz="800" dirty="0"/>
          </a:p>
        </p:txBody>
      </p:sp>
      <p:sp>
        <p:nvSpPr>
          <p:cNvPr id="5" name="Text 3"/>
          <p:cNvSpPr/>
          <p:nvPr/>
        </p:nvSpPr>
        <p:spPr>
          <a:xfrm>
            <a:off x="11109960" y="6446520"/>
            <a:ext cx="640080" cy="182880"/>
          </a:xfrm>
          <a:prstGeom prst="rect">
            <a:avLst/>
          </a:prstGeom>
          <a:noFill/>
          <a:ln/>
        </p:spPr>
        <p:txBody>
          <a:bodyPr wrap="square" rtlCol="0" anchor="ctr"/>
          <a:lstStyle/>
          <a:p>
            <a:pPr algn="r" indent="0" marL="0">
              <a:buNone/>
            </a:pPr>
            <a:r>
              <a:rPr lang="en-US" sz="800" dirty="0">
                <a:solidFill>
                  <a:srgbClr val="64748B"/>
                </a:solidFill>
                <a:latin typeface="Aptos" pitchFamily="34" charset="0"/>
                <a:ea typeface="Aptos" pitchFamily="34" charset="-122"/>
                <a:cs typeface="Aptos" pitchFamily="34" charset="-120"/>
              </a:rPr>
              <a:t>02 / 12</a:t>
            </a:r>
            <a:endParaRPr lang="en-US" sz="800" dirty="0"/>
          </a:p>
        </p:txBody>
      </p:sp>
      <p:sp>
        <p:nvSpPr>
          <p:cNvPr id="6" name="Text 4"/>
          <p:cNvSpPr/>
          <p:nvPr/>
        </p:nvSpPr>
        <p:spPr>
          <a:xfrm>
            <a:off x="512064" y="530352"/>
            <a:ext cx="7772400" cy="694944"/>
          </a:xfrm>
          <a:prstGeom prst="rect">
            <a:avLst/>
          </a:prstGeom>
          <a:noFill/>
          <a:ln/>
        </p:spPr>
        <p:txBody>
          <a:bodyPr wrap="square" lIns="0" tIns="0" rIns="0" bIns="0" rtlCol="0" anchor="ctr"/>
          <a:lstStyle/>
          <a:p>
            <a:pPr indent="0" marL="0">
              <a:buNone/>
            </a:pPr>
            <a:r>
              <a:rPr lang="en-US" sz="2400" b="1" dirty="0">
                <a:solidFill>
                  <a:srgbClr val="172033"/>
                </a:solidFill>
                <a:latin typeface="Aptos Display" pitchFamily="34" charset="0"/>
                <a:ea typeface="Aptos Display" pitchFamily="34" charset="-122"/>
                <a:cs typeface="Aptos Display" pitchFamily="34" charset="-120"/>
              </a:rPr>
              <a:t>La rupture n'est pas un manque de stock, c'est un manque de visibilite.</a:t>
            </a:r>
            <a:endParaRPr lang="en-US" sz="2400" dirty="0"/>
          </a:p>
        </p:txBody>
      </p:sp>
      <p:sp>
        <p:nvSpPr>
          <p:cNvPr id="7" name="Text 5"/>
          <p:cNvSpPr/>
          <p:nvPr/>
        </p:nvSpPr>
        <p:spPr>
          <a:xfrm>
            <a:off x="512064" y="1078992"/>
            <a:ext cx="8138160" cy="411480"/>
          </a:xfrm>
          <a:prstGeom prst="rect">
            <a:avLst/>
          </a:prstGeom>
          <a:noFill/>
          <a:ln/>
        </p:spPr>
        <p:txBody>
          <a:bodyPr wrap="square" lIns="0" tIns="0" rIns="0" bIns="0" rtlCol="0" anchor="ctr"/>
          <a:lstStyle/>
          <a:p>
            <a:pPr indent="0" marL="0">
              <a:buNone/>
            </a:pPr>
            <a:r>
              <a:rPr lang="en-US" sz="1050" dirty="0">
                <a:solidFill>
                  <a:srgbClr val="334155"/>
                </a:solidFill>
                <a:latin typeface="Aptos" pitchFamily="34" charset="0"/>
                <a:ea typeface="Aptos" pitchFamily="34" charset="-122"/>
                <a:cs typeface="Aptos" pitchFamily="34" charset="-120"/>
              </a:rPr>
              <a:t>Le projet part d'un probleme operationnel simple: le magasin perd des ventes alors que le produit existe parfois encore en reserve.</a:t>
            </a:r>
            <a:endParaRPr lang="en-US" sz="1050" dirty="0"/>
          </a:p>
        </p:txBody>
      </p:sp>
      <p:sp>
        <p:nvSpPr>
          <p:cNvPr id="8" name="Shape 6"/>
          <p:cNvSpPr/>
          <p:nvPr/>
        </p:nvSpPr>
        <p:spPr>
          <a:xfrm>
            <a:off x="8156448" y="841248"/>
            <a:ext cx="3118104" cy="1965960"/>
          </a:xfrm>
          <a:prstGeom prst="roundRect">
            <a:avLst>
              <a:gd name="adj" fmla="val 2791"/>
            </a:avLst>
          </a:prstGeom>
          <a:solidFill>
            <a:srgbClr val="FFFFFF"/>
          </a:solidFill>
          <a:ln w="12700">
            <a:solidFill>
              <a:srgbClr val="D8E0EA"/>
            </a:solidFill>
            <a:prstDash val="solid"/>
          </a:ln>
        </p:spPr>
      </p:sp>
      <p:sp>
        <p:nvSpPr>
          <p:cNvPr id="9" name="Text 7"/>
          <p:cNvSpPr/>
          <p:nvPr/>
        </p:nvSpPr>
        <p:spPr>
          <a:xfrm>
            <a:off x="8375904" y="1060704"/>
            <a:ext cx="2011680" cy="182880"/>
          </a:xfrm>
          <a:prstGeom prst="rect">
            <a:avLst/>
          </a:prstGeom>
          <a:noFill/>
          <a:ln/>
        </p:spPr>
        <p:txBody>
          <a:bodyPr wrap="square" rtlCol="0" anchor="ctr"/>
          <a:lstStyle/>
          <a:p>
            <a:pPr indent="0" marL="0">
              <a:buNone/>
            </a:pPr>
            <a:r>
              <a:rPr lang="en-US" sz="800" b="1" spc="120" kern="0" dirty="0">
                <a:solidFill>
                  <a:srgbClr val="1F6B52"/>
                </a:solidFill>
                <a:latin typeface="Aptos" pitchFamily="34" charset="0"/>
                <a:ea typeface="Aptos" pitchFamily="34" charset="-122"/>
                <a:cs typeface="Aptos" pitchFamily="34" charset="-120"/>
              </a:rPr>
              <a:t>Constat terrain</a:t>
            </a:r>
            <a:endParaRPr lang="en-US" sz="800" dirty="0"/>
          </a:p>
        </p:txBody>
      </p:sp>
      <p:sp>
        <p:nvSpPr>
          <p:cNvPr id="10" name="Text 8"/>
          <p:cNvSpPr/>
          <p:nvPr/>
        </p:nvSpPr>
        <p:spPr>
          <a:xfrm>
            <a:off x="8375904" y="1353312"/>
            <a:ext cx="2487168" cy="822960"/>
          </a:xfrm>
          <a:prstGeom prst="rect">
            <a:avLst/>
          </a:prstGeom>
          <a:noFill/>
          <a:ln/>
        </p:spPr>
        <p:txBody>
          <a:bodyPr wrap="square" lIns="0" tIns="0" rIns="0" bIns="0" rtlCol="0" anchor="ctr"/>
          <a:lstStyle/>
          <a:p>
            <a:pPr indent="0" marL="0">
              <a:buNone/>
            </a:pPr>
            <a:r>
              <a:rPr lang="en-US" sz="1500" i="1" dirty="0">
                <a:solidFill>
                  <a:srgbClr val="172033"/>
                </a:solidFill>
                <a:latin typeface="Aptos Display" pitchFamily="34" charset="0"/>
                <a:ea typeface="Aptos Display" pitchFamily="34" charset="-122"/>
                <a:cs typeface="Aptos Display" pitchFamily="34" charset="-120"/>
              </a:rPr>
              <a:t>"Le client demande, le rayon est vide, et on decouvre trop tard qu'il restait encore des unites ailleurs."</a:t>
            </a:r>
            <a:endParaRPr lang="en-US" sz="1500" dirty="0"/>
          </a:p>
        </p:txBody>
      </p:sp>
      <p:sp>
        <p:nvSpPr>
          <p:cNvPr id="11" name="Text 9"/>
          <p:cNvSpPr/>
          <p:nvPr/>
        </p:nvSpPr>
        <p:spPr>
          <a:xfrm>
            <a:off x="8375904" y="2212848"/>
            <a:ext cx="2286000" cy="182880"/>
          </a:xfrm>
          <a:prstGeom prst="rect">
            <a:avLst/>
          </a:prstGeom>
          <a:noFill/>
          <a:ln/>
        </p:spPr>
        <p:txBody>
          <a:bodyPr wrap="square" lIns="0" tIns="0" rIns="0" bIns="0" rtlCol="0" anchor="ctr"/>
          <a:lstStyle/>
          <a:p>
            <a:pPr indent="0" marL="0">
              <a:buNone/>
            </a:pPr>
            <a:r>
              <a:rPr lang="en-US" sz="850" dirty="0">
                <a:solidFill>
                  <a:srgbClr val="64748B"/>
                </a:solidFill>
                <a:latin typeface="Aptos" pitchFamily="34" charset="0"/>
                <a:ea typeface="Aptos" pitchFamily="34" charset="-122"/>
                <a:cs typeface="Aptos" pitchFamily="34" charset="-120"/>
              </a:rPr>
              <a:t>Observation type en epicerie traditionnelle</a:t>
            </a:r>
            <a:endParaRPr lang="en-US" sz="850" dirty="0"/>
          </a:p>
        </p:txBody>
      </p:sp>
      <p:sp>
        <p:nvSpPr>
          <p:cNvPr id="12" name="Shape 10"/>
          <p:cNvSpPr/>
          <p:nvPr/>
        </p:nvSpPr>
        <p:spPr>
          <a:xfrm>
            <a:off x="512064" y="1810512"/>
            <a:ext cx="7351776" cy="1243584"/>
          </a:xfrm>
          <a:prstGeom prst="roundRect">
            <a:avLst>
              <a:gd name="adj" fmla="val 4412"/>
            </a:avLst>
          </a:prstGeom>
          <a:solidFill>
            <a:srgbClr val="FFFFFF"/>
          </a:solidFill>
          <a:ln w="12700">
            <a:solidFill>
              <a:srgbClr val="D8E0EA"/>
            </a:solidFill>
            <a:prstDash val="solid"/>
          </a:ln>
          <a:effectLst>
            <a:outerShdw sx="100000" sy="100000" kx="0" ky="0" algn="bl" rotWithShape="0" blurRad="12700" dist="50800" dir="2700000">
              <a:srgbClr val="BFC8D4">
                <a:alpha val="18000"/>
              </a:srgbClr>
            </a:outerShdw>
          </a:effectLst>
        </p:spPr>
      </p:sp>
      <p:sp>
        <p:nvSpPr>
          <p:cNvPr id="13" name="Text 11"/>
          <p:cNvSpPr/>
          <p:nvPr/>
        </p:nvSpPr>
        <p:spPr>
          <a:xfrm>
            <a:off x="749808" y="1993392"/>
            <a:ext cx="1463040" cy="164592"/>
          </a:xfrm>
          <a:prstGeom prst="rect">
            <a:avLst/>
          </a:prstGeom>
          <a:noFill/>
          <a:ln/>
        </p:spPr>
        <p:txBody>
          <a:bodyPr wrap="square" rtlCol="0" anchor="ctr"/>
          <a:lstStyle/>
          <a:p>
            <a:pPr indent="0" marL="0">
              <a:buNone/>
            </a:pPr>
            <a:r>
              <a:rPr lang="en-US" sz="820" b="1" spc="120" kern="0" dirty="0">
                <a:solidFill>
                  <a:srgbClr val="1F6B52"/>
                </a:solidFill>
                <a:latin typeface="Aptos" pitchFamily="34" charset="0"/>
                <a:ea typeface="Aptos" pitchFamily="34" charset="-122"/>
                <a:cs typeface="Aptos" pitchFamily="34" charset="-120"/>
              </a:rPr>
              <a:t>Scene de depart</a:t>
            </a:r>
            <a:endParaRPr lang="en-US" sz="820" dirty="0"/>
          </a:p>
        </p:txBody>
      </p:sp>
      <p:sp>
        <p:nvSpPr>
          <p:cNvPr id="14" name="Text 12"/>
          <p:cNvSpPr/>
          <p:nvPr/>
        </p:nvSpPr>
        <p:spPr>
          <a:xfrm>
            <a:off x="749808" y="2267712"/>
            <a:ext cx="6812280" cy="530352"/>
          </a:xfrm>
          <a:prstGeom prst="rect">
            <a:avLst/>
          </a:prstGeom>
          <a:noFill/>
          <a:ln/>
        </p:spPr>
        <p:txBody>
          <a:bodyPr wrap="square" lIns="0" tIns="0" rIns="0" bIns="0" rtlCol="0" anchor="ctr"/>
          <a:lstStyle/>
          <a:p>
            <a:pPr indent="0" marL="0">
              <a:buNone/>
            </a:pPr>
            <a:r>
              <a:rPr lang="en-US" sz="1250" dirty="0">
                <a:solidFill>
                  <a:srgbClr val="172033"/>
                </a:solidFill>
                <a:latin typeface="Aptos" pitchFamily="34" charset="0"/>
                <a:ea typeface="Aptos" pitchFamily="34" charset="-122"/>
                <a:cs typeface="Aptos" pitchFamily="34" charset="-120"/>
              </a:rPr>
              <a:t>Lundi matin. Un client demande une Coca-Cola. Le rayon semble vide, le vendeur s'excuse, et la vente est perdue. Pourtant, trois caisses sont encore en reserve: personne ne les a reliees au stock utile.</a:t>
            </a:r>
            <a:endParaRPr lang="en-US" sz="1250" dirty="0"/>
          </a:p>
        </p:txBody>
      </p:sp>
      <p:sp>
        <p:nvSpPr>
          <p:cNvPr id="15" name="Shape 13"/>
          <p:cNvSpPr/>
          <p:nvPr/>
        </p:nvSpPr>
        <p:spPr>
          <a:xfrm>
            <a:off x="512064" y="3456432"/>
            <a:ext cx="2523744" cy="2084832"/>
          </a:xfrm>
          <a:prstGeom prst="roundRect">
            <a:avLst>
              <a:gd name="adj" fmla="val 2632"/>
            </a:avLst>
          </a:prstGeom>
          <a:solidFill>
            <a:srgbClr val="FFFFFF"/>
          </a:solidFill>
          <a:ln w="12700">
            <a:solidFill>
              <a:srgbClr val="D8E0EA"/>
            </a:solidFill>
            <a:prstDash val="solid"/>
          </a:ln>
        </p:spPr>
      </p:sp>
      <p:sp>
        <p:nvSpPr>
          <p:cNvPr id="16" name="Shape 14"/>
          <p:cNvSpPr/>
          <p:nvPr/>
        </p:nvSpPr>
        <p:spPr>
          <a:xfrm>
            <a:off x="713232" y="3675888"/>
            <a:ext cx="420624" cy="237744"/>
          </a:xfrm>
          <a:prstGeom prst="roundRect">
            <a:avLst>
              <a:gd name="adj" fmla="val 11538"/>
            </a:avLst>
          </a:prstGeom>
          <a:solidFill>
            <a:srgbClr val="DCEEE6"/>
          </a:solidFill>
          <a:ln w="12700">
            <a:solidFill>
              <a:srgbClr val="DCEEE6"/>
            </a:solidFill>
            <a:prstDash val="solid"/>
          </a:ln>
        </p:spPr>
      </p:sp>
      <p:sp>
        <p:nvSpPr>
          <p:cNvPr id="17" name="Text 15"/>
          <p:cNvSpPr/>
          <p:nvPr/>
        </p:nvSpPr>
        <p:spPr>
          <a:xfrm>
            <a:off x="713232" y="4041648"/>
            <a:ext cx="2029968" cy="292608"/>
          </a:xfrm>
          <a:prstGeom prst="rect">
            <a:avLst/>
          </a:prstGeom>
          <a:noFill/>
          <a:ln/>
        </p:spPr>
        <p:txBody>
          <a:bodyPr wrap="square" lIns="0" tIns="0" rIns="0" bIns="0" rtlCol="0" anchor="ctr"/>
          <a:lstStyle/>
          <a:p>
            <a:pPr indent="0" marL="0">
              <a:buNone/>
            </a:pPr>
            <a:r>
              <a:rPr lang="en-US" sz="1450" b="1" dirty="0">
                <a:solidFill>
                  <a:srgbClr val="172033"/>
                </a:solidFill>
                <a:latin typeface="Aptos Display" pitchFamily="34" charset="0"/>
                <a:ea typeface="Aptos Display" pitchFamily="34" charset="-122"/>
                <a:cs typeface="Aptos Display" pitchFamily="34" charset="-120"/>
              </a:rPr>
              <a:t>Suivi manuel</a:t>
            </a:r>
            <a:endParaRPr lang="en-US" sz="1450" dirty="0"/>
          </a:p>
        </p:txBody>
      </p:sp>
      <p:sp>
        <p:nvSpPr>
          <p:cNvPr id="18" name="Text 16"/>
          <p:cNvSpPr/>
          <p:nvPr/>
        </p:nvSpPr>
        <p:spPr>
          <a:xfrm>
            <a:off x="713232" y="4443984"/>
            <a:ext cx="2066544" cy="694944"/>
          </a:xfrm>
          <a:prstGeom prst="rect">
            <a:avLst/>
          </a:prstGeom>
          <a:noFill/>
          <a:ln/>
        </p:spPr>
        <p:txBody>
          <a:bodyPr wrap="square" lIns="0" tIns="0" rIns="0" bIns="0" rtlCol="0" anchor="ctr"/>
          <a:lstStyle/>
          <a:p>
            <a:pPr indent="0" marL="0">
              <a:buNone/>
            </a:pPr>
            <a:r>
              <a:rPr lang="en-US" sz="1020" dirty="0">
                <a:solidFill>
                  <a:srgbClr val="334155"/>
                </a:solidFill>
                <a:latin typeface="Aptos" pitchFamily="34" charset="0"/>
                <a:ea typeface="Aptos" pitchFamily="34" charset="-122"/>
                <a:cs typeface="Aptos" pitchFamily="34" charset="-120"/>
              </a:rPr>
              <a:t>Aucune vision fiable du stock reel par produit.</a:t>
            </a:r>
            <a:endParaRPr lang="en-US" sz="1020" dirty="0"/>
          </a:p>
        </p:txBody>
      </p:sp>
      <p:sp>
        <p:nvSpPr>
          <p:cNvPr id="19" name="Shape 17"/>
          <p:cNvSpPr/>
          <p:nvPr/>
        </p:nvSpPr>
        <p:spPr>
          <a:xfrm>
            <a:off x="3328416" y="3456432"/>
            <a:ext cx="2523744" cy="2084832"/>
          </a:xfrm>
          <a:prstGeom prst="roundRect">
            <a:avLst>
              <a:gd name="adj" fmla="val 2632"/>
            </a:avLst>
          </a:prstGeom>
          <a:solidFill>
            <a:srgbClr val="FFFFFF"/>
          </a:solidFill>
          <a:ln w="12700">
            <a:solidFill>
              <a:srgbClr val="D8E0EA"/>
            </a:solidFill>
            <a:prstDash val="solid"/>
          </a:ln>
        </p:spPr>
      </p:sp>
      <p:sp>
        <p:nvSpPr>
          <p:cNvPr id="20" name="Shape 18"/>
          <p:cNvSpPr/>
          <p:nvPr/>
        </p:nvSpPr>
        <p:spPr>
          <a:xfrm>
            <a:off x="3529584" y="3675888"/>
            <a:ext cx="420624" cy="237744"/>
          </a:xfrm>
          <a:prstGeom prst="roundRect">
            <a:avLst>
              <a:gd name="adj" fmla="val 11538"/>
            </a:avLst>
          </a:prstGeom>
          <a:solidFill>
            <a:srgbClr val="F6E7CB"/>
          </a:solidFill>
          <a:ln w="12700">
            <a:solidFill>
              <a:srgbClr val="F6E7CB"/>
            </a:solidFill>
            <a:prstDash val="solid"/>
          </a:ln>
        </p:spPr>
      </p:sp>
      <p:sp>
        <p:nvSpPr>
          <p:cNvPr id="21" name="Text 19"/>
          <p:cNvSpPr/>
          <p:nvPr/>
        </p:nvSpPr>
        <p:spPr>
          <a:xfrm>
            <a:off x="3529584" y="4041648"/>
            <a:ext cx="2029968" cy="292608"/>
          </a:xfrm>
          <a:prstGeom prst="rect">
            <a:avLst/>
          </a:prstGeom>
          <a:noFill/>
          <a:ln/>
        </p:spPr>
        <p:txBody>
          <a:bodyPr wrap="square" lIns="0" tIns="0" rIns="0" bIns="0" rtlCol="0" anchor="ctr"/>
          <a:lstStyle/>
          <a:p>
            <a:pPr indent="0" marL="0">
              <a:buNone/>
            </a:pPr>
            <a:r>
              <a:rPr lang="en-US" sz="1450" b="1" dirty="0">
                <a:solidFill>
                  <a:srgbClr val="172033"/>
                </a:solidFill>
                <a:latin typeface="Aptos Display" pitchFamily="34" charset="0"/>
                <a:ea typeface="Aptos Display" pitchFamily="34" charset="-122"/>
                <a:cs typeface="Aptos Display" pitchFamily="34" charset="-120"/>
              </a:rPr>
              <a:t>Expiration oubliee</a:t>
            </a:r>
            <a:endParaRPr lang="en-US" sz="1450" dirty="0"/>
          </a:p>
        </p:txBody>
      </p:sp>
      <p:sp>
        <p:nvSpPr>
          <p:cNvPr id="22" name="Text 20"/>
          <p:cNvSpPr/>
          <p:nvPr/>
        </p:nvSpPr>
        <p:spPr>
          <a:xfrm>
            <a:off x="3529584" y="4443984"/>
            <a:ext cx="2066544" cy="694944"/>
          </a:xfrm>
          <a:prstGeom prst="rect">
            <a:avLst/>
          </a:prstGeom>
          <a:noFill/>
          <a:ln/>
        </p:spPr>
        <p:txBody>
          <a:bodyPr wrap="square" lIns="0" tIns="0" rIns="0" bIns="0" rtlCol="0" anchor="ctr"/>
          <a:lstStyle/>
          <a:p>
            <a:pPr indent="0" marL="0">
              <a:buNone/>
            </a:pPr>
            <a:r>
              <a:rPr lang="en-US" sz="1020" dirty="0">
                <a:solidFill>
                  <a:srgbClr val="334155"/>
                </a:solidFill>
                <a:latin typeface="Aptos" pitchFamily="34" charset="0"/>
                <a:ea typeface="Aptos" pitchFamily="34" charset="-122"/>
                <a:cs typeface="Aptos" pitchFamily="34" charset="-120"/>
              </a:rPr>
              <a:t>Les dates sont notees sur papier ou pas notees du tout.</a:t>
            </a:r>
            <a:endParaRPr lang="en-US" sz="1020" dirty="0"/>
          </a:p>
        </p:txBody>
      </p:sp>
      <p:sp>
        <p:nvSpPr>
          <p:cNvPr id="23" name="Shape 21"/>
          <p:cNvSpPr/>
          <p:nvPr/>
        </p:nvSpPr>
        <p:spPr>
          <a:xfrm>
            <a:off x="6144768" y="3456432"/>
            <a:ext cx="2523744" cy="2084832"/>
          </a:xfrm>
          <a:prstGeom prst="roundRect">
            <a:avLst>
              <a:gd name="adj" fmla="val 2632"/>
            </a:avLst>
          </a:prstGeom>
          <a:solidFill>
            <a:srgbClr val="FFFFFF"/>
          </a:solidFill>
          <a:ln w="12700">
            <a:solidFill>
              <a:srgbClr val="D8E0EA"/>
            </a:solidFill>
            <a:prstDash val="solid"/>
          </a:ln>
        </p:spPr>
      </p:sp>
      <p:sp>
        <p:nvSpPr>
          <p:cNvPr id="24" name="Shape 22"/>
          <p:cNvSpPr/>
          <p:nvPr/>
        </p:nvSpPr>
        <p:spPr>
          <a:xfrm>
            <a:off x="6345936" y="3675888"/>
            <a:ext cx="420624" cy="237744"/>
          </a:xfrm>
          <a:prstGeom prst="roundRect">
            <a:avLst>
              <a:gd name="adj" fmla="val 11538"/>
            </a:avLst>
          </a:prstGeom>
          <a:solidFill>
            <a:srgbClr val="F5D9D5"/>
          </a:solidFill>
          <a:ln w="12700">
            <a:solidFill>
              <a:srgbClr val="F5D9D5"/>
            </a:solidFill>
            <a:prstDash val="solid"/>
          </a:ln>
        </p:spPr>
      </p:sp>
      <p:sp>
        <p:nvSpPr>
          <p:cNvPr id="25" name="Text 23"/>
          <p:cNvSpPr/>
          <p:nvPr/>
        </p:nvSpPr>
        <p:spPr>
          <a:xfrm>
            <a:off x="6345936" y="4041648"/>
            <a:ext cx="2029968" cy="292608"/>
          </a:xfrm>
          <a:prstGeom prst="rect">
            <a:avLst/>
          </a:prstGeom>
          <a:noFill/>
          <a:ln/>
        </p:spPr>
        <p:txBody>
          <a:bodyPr wrap="square" lIns="0" tIns="0" rIns="0" bIns="0" rtlCol="0" anchor="ctr"/>
          <a:lstStyle/>
          <a:p>
            <a:pPr indent="0" marL="0">
              <a:buNone/>
            </a:pPr>
            <a:r>
              <a:rPr lang="en-US" sz="1450" b="1" dirty="0">
                <a:solidFill>
                  <a:srgbClr val="172033"/>
                </a:solidFill>
                <a:latin typeface="Aptos Display" pitchFamily="34" charset="0"/>
                <a:ea typeface="Aptos Display" pitchFamily="34" charset="-122"/>
                <a:cs typeface="Aptos Display" pitchFamily="34" charset="-120"/>
              </a:rPr>
              <a:t>Alerte tardive</a:t>
            </a:r>
            <a:endParaRPr lang="en-US" sz="1450" dirty="0"/>
          </a:p>
        </p:txBody>
      </p:sp>
      <p:sp>
        <p:nvSpPr>
          <p:cNvPr id="26" name="Text 24"/>
          <p:cNvSpPr/>
          <p:nvPr/>
        </p:nvSpPr>
        <p:spPr>
          <a:xfrm>
            <a:off x="6345936" y="4443984"/>
            <a:ext cx="2066544" cy="694944"/>
          </a:xfrm>
          <a:prstGeom prst="rect">
            <a:avLst/>
          </a:prstGeom>
          <a:noFill/>
          <a:ln/>
        </p:spPr>
        <p:txBody>
          <a:bodyPr wrap="square" lIns="0" tIns="0" rIns="0" bIns="0" rtlCol="0" anchor="ctr"/>
          <a:lstStyle/>
          <a:p>
            <a:pPr indent="0" marL="0">
              <a:buNone/>
            </a:pPr>
            <a:r>
              <a:rPr lang="en-US" sz="1020" dirty="0">
                <a:solidFill>
                  <a:srgbClr val="334155"/>
                </a:solidFill>
                <a:latin typeface="Aptos" pitchFamily="34" charset="0"/>
                <a:ea typeface="Aptos" pitchFamily="34" charset="-122"/>
                <a:cs typeface="Aptos" pitchFamily="34" charset="-120"/>
              </a:rPr>
              <a:t>Le probleme n'apparait qu'au moment ou le client demande.</a:t>
            </a:r>
            <a:endParaRPr lang="en-US" sz="1020" dirty="0"/>
          </a:p>
        </p:txBody>
      </p:sp>
      <p:sp>
        <p:nvSpPr>
          <p:cNvPr id="27" name="Shape 25"/>
          <p:cNvSpPr/>
          <p:nvPr/>
        </p:nvSpPr>
        <p:spPr>
          <a:xfrm>
            <a:off x="8961120" y="3456432"/>
            <a:ext cx="2523744" cy="2084832"/>
          </a:xfrm>
          <a:prstGeom prst="roundRect">
            <a:avLst>
              <a:gd name="adj" fmla="val 2632"/>
            </a:avLst>
          </a:prstGeom>
          <a:solidFill>
            <a:srgbClr val="FFFFFF"/>
          </a:solidFill>
          <a:ln w="12700">
            <a:solidFill>
              <a:srgbClr val="D8E0EA"/>
            </a:solidFill>
            <a:prstDash val="solid"/>
          </a:ln>
        </p:spPr>
      </p:sp>
      <p:sp>
        <p:nvSpPr>
          <p:cNvPr id="28" name="Shape 26"/>
          <p:cNvSpPr/>
          <p:nvPr/>
        </p:nvSpPr>
        <p:spPr>
          <a:xfrm>
            <a:off x="9162288" y="3675888"/>
            <a:ext cx="420624" cy="237744"/>
          </a:xfrm>
          <a:prstGeom prst="roundRect">
            <a:avLst>
              <a:gd name="adj" fmla="val 11538"/>
            </a:avLst>
          </a:prstGeom>
          <a:solidFill>
            <a:srgbClr val="DCEEE6"/>
          </a:solidFill>
          <a:ln w="12700">
            <a:solidFill>
              <a:srgbClr val="DCEEE6"/>
            </a:solidFill>
            <a:prstDash val="solid"/>
          </a:ln>
        </p:spPr>
      </p:sp>
      <p:sp>
        <p:nvSpPr>
          <p:cNvPr id="29" name="Text 27"/>
          <p:cNvSpPr/>
          <p:nvPr/>
        </p:nvSpPr>
        <p:spPr>
          <a:xfrm>
            <a:off x="9162288" y="4041648"/>
            <a:ext cx="2029968" cy="292608"/>
          </a:xfrm>
          <a:prstGeom prst="rect">
            <a:avLst/>
          </a:prstGeom>
          <a:noFill/>
          <a:ln/>
        </p:spPr>
        <p:txBody>
          <a:bodyPr wrap="square" lIns="0" tIns="0" rIns="0" bIns="0" rtlCol="0" anchor="ctr"/>
          <a:lstStyle/>
          <a:p>
            <a:pPr indent="0" marL="0">
              <a:buNone/>
            </a:pPr>
            <a:r>
              <a:rPr lang="en-US" sz="1450" b="1" dirty="0">
                <a:solidFill>
                  <a:srgbClr val="172033"/>
                </a:solidFill>
                <a:latin typeface="Aptos Display" pitchFamily="34" charset="0"/>
                <a:ea typeface="Aptos Display" pitchFamily="34" charset="-122"/>
                <a:cs typeface="Aptos Display" pitchFamily="34" charset="-120"/>
              </a:rPr>
              <a:t>Decision faible</a:t>
            </a:r>
            <a:endParaRPr lang="en-US" sz="1450" dirty="0"/>
          </a:p>
        </p:txBody>
      </p:sp>
      <p:sp>
        <p:nvSpPr>
          <p:cNvPr id="30" name="Text 28"/>
          <p:cNvSpPr/>
          <p:nvPr/>
        </p:nvSpPr>
        <p:spPr>
          <a:xfrm>
            <a:off x="9162288" y="4443984"/>
            <a:ext cx="2066544" cy="694944"/>
          </a:xfrm>
          <a:prstGeom prst="rect">
            <a:avLst/>
          </a:prstGeom>
          <a:noFill/>
          <a:ln/>
        </p:spPr>
        <p:txBody>
          <a:bodyPr wrap="square" lIns="0" tIns="0" rIns="0" bIns="0" rtlCol="0" anchor="ctr"/>
          <a:lstStyle/>
          <a:p>
            <a:pPr indent="0" marL="0">
              <a:buNone/>
            </a:pPr>
            <a:r>
              <a:rPr lang="en-US" sz="1020" dirty="0">
                <a:solidFill>
                  <a:srgbClr val="334155"/>
                </a:solidFill>
                <a:latin typeface="Aptos" pitchFamily="34" charset="0"/>
                <a:ea typeface="Aptos" pitchFamily="34" charset="-122"/>
                <a:cs typeface="Aptos" pitchFamily="34" charset="-120"/>
              </a:rPr>
              <a:t>Le proprietaire ne sait pas quoi reapprovisionner en priorite.</a:t>
            </a:r>
            <a:endParaRPr lang="en-US" sz="1020" dirty="0"/>
          </a:p>
        </p:txBody>
      </p:sp>
      <p:sp>
        <p:nvSpPr>
          <p:cNvPr id="31" name="Text 29"/>
          <p:cNvSpPr/>
          <p:nvPr/>
        </p:nvSpPr>
        <p:spPr>
          <a:xfrm>
            <a:off x="512064" y="6419088"/>
            <a:ext cx="7772400" cy="164592"/>
          </a:xfrm>
          <a:prstGeom prst="rect">
            <a:avLst/>
          </a:prstGeom>
          <a:noFill/>
          <a:ln/>
        </p:spPr>
        <p:txBody>
          <a:bodyPr wrap="square" lIns="0" tIns="0" rIns="0" bIns="0" rtlCol="0" anchor="ctr"/>
          <a:lstStyle/>
          <a:p>
            <a:pPr indent="0" marL="0">
              <a:buNone/>
            </a:pPr>
            <a:r>
              <a:rPr lang="en-US" sz="800" dirty="0">
                <a:solidFill>
                  <a:srgbClr val="64748B"/>
                </a:solidFill>
                <a:latin typeface="Aptos" pitchFamily="34" charset="0"/>
                <a:ea typeface="Aptos" pitchFamily="34" charset="-122"/>
                <a:cs typeface="Aptos" pitchFamily="34" charset="-120"/>
              </a:rPr>
              <a:t>Le besoin metier a guider le projet: rendre visible ce qui etait invisible.</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5F1E8"/>
          </a:solidFill>
          <a:ln w="12700">
            <a:solidFill>
              <a:srgbClr val="F5F1E8">
                <a:alpha val="0"/>
              </a:srgbClr>
            </a:solidFill>
            <a:prstDash val="solid"/>
          </a:ln>
        </p:spPr>
      </p:sp>
      <p:sp>
        <p:nvSpPr>
          <p:cNvPr id="3" name="Shape 1"/>
          <p:cNvSpPr/>
          <p:nvPr/>
        </p:nvSpPr>
        <p:spPr>
          <a:xfrm>
            <a:off x="384048" y="347472"/>
            <a:ext cx="11420856" cy="18288"/>
          </a:xfrm>
          <a:prstGeom prst="rect">
            <a:avLst/>
          </a:prstGeom>
          <a:solidFill>
            <a:srgbClr val="D8E0EA"/>
          </a:solidFill>
          <a:ln w="12700">
            <a:solidFill>
              <a:srgbClr val="D8E0EA"/>
            </a:solidFill>
            <a:prstDash val="solid"/>
          </a:ln>
        </p:spPr>
      </p:sp>
      <p:sp>
        <p:nvSpPr>
          <p:cNvPr id="4" name="Text 2"/>
          <p:cNvSpPr/>
          <p:nvPr/>
        </p:nvSpPr>
        <p:spPr>
          <a:xfrm>
            <a:off x="512064" y="155448"/>
            <a:ext cx="2926080" cy="164592"/>
          </a:xfrm>
          <a:prstGeom prst="rect">
            <a:avLst/>
          </a:prstGeom>
          <a:noFill/>
          <a:ln/>
        </p:spPr>
        <p:txBody>
          <a:bodyPr wrap="square" rtlCol="0" anchor="ctr"/>
          <a:lstStyle/>
          <a:p>
            <a:pPr indent="0" marL="0">
              <a:buNone/>
            </a:pPr>
            <a:r>
              <a:rPr lang="en-US" sz="800" b="1" spc="160" kern="0" dirty="0">
                <a:solidFill>
                  <a:srgbClr val="1F6B52"/>
                </a:solidFill>
                <a:latin typeface="Aptos" pitchFamily="34" charset="0"/>
                <a:ea typeface="Aptos" pitchFamily="34" charset="-122"/>
                <a:cs typeface="Aptos" pitchFamily="34" charset="-120"/>
              </a:rPr>
              <a:t>PROPOSITION</a:t>
            </a:r>
            <a:endParaRPr lang="en-US" sz="800" dirty="0"/>
          </a:p>
        </p:txBody>
      </p:sp>
      <p:sp>
        <p:nvSpPr>
          <p:cNvPr id="5" name="Text 3"/>
          <p:cNvSpPr/>
          <p:nvPr/>
        </p:nvSpPr>
        <p:spPr>
          <a:xfrm>
            <a:off x="11109960" y="6446520"/>
            <a:ext cx="640080" cy="182880"/>
          </a:xfrm>
          <a:prstGeom prst="rect">
            <a:avLst/>
          </a:prstGeom>
          <a:noFill/>
          <a:ln/>
        </p:spPr>
        <p:txBody>
          <a:bodyPr wrap="square" rtlCol="0" anchor="ctr"/>
          <a:lstStyle/>
          <a:p>
            <a:pPr algn="r" indent="0" marL="0">
              <a:buNone/>
            </a:pPr>
            <a:r>
              <a:rPr lang="en-US" sz="800" dirty="0">
                <a:solidFill>
                  <a:srgbClr val="64748B"/>
                </a:solidFill>
                <a:latin typeface="Aptos" pitchFamily="34" charset="0"/>
                <a:ea typeface="Aptos" pitchFamily="34" charset="-122"/>
                <a:cs typeface="Aptos" pitchFamily="34" charset="-120"/>
              </a:rPr>
              <a:t>03 / 12</a:t>
            </a:r>
            <a:endParaRPr lang="en-US" sz="800" dirty="0"/>
          </a:p>
        </p:txBody>
      </p:sp>
      <p:sp>
        <p:nvSpPr>
          <p:cNvPr id="6" name="Text 4"/>
          <p:cNvSpPr/>
          <p:nvPr/>
        </p:nvSpPr>
        <p:spPr>
          <a:xfrm>
            <a:off x="512064" y="530352"/>
            <a:ext cx="7772400" cy="694944"/>
          </a:xfrm>
          <a:prstGeom prst="rect">
            <a:avLst/>
          </a:prstGeom>
          <a:noFill/>
          <a:ln/>
        </p:spPr>
        <p:txBody>
          <a:bodyPr wrap="square" lIns="0" tIns="0" rIns="0" bIns="0" rtlCol="0" anchor="ctr"/>
          <a:lstStyle/>
          <a:p>
            <a:pPr indent="0" marL="0">
              <a:buNone/>
            </a:pPr>
            <a:r>
              <a:rPr lang="en-US" sz="2400" b="1" dirty="0">
                <a:solidFill>
                  <a:srgbClr val="172033"/>
                </a:solidFill>
                <a:latin typeface="Aptos Display" pitchFamily="34" charset="0"/>
                <a:ea typeface="Aptos Display" pitchFamily="34" charset="-122"/>
                <a:cs typeface="Aptos Display" pitchFamily="34" charset="-120"/>
              </a:rPr>
              <a:t>La solution transforme un stock passif en systeme de surveillance actif.</a:t>
            </a:r>
            <a:endParaRPr lang="en-US" sz="2400" dirty="0"/>
          </a:p>
        </p:txBody>
      </p:sp>
      <p:sp>
        <p:nvSpPr>
          <p:cNvPr id="7" name="Text 5"/>
          <p:cNvSpPr/>
          <p:nvPr/>
        </p:nvSpPr>
        <p:spPr>
          <a:xfrm>
            <a:off x="512064" y="1078992"/>
            <a:ext cx="8138160" cy="411480"/>
          </a:xfrm>
          <a:prstGeom prst="rect">
            <a:avLst/>
          </a:prstGeom>
          <a:noFill/>
          <a:ln/>
        </p:spPr>
        <p:txBody>
          <a:bodyPr wrap="square" lIns="0" tIns="0" rIns="0" bIns="0" rtlCol="0" anchor="ctr"/>
          <a:lstStyle/>
          <a:p>
            <a:pPr indent="0" marL="0">
              <a:buNone/>
            </a:pPr>
            <a:r>
              <a:rPr lang="en-US" sz="1050" dirty="0">
                <a:solidFill>
                  <a:srgbClr val="334155"/>
                </a:solidFill>
                <a:latin typeface="Aptos" pitchFamily="34" charset="0"/>
                <a:ea typeface="Aptos" pitchFamily="34" charset="-122"/>
                <a:cs typeface="Aptos" pitchFamily="34" charset="-120"/>
              </a:rPr>
              <a:t>L'inventaire n'est plus un simple tableau: chaque mouvement alimente un moteur d'alertes et une interface de decision pour le proprietaire.</a:t>
            </a:r>
            <a:endParaRPr lang="en-US" sz="1050" dirty="0"/>
          </a:p>
        </p:txBody>
      </p:sp>
      <p:sp>
        <p:nvSpPr>
          <p:cNvPr id="8" name="Shape 6"/>
          <p:cNvSpPr/>
          <p:nvPr/>
        </p:nvSpPr>
        <p:spPr>
          <a:xfrm>
            <a:off x="512064" y="1783080"/>
            <a:ext cx="2011680" cy="1170432"/>
          </a:xfrm>
          <a:prstGeom prst="roundRect">
            <a:avLst>
              <a:gd name="adj" fmla="val 4688"/>
            </a:avLst>
          </a:prstGeom>
          <a:solidFill>
            <a:srgbClr val="FFFFFF"/>
          </a:solidFill>
          <a:ln w="12700">
            <a:solidFill>
              <a:srgbClr val="D8E0EA"/>
            </a:solidFill>
            <a:prstDash val="solid"/>
          </a:ln>
        </p:spPr>
      </p:sp>
      <p:sp>
        <p:nvSpPr>
          <p:cNvPr id="9" name="Shape 7"/>
          <p:cNvSpPr/>
          <p:nvPr/>
        </p:nvSpPr>
        <p:spPr>
          <a:xfrm>
            <a:off x="512064" y="1783080"/>
            <a:ext cx="73152" cy="1170432"/>
          </a:xfrm>
          <a:prstGeom prst="rect">
            <a:avLst/>
          </a:prstGeom>
          <a:solidFill>
            <a:srgbClr val="1F6B52"/>
          </a:solidFill>
          <a:ln w="12700">
            <a:solidFill>
              <a:srgbClr val="1F6B52"/>
            </a:solidFill>
            <a:prstDash val="solid"/>
          </a:ln>
        </p:spPr>
      </p:sp>
      <p:sp>
        <p:nvSpPr>
          <p:cNvPr id="10" name="Shape 8"/>
          <p:cNvSpPr/>
          <p:nvPr/>
        </p:nvSpPr>
        <p:spPr>
          <a:xfrm>
            <a:off x="713232" y="1965960"/>
            <a:ext cx="384048" cy="219456"/>
          </a:xfrm>
          <a:prstGeom prst="roundRect">
            <a:avLst>
              <a:gd name="adj" fmla="val 12500"/>
            </a:avLst>
          </a:prstGeom>
          <a:solidFill>
            <a:srgbClr val="DCEEE6"/>
          </a:solidFill>
          <a:ln w="12700">
            <a:solidFill>
              <a:srgbClr val="DCEEE6"/>
            </a:solidFill>
            <a:prstDash val="solid"/>
          </a:ln>
        </p:spPr>
      </p:sp>
      <p:sp>
        <p:nvSpPr>
          <p:cNvPr id="11" name="Text 9"/>
          <p:cNvSpPr/>
          <p:nvPr/>
        </p:nvSpPr>
        <p:spPr>
          <a:xfrm>
            <a:off x="1225296" y="1929384"/>
            <a:ext cx="1170432" cy="164592"/>
          </a:xfrm>
          <a:prstGeom prst="rect">
            <a:avLst/>
          </a:prstGeom>
          <a:noFill/>
          <a:ln/>
        </p:spPr>
        <p:txBody>
          <a:bodyPr wrap="square" rtlCol="0" anchor="ctr"/>
          <a:lstStyle/>
          <a:p>
            <a:pPr indent="0" marL="0">
              <a:buNone/>
            </a:pPr>
            <a:r>
              <a:rPr lang="en-US" sz="800" b="1" spc="100" kern="0" dirty="0">
                <a:solidFill>
                  <a:srgbClr val="64748B"/>
                </a:solidFill>
                <a:latin typeface="Aptos" pitchFamily="34" charset="0"/>
                <a:ea typeface="Aptos" pitchFamily="34" charset="-122"/>
                <a:cs typeface="Aptos" pitchFamily="34" charset="-120"/>
              </a:rPr>
              <a:t>PILIER 1</a:t>
            </a:r>
            <a:endParaRPr lang="en-US" sz="800" dirty="0"/>
          </a:p>
        </p:txBody>
      </p:sp>
      <p:sp>
        <p:nvSpPr>
          <p:cNvPr id="12" name="Text 10"/>
          <p:cNvSpPr/>
          <p:nvPr/>
        </p:nvSpPr>
        <p:spPr>
          <a:xfrm>
            <a:off x="713232" y="2258568"/>
            <a:ext cx="1664208" cy="384048"/>
          </a:xfrm>
          <a:prstGeom prst="rect">
            <a:avLst/>
          </a:prstGeom>
          <a:noFill/>
          <a:ln/>
        </p:spPr>
        <p:txBody>
          <a:bodyPr wrap="square" lIns="0" tIns="0" rIns="0" bIns="0" rtlCol="0" anchor="ctr"/>
          <a:lstStyle/>
          <a:p>
            <a:pPr indent="0" marL="0">
              <a:buNone/>
            </a:pPr>
            <a:r>
              <a:rPr lang="en-US" sz="2000" b="1" dirty="0">
                <a:solidFill>
                  <a:srgbClr val="172033"/>
                </a:solidFill>
                <a:latin typeface="Aptos Display" pitchFamily="34" charset="0"/>
                <a:ea typeface="Aptos Display" pitchFamily="34" charset="-122"/>
                <a:cs typeface="Aptos Display" pitchFamily="34" charset="-120"/>
              </a:rPr>
              <a:t>Stock trace</a:t>
            </a:r>
            <a:endParaRPr lang="en-US" sz="2000" dirty="0"/>
          </a:p>
        </p:txBody>
      </p:sp>
      <p:sp>
        <p:nvSpPr>
          <p:cNvPr id="13" name="Shape 11"/>
          <p:cNvSpPr/>
          <p:nvPr/>
        </p:nvSpPr>
        <p:spPr>
          <a:xfrm>
            <a:off x="2670048" y="1783080"/>
            <a:ext cx="2011680" cy="1170432"/>
          </a:xfrm>
          <a:prstGeom prst="roundRect">
            <a:avLst>
              <a:gd name="adj" fmla="val 4688"/>
            </a:avLst>
          </a:prstGeom>
          <a:solidFill>
            <a:srgbClr val="FFFFFF"/>
          </a:solidFill>
          <a:ln w="12700">
            <a:solidFill>
              <a:srgbClr val="D8E0EA"/>
            </a:solidFill>
            <a:prstDash val="solid"/>
          </a:ln>
        </p:spPr>
      </p:sp>
      <p:sp>
        <p:nvSpPr>
          <p:cNvPr id="14" name="Shape 12"/>
          <p:cNvSpPr/>
          <p:nvPr/>
        </p:nvSpPr>
        <p:spPr>
          <a:xfrm>
            <a:off x="2670048" y="1783080"/>
            <a:ext cx="73152" cy="1170432"/>
          </a:xfrm>
          <a:prstGeom prst="rect">
            <a:avLst/>
          </a:prstGeom>
          <a:solidFill>
            <a:srgbClr val="B7791F"/>
          </a:solidFill>
          <a:ln w="12700">
            <a:solidFill>
              <a:srgbClr val="B7791F"/>
            </a:solidFill>
            <a:prstDash val="solid"/>
          </a:ln>
        </p:spPr>
      </p:sp>
      <p:sp>
        <p:nvSpPr>
          <p:cNvPr id="15" name="Shape 13"/>
          <p:cNvSpPr/>
          <p:nvPr/>
        </p:nvSpPr>
        <p:spPr>
          <a:xfrm>
            <a:off x="2871216" y="1965960"/>
            <a:ext cx="384048" cy="219456"/>
          </a:xfrm>
          <a:prstGeom prst="roundRect">
            <a:avLst>
              <a:gd name="adj" fmla="val 12500"/>
            </a:avLst>
          </a:prstGeom>
          <a:solidFill>
            <a:srgbClr val="F6E7CB"/>
          </a:solidFill>
          <a:ln w="12700">
            <a:solidFill>
              <a:srgbClr val="F6E7CB"/>
            </a:solidFill>
            <a:prstDash val="solid"/>
          </a:ln>
        </p:spPr>
      </p:sp>
      <p:sp>
        <p:nvSpPr>
          <p:cNvPr id="16" name="Text 14"/>
          <p:cNvSpPr/>
          <p:nvPr/>
        </p:nvSpPr>
        <p:spPr>
          <a:xfrm>
            <a:off x="3383280" y="1929384"/>
            <a:ext cx="1170432" cy="164592"/>
          </a:xfrm>
          <a:prstGeom prst="rect">
            <a:avLst/>
          </a:prstGeom>
          <a:noFill/>
          <a:ln/>
        </p:spPr>
        <p:txBody>
          <a:bodyPr wrap="square" rtlCol="0" anchor="ctr"/>
          <a:lstStyle/>
          <a:p>
            <a:pPr indent="0" marL="0">
              <a:buNone/>
            </a:pPr>
            <a:r>
              <a:rPr lang="en-US" sz="800" b="1" spc="100" kern="0" dirty="0">
                <a:solidFill>
                  <a:srgbClr val="64748B"/>
                </a:solidFill>
                <a:latin typeface="Aptos" pitchFamily="34" charset="0"/>
                <a:ea typeface="Aptos" pitchFamily="34" charset="-122"/>
                <a:cs typeface="Aptos" pitchFamily="34" charset="-120"/>
              </a:rPr>
              <a:t>PILIER 2</a:t>
            </a:r>
            <a:endParaRPr lang="en-US" sz="800" dirty="0"/>
          </a:p>
        </p:txBody>
      </p:sp>
      <p:sp>
        <p:nvSpPr>
          <p:cNvPr id="17" name="Text 15"/>
          <p:cNvSpPr/>
          <p:nvPr/>
        </p:nvSpPr>
        <p:spPr>
          <a:xfrm>
            <a:off x="2871216" y="2258568"/>
            <a:ext cx="1664208" cy="384048"/>
          </a:xfrm>
          <a:prstGeom prst="rect">
            <a:avLst/>
          </a:prstGeom>
          <a:noFill/>
          <a:ln/>
        </p:spPr>
        <p:txBody>
          <a:bodyPr wrap="square" lIns="0" tIns="0" rIns="0" bIns="0" rtlCol="0" anchor="ctr"/>
          <a:lstStyle/>
          <a:p>
            <a:pPr indent="0" marL="0">
              <a:buNone/>
            </a:pPr>
            <a:r>
              <a:rPr lang="en-US" sz="2000" b="1" dirty="0">
                <a:solidFill>
                  <a:srgbClr val="172033"/>
                </a:solidFill>
                <a:latin typeface="Aptos Display" pitchFamily="34" charset="0"/>
                <a:ea typeface="Aptos Display" pitchFamily="34" charset="-122"/>
                <a:cs typeface="Aptos Display" pitchFamily="34" charset="-120"/>
              </a:rPr>
              <a:t>Seuils produits</a:t>
            </a:r>
            <a:endParaRPr lang="en-US" sz="2000" dirty="0"/>
          </a:p>
        </p:txBody>
      </p:sp>
      <p:sp>
        <p:nvSpPr>
          <p:cNvPr id="18" name="Shape 16"/>
          <p:cNvSpPr/>
          <p:nvPr/>
        </p:nvSpPr>
        <p:spPr>
          <a:xfrm>
            <a:off x="4828032" y="1783080"/>
            <a:ext cx="2011680" cy="1170432"/>
          </a:xfrm>
          <a:prstGeom prst="roundRect">
            <a:avLst>
              <a:gd name="adj" fmla="val 4688"/>
            </a:avLst>
          </a:prstGeom>
          <a:solidFill>
            <a:srgbClr val="FFFFFF"/>
          </a:solidFill>
          <a:ln w="12700">
            <a:solidFill>
              <a:srgbClr val="D8E0EA"/>
            </a:solidFill>
            <a:prstDash val="solid"/>
          </a:ln>
        </p:spPr>
      </p:sp>
      <p:sp>
        <p:nvSpPr>
          <p:cNvPr id="19" name="Shape 17"/>
          <p:cNvSpPr/>
          <p:nvPr/>
        </p:nvSpPr>
        <p:spPr>
          <a:xfrm>
            <a:off x="4828032" y="1783080"/>
            <a:ext cx="73152" cy="1170432"/>
          </a:xfrm>
          <a:prstGeom prst="rect">
            <a:avLst/>
          </a:prstGeom>
          <a:solidFill>
            <a:srgbClr val="B94A48"/>
          </a:solidFill>
          <a:ln w="12700">
            <a:solidFill>
              <a:srgbClr val="B94A48"/>
            </a:solidFill>
            <a:prstDash val="solid"/>
          </a:ln>
        </p:spPr>
      </p:sp>
      <p:sp>
        <p:nvSpPr>
          <p:cNvPr id="20" name="Shape 18"/>
          <p:cNvSpPr/>
          <p:nvPr/>
        </p:nvSpPr>
        <p:spPr>
          <a:xfrm>
            <a:off x="5029200" y="1965960"/>
            <a:ext cx="384048" cy="219456"/>
          </a:xfrm>
          <a:prstGeom prst="roundRect">
            <a:avLst>
              <a:gd name="adj" fmla="val 12500"/>
            </a:avLst>
          </a:prstGeom>
          <a:solidFill>
            <a:srgbClr val="F5D9D5"/>
          </a:solidFill>
          <a:ln w="12700">
            <a:solidFill>
              <a:srgbClr val="F5D9D5"/>
            </a:solidFill>
            <a:prstDash val="solid"/>
          </a:ln>
        </p:spPr>
      </p:sp>
      <p:sp>
        <p:nvSpPr>
          <p:cNvPr id="21" name="Text 19"/>
          <p:cNvSpPr/>
          <p:nvPr/>
        </p:nvSpPr>
        <p:spPr>
          <a:xfrm>
            <a:off x="5541264" y="1929384"/>
            <a:ext cx="1170432" cy="164592"/>
          </a:xfrm>
          <a:prstGeom prst="rect">
            <a:avLst/>
          </a:prstGeom>
          <a:noFill/>
          <a:ln/>
        </p:spPr>
        <p:txBody>
          <a:bodyPr wrap="square" rtlCol="0" anchor="ctr"/>
          <a:lstStyle/>
          <a:p>
            <a:pPr indent="0" marL="0">
              <a:buNone/>
            </a:pPr>
            <a:r>
              <a:rPr lang="en-US" sz="800" b="1" spc="100" kern="0" dirty="0">
                <a:solidFill>
                  <a:srgbClr val="64748B"/>
                </a:solidFill>
                <a:latin typeface="Aptos" pitchFamily="34" charset="0"/>
                <a:ea typeface="Aptos" pitchFamily="34" charset="-122"/>
                <a:cs typeface="Aptos" pitchFamily="34" charset="-120"/>
              </a:rPr>
              <a:t>PILIER 3</a:t>
            </a:r>
            <a:endParaRPr lang="en-US" sz="800" dirty="0"/>
          </a:p>
        </p:txBody>
      </p:sp>
      <p:sp>
        <p:nvSpPr>
          <p:cNvPr id="22" name="Text 20"/>
          <p:cNvSpPr/>
          <p:nvPr/>
        </p:nvSpPr>
        <p:spPr>
          <a:xfrm>
            <a:off x="5029200" y="2258568"/>
            <a:ext cx="1664208" cy="384048"/>
          </a:xfrm>
          <a:prstGeom prst="rect">
            <a:avLst/>
          </a:prstGeom>
          <a:noFill/>
          <a:ln/>
        </p:spPr>
        <p:txBody>
          <a:bodyPr wrap="square" lIns="0" tIns="0" rIns="0" bIns="0" rtlCol="0" anchor="ctr"/>
          <a:lstStyle/>
          <a:p>
            <a:pPr indent="0" marL="0">
              <a:buNone/>
            </a:pPr>
            <a:r>
              <a:rPr lang="en-US" sz="2000" b="1" dirty="0">
                <a:solidFill>
                  <a:srgbClr val="172033"/>
                </a:solidFill>
                <a:latin typeface="Aptos Display" pitchFamily="34" charset="0"/>
                <a:ea typeface="Aptos Display" pitchFamily="34" charset="-122"/>
                <a:cs typeface="Aptos Display" pitchFamily="34" charset="-120"/>
              </a:rPr>
              <a:t>Alertes fiables</a:t>
            </a:r>
            <a:endParaRPr lang="en-US" sz="2000" dirty="0"/>
          </a:p>
        </p:txBody>
      </p:sp>
      <p:sp>
        <p:nvSpPr>
          <p:cNvPr id="23" name="Shape 21"/>
          <p:cNvSpPr/>
          <p:nvPr/>
        </p:nvSpPr>
        <p:spPr>
          <a:xfrm>
            <a:off x="512064" y="2788920"/>
            <a:ext cx="6583680" cy="2395728"/>
          </a:xfrm>
          <a:prstGeom prst="roundRect">
            <a:avLst>
              <a:gd name="adj" fmla="val 2290"/>
            </a:avLst>
          </a:prstGeom>
          <a:solidFill>
            <a:srgbClr val="FFFFFF"/>
          </a:solidFill>
          <a:ln w="12700">
            <a:solidFill>
              <a:srgbClr val="D8E0EA"/>
            </a:solidFill>
            <a:prstDash val="solid"/>
          </a:ln>
          <a:effectLst>
            <a:outerShdw sx="100000" sy="100000" kx="0" ky="0" algn="bl" rotWithShape="0" blurRad="12700" dist="50800" dir="2700000">
              <a:srgbClr val="BFC8D4">
                <a:alpha val="18000"/>
              </a:srgbClr>
            </a:outerShdw>
          </a:effectLst>
        </p:spPr>
      </p:sp>
      <p:sp>
        <p:nvSpPr>
          <p:cNvPr id="24" name="Text 22"/>
          <p:cNvSpPr/>
          <p:nvPr/>
        </p:nvSpPr>
        <p:spPr>
          <a:xfrm>
            <a:off x="749808" y="2999232"/>
            <a:ext cx="1645920" cy="164592"/>
          </a:xfrm>
          <a:prstGeom prst="rect">
            <a:avLst/>
          </a:prstGeom>
          <a:noFill/>
          <a:ln/>
        </p:spPr>
        <p:txBody>
          <a:bodyPr wrap="square" rtlCol="0" anchor="ctr"/>
          <a:lstStyle/>
          <a:p>
            <a:pPr indent="0" marL="0">
              <a:buNone/>
            </a:pPr>
            <a:r>
              <a:rPr lang="en-US" sz="820" b="1" spc="120" kern="0" dirty="0">
                <a:solidFill>
                  <a:srgbClr val="1F6B52"/>
                </a:solidFill>
                <a:latin typeface="Aptos" pitchFamily="34" charset="0"/>
                <a:ea typeface="Aptos" pitchFamily="34" charset="-122"/>
                <a:cs typeface="Aptos" pitchFamily="34" charset="-120"/>
              </a:rPr>
              <a:t>Mecanique de valeur</a:t>
            </a:r>
            <a:endParaRPr lang="en-US" sz="820" dirty="0"/>
          </a:p>
        </p:txBody>
      </p:sp>
      <p:sp>
        <p:nvSpPr>
          <p:cNvPr id="25" name="Shape 23"/>
          <p:cNvSpPr/>
          <p:nvPr/>
        </p:nvSpPr>
        <p:spPr>
          <a:xfrm>
            <a:off x="786384" y="3438144"/>
            <a:ext cx="1627632" cy="1115568"/>
          </a:xfrm>
          <a:prstGeom prst="roundRect">
            <a:avLst>
              <a:gd name="adj" fmla="val 4098"/>
            </a:avLst>
          </a:prstGeom>
          <a:solidFill>
            <a:srgbClr val="DCEEE6"/>
          </a:solidFill>
          <a:ln w="12700">
            <a:solidFill>
              <a:srgbClr val="D8E0EA"/>
            </a:solidFill>
            <a:prstDash val="solid"/>
          </a:ln>
        </p:spPr>
      </p:sp>
      <p:sp>
        <p:nvSpPr>
          <p:cNvPr id="26" name="Text 24"/>
          <p:cNvSpPr/>
          <p:nvPr/>
        </p:nvSpPr>
        <p:spPr>
          <a:xfrm>
            <a:off x="932688" y="3675888"/>
            <a:ext cx="1335024" cy="658368"/>
          </a:xfrm>
          <a:prstGeom prst="rect">
            <a:avLst/>
          </a:prstGeom>
          <a:noFill/>
          <a:ln/>
        </p:spPr>
        <p:txBody>
          <a:bodyPr wrap="square" lIns="381" tIns="381" rIns="381" bIns="381" rtlCol="0" anchor="ctr"/>
          <a:lstStyle/>
          <a:p>
            <a:pPr algn="ctr" indent="0" marL="0">
              <a:buNone/>
            </a:pPr>
            <a:r>
              <a:rPr lang="en-US" sz="1020" b="1" dirty="0">
                <a:solidFill>
                  <a:srgbClr val="172033"/>
                </a:solidFill>
                <a:latin typeface="Aptos" pitchFamily="34" charset="0"/>
                <a:ea typeface="Aptos" pitchFamily="34" charset="-122"/>
                <a:cs typeface="Aptos" pitchFamily="34" charset="-120"/>
              </a:rPr>
              <a:t>Chaque entree ou sortie met a jour currentStock</a:t>
            </a:r>
            <a:endParaRPr lang="en-US" sz="1020" dirty="0"/>
          </a:p>
        </p:txBody>
      </p:sp>
      <p:sp>
        <p:nvSpPr>
          <p:cNvPr id="27" name="Shape 25"/>
          <p:cNvSpPr/>
          <p:nvPr/>
        </p:nvSpPr>
        <p:spPr>
          <a:xfrm>
            <a:off x="2907792" y="3438144"/>
            <a:ext cx="1627632" cy="1115568"/>
          </a:xfrm>
          <a:prstGeom prst="roundRect">
            <a:avLst>
              <a:gd name="adj" fmla="val 4098"/>
            </a:avLst>
          </a:prstGeom>
          <a:solidFill>
            <a:srgbClr val="F6E7CB"/>
          </a:solidFill>
          <a:ln w="12700">
            <a:solidFill>
              <a:srgbClr val="D8E0EA"/>
            </a:solidFill>
            <a:prstDash val="solid"/>
          </a:ln>
        </p:spPr>
      </p:sp>
      <p:sp>
        <p:nvSpPr>
          <p:cNvPr id="28" name="Text 26"/>
          <p:cNvSpPr/>
          <p:nvPr/>
        </p:nvSpPr>
        <p:spPr>
          <a:xfrm>
            <a:off x="3054096" y="3675888"/>
            <a:ext cx="1335024" cy="658368"/>
          </a:xfrm>
          <a:prstGeom prst="rect">
            <a:avLst/>
          </a:prstGeom>
          <a:noFill/>
          <a:ln/>
        </p:spPr>
        <p:txBody>
          <a:bodyPr wrap="square" lIns="381" tIns="381" rIns="381" bIns="381" rtlCol="0" anchor="ctr"/>
          <a:lstStyle/>
          <a:p>
            <a:pPr algn="ctr" indent="0" marL="0">
              <a:buNone/>
            </a:pPr>
            <a:r>
              <a:rPr lang="en-US" sz="1020" b="1" dirty="0">
                <a:solidFill>
                  <a:srgbClr val="172033"/>
                </a:solidFill>
                <a:latin typeface="Aptos" pitchFamily="34" charset="0"/>
                <a:ea typeface="Aptos" pitchFamily="34" charset="-122"/>
                <a:cs typeface="Aptos" pitchFamily="34" charset="-120"/>
              </a:rPr>
              <a:t>Le seuil produit et la date d expiration sont reevalues</a:t>
            </a:r>
            <a:endParaRPr lang="en-US" sz="1020" dirty="0"/>
          </a:p>
        </p:txBody>
      </p:sp>
      <p:sp>
        <p:nvSpPr>
          <p:cNvPr id="29" name="Shape 27"/>
          <p:cNvSpPr/>
          <p:nvPr/>
        </p:nvSpPr>
        <p:spPr>
          <a:xfrm>
            <a:off x="5029200" y="3438144"/>
            <a:ext cx="1627632" cy="1115568"/>
          </a:xfrm>
          <a:prstGeom prst="roundRect">
            <a:avLst>
              <a:gd name="adj" fmla="val 4098"/>
            </a:avLst>
          </a:prstGeom>
          <a:solidFill>
            <a:srgbClr val="F5D9D5"/>
          </a:solidFill>
          <a:ln w="12700">
            <a:solidFill>
              <a:srgbClr val="D8E0EA"/>
            </a:solidFill>
            <a:prstDash val="solid"/>
          </a:ln>
        </p:spPr>
      </p:sp>
      <p:sp>
        <p:nvSpPr>
          <p:cNvPr id="30" name="Text 28"/>
          <p:cNvSpPr/>
          <p:nvPr/>
        </p:nvSpPr>
        <p:spPr>
          <a:xfrm>
            <a:off x="5175504" y="3675888"/>
            <a:ext cx="1335024" cy="658368"/>
          </a:xfrm>
          <a:prstGeom prst="rect">
            <a:avLst/>
          </a:prstGeom>
          <a:noFill/>
          <a:ln/>
        </p:spPr>
        <p:txBody>
          <a:bodyPr wrap="square" lIns="381" tIns="381" rIns="381" bIns="381" rtlCol="0" anchor="ctr"/>
          <a:lstStyle/>
          <a:p>
            <a:pPr algn="ctr" indent="0" marL="0">
              <a:buNone/>
            </a:pPr>
            <a:r>
              <a:rPr lang="en-US" sz="1020" b="1" dirty="0">
                <a:solidFill>
                  <a:srgbClr val="172033"/>
                </a:solidFill>
                <a:latin typeface="Aptos" pitchFamily="34" charset="0"/>
                <a:ea typeface="Aptos" pitchFamily="34" charset="-122"/>
                <a:cs typeface="Aptos" pitchFamily="34" charset="-120"/>
              </a:rPr>
              <a:t>Le proprietaire recoit l'alerte avant la rupture</a:t>
            </a:r>
            <a:endParaRPr lang="en-US" sz="1020" dirty="0"/>
          </a:p>
        </p:txBody>
      </p:sp>
      <p:sp>
        <p:nvSpPr>
          <p:cNvPr id="31" name="Shape 29"/>
          <p:cNvSpPr/>
          <p:nvPr/>
        </p:nvSpPr>
        <p:spPr>
          <a:xfrm>
            <a:off x="2468880" y="3858768"/>
            <a:ext cx="310896" cy="256032"/>
          </a:xfrm>
          <a:prstGeom prst="chevron">
            <a:avLst/>
          </a:prstGeom>
          <a:solidFill>
            <a:srgbClr val="1F6B52"/>
          </a:solidFill>
          <a:ln w="12700">
            <a:solidFill>
              <a:srgbClr val="1F6B52"/>
            </a:solidFill>
            <a:prstDash val="solid"/>
          </a:ln>
        </p:spPr>
      </p:sp>
      <p:sp>
        <p:nvSpPr>
          <p:cNvPr id="32" name="Shape 30"/>
          <p:cNvSpPr/>
          <p:nvPr/>
        </p:nvSpPr>
        <p:spPr>
          <a:xfrm>
            <a:off x="4590288" y="3858768"/>
            <a:ext cx="310896" cy="256032"/>
          </a:xfrm>
          <a:prstGeom prst="chevron">
            <a:avLst/>
          </a:prstGeom>
          <a:solidFill>
            <a:srgbClr val="B7791F"/>
          </a:solidFill>
          <a:ln w="12700">
            <a:solidFill>
              <a:srgbClr val="B7791F"/>
            </a:solidFill>
            <a:prstDash val="solid"/>
          </a:ln>
        </p:spPr>
      </p:sp>
      <p:sp>
        <p:nvSpPr>
          <p:cNvPr id="33" name="Shape 31"/>
          <p:cNvSpPr/>
          <p:nvPr/>
        </p:nvSpPr>
        <p:spPr>
          <a:xfrm>
            <a:off x="7406640" y="1783080"/>
            <a:ext cx="3886200" cy="3401568"/>
          </a:xfrm>
          <a:prstGeom prst="roundRect">
            <a:avLst>
              <a:gd name="adj" fmla="val 1613"/>
            </a:avLst>
          </a:prstGeom>
          <a:solidFill>
            <a:srgbClr val="172033"/>
          </a:solidFill>
          <a:ln w="12700">
            <a:solidFill>
              <a:srgbClr val="172033"/>
            </a:solidFill>
            <a:prstDash val="solid"/>
          </a:ln>
        </p:spPr>
      </p:sp>
      <p:sp>
        <p:nvSpPr>
          <p:cNvPr id="34" name="Text 32"/>
          <p:cNvSpPr/>
          <p:nvPr/>
        </p:nvSpPr>
        <p:spPr>
          <a:xfrm>
            <a:off x="7662672" y="2029968"/>
            <a:ext cx="2011680" cy="182880"/>
          </a:xfrm>
          <a:prstGeom prst="rect">
            <a:avLst/>
          </a:prstGeom>
          <a:noFill/>
          <a:ln/>
        </p:spPr>
        <p:txBody>
          <a:bodyPr wrap="square" rtlCol="0" anchor="ctr"/>
          <a:lstStyle/>
          <a:p>
            <a:pPr indent="0" marL="0">
              <a:buNone/>
            </a:pPr>
            <a:r>
              <a:rPr lang="en-US" sz="820" b="1" spc="120" kern="0" dirty="0">
                <a:solidFill>
                  <a:srgbClr val="EEE7DA"/>
                </a:solidFill>
                <a:latin typeface="Aptos" pitchFamily="34" charset="0"/>
                <a:ea typeface="Aptos" pitchFamily="34" charset="-122"/>
                <a:cs typeface="Aptos" pitchFamily="34" charset="-120"/>
              </a:rPr>
              <a:t>Resultat attendu</a:t>
            </a:r>
            <a:endParaRPr lang="en-US" sz="820" dirty="0"/>
          </a:p>
        </p:txBody>
      </p:sp>
      <p:sp>
        <p:nvSpPr>
          <p:cNvPr id="35" name="Shape 33"/>
          <p:cNvSpPr/>
          <p:nvPr/>
        </p:nvSpPr>
        <p:spPr>
          <a:xfrm>
            <a:off x="7662672" y="2450592"/>
            <a:ext cx="91440" cy="91440"/>
          </a:xfrm>
          <a:prstGeom prst="ellipse">
            <a:avLst/>
          </a:prstGeom>
          <a:solidFill>
            <a:srgbClr val="DCEEE6"/>
          </a:solidFill>
          <a:ln w="12700">
            <a:solidFill>
              <a:srgbClr val="DCEEE6"/>
            </a:solidFill>
            <a:prstDash val="solid"/>
          </a:ln>
        </p:spPr>
      </p:sp>
      <p:sp>
        <p:nvSpPr>
          <p:cNvPr id="36" name="Text 34"/>
          <p:cNvSpPr/>
          <p:nvPr/>
        </p:nvSpPr>
        <p:spPr>
          <a:xfrm>
            <a:off x="7827264" y="2395728"/>
            <a:ext cx="2971800" cy="228600"/>
          </a:xfrm>
          <a:prstGeom prst="rect">
            <a:avLst/>
          </a:prstGeom>
          <a:noFill/>
          <a:ln/>
        </p:spPr>
        <p:txBody>
          <a:bodyPr wrap="square" lIns="0" tIns="0" rIns="0" bIns="0" rtlCol="0" anchor="ctr"/>
          <a:lstStyle/>
          <a:p>
            <a:pPr indent="0" marL="0">
              <a:buNone/>
            </a:pPr>
            <a:r>
              <a:rPr lang="en-US" sz="1040" dirty="0">
                <a:solidFill>
                  <a:srgbClr val="FFFFFF"/>
                </a:solidFill>
                <a:latin typeface="Aptos" pitchFamily="34" charset="0"/>
                <a:ea typeface="Aptos" pitchFamily="34" charset="-122"/>
                <a:cs typeface="Aptos" pitchFamily="34" charset="-120"/>
              </a:rPr>
              <a:t>Le magasin sait quel produit manque vraiment.</a:t>
            </a:r>
            <a:endParaRPr lang="en-US" sz="1040" dirty="0"/>
          </a:p>
        </p:txBody>
      </p:sp>
      <p:sp>
        <p:nvSpPr>
          <p:cNvPr id="37" name="Shape 35"/>
          <p:cNvSpPr/>
          <p:nvPr/>
        </p:nvSpPr>
        <p:spPr>
          <a:xfrm>
            <a:off x="7662672" y="2926080"/>
            <a:ext cx="91440" cy="91440"/>
          </a:xfrm>
          <a:prstGeom prst="ellipse">
            <a:avLst/>
          </a:prstGeom>
          <a:solidFill>
            <a:srgbClr val="DCEEE6"/>
          </a:solidFill>
          <a:ln w="12700">
            <a:solidFill>
              <a:srgbClr val="DCEEE6"/>
            </a:solidFill>
            <a:prstDash val="solid"/>
          </a:ln>
        </p:spPr>
      </p:sp>
      <p:sp>
        <p:nvSpPr>
          <p:cNvPr id="38" name="Text 36"/>
          <p:cNvSpPr/>
          <p:nvPr/>
        </p:nvSpPr>
        <p:spPr>
          <a:xfrm>
            <a:off x="7827264" y="2871216"/>
            <a:ext cx="2971800" cy="228600"/>
          </a:xfrm>
          <a:prstGeom prst="rect">
            <a:avLst/>
          </a:prstGeom>
          <a:noFill/>
          <a:ln/>
        </p:spPr>
        <p:txBody>
          <a:bodyPr wrap="square" lIns="0" tIns="0" rIns="0" bIns="0" rtlCol="0" anchor="ctr"/>
          <a:lstStyle/>
          <a:p>
            <a:pPr indent="0" marL="0">
              <a:buNone/>
            </a:pPr>
            <a:r>
              <a:rPr lang="en-US" sz="1040" dirty="0">
                <a:solidFill>
                  <a:srgbClr val="FFFFFF"/>
                </a:solidFill>
                <a:latin typeface="Aptos" pitchFamily="34" charset="0"/>
                <a:ea typeface="Aptos" pitchFamily="34" charset="-122"/>
                <a:cs typeface="Aptos" pitchFamily="34" charset="-120"/>
              </a:rPr>
              <a:t>Le proprietaire voit les priorites avant l'impact client.</a:t>
            </a:r>
            <a:endParaRPr lang="en-US" sz="1040" dirty="0"/>
          </a:p>
        </p:txBody>
      </p:sp>
      <p:sp>
        <p:nvSpPr>
          <p:cNvPr id="39" name="Shape 37"/>
          <p:cNvSpPr/>
          <p:nvPr/>
        </p:nvSpPr>
        <p:spPr>
          <a:xfrm>
            <a:off x="7662672" y="3401568"/>
            <a:ext cx="91440" cy="91440"/>
          </a:xfrm>
          <a:prstGeom prst="ellipse">
            <a:avLst/>
          </a:prstGeom>
          <a:solidFill>
            <a:srgbClr val="DCEEE6"/>
          </a:solidFill>
          <a:ln w="12700">
            <a:solidFill>
              <a:srgbClr val="DCEEE6"/>
            </a:solidFill>
            <a:prstDash val="solid"/>
          </a:ln>
        </p:spPr>
      </p:sp>
      <p:sp>
        <p:nvSpPr>
          <p:cNvPr id="40" name="Text 38"/>
          <p:cNvSpPr/>
          <p:nvPr/>
        </p:nvSpPr>
        <p:spPr>
          <a:xfrm>
            <a:off x="7827264" y="3346704"/>
            <a:ext cx="2971800" cy="228600"/>
          </a:xfrm>
          <a:prstGeom prst="rect">
            <a:avLst/>
          </a:prstGeom>
          <a:noFill/>
          <a:ln/>
        </p:spPr>
        <p:txBody>
          <a:bodyPr wrap="square" lIns="0" tIns="0" rIns="0" bIns="0" rtlCol="0" anchor="ctr"/>
          <a:lstStyle/>
          <a:p>
            <a:pPr indent="0" marL="0">
              <a:buNone/>
            </a:pPr>
            <a:r>
              <a:rPr lang="en-US" sz="1040" dirty="0">
                <a:solidFill>
                  <a:srgbClr val="FFFFFF"/>
                </a:solidFill>
                <a:latin typeface="Aptos" pitchFamily="34" charset="0"/>
                <a:ea typeface="Aptos" pitchFamily="34" charset="-122"/>
                <a:cs typeface="Aptos" pitchFamily="34" charset="-120"/>
              </a:rPr>
              <a:t>Les dates d'expiration deviennent exploitables.</a:t>
            </a:r>
            <a:endParaRPr lang="en-US" sz="1040" dirty="0"/>
          </a:p>
        </p:txBody>
      </p:sp>
      <p:sp>
        <p:nvSpPr>
          <p:cNvPr id="41" name="Shape 39"/>
          <p:cNvSpPr/>
          <p:nvPr/>
        </p:nvSpPr>
        <p:spPr>
          <a:xfrm>
            <a:off x="7662672" y="3877056"/>
            <a:ext cx="91440" cy="91440"/>
          </a:xfrm>
          <a:prstGeom prst="ellipse">
            <a:avLst/>
          </a:prstGeom>
          <a:solidFill>
            <a:srgbClr val="DCEEE6"/>
          </a:solidFill>
          <a:ln w="12700">
            <a:solidFill>
              <a:srgbClr val="DCEEE6"/>
            </a:solidFill>
            <a:prstDash val="solid"/>
          </a:ln>
        </p:spPr>
      </p:sp>
      <p:sp>
        <p:nvSpPr>
          <p:cNvPr id="42" name="Text 40"/>
          <p:cNvSpPr/>
          <p:nvPr/>
        </p:nvSpPr>
        <p:spPr>
          <a:xfrm>
            <a:off x="7827264" y="3822192"/>
            <a:ext cx="2971800" cy="228600"/>
          </a:xfrm>
          <a:prstGeom prst="rect">
            <a:avLst/>
          </a:prstGeom>
          <a:noFill/>
          <a:ln/>
        </p:spPr>
        <p:txBody>
          <a:bodyPr wrap="square" lIns="0" tIns="0" rIns="0" bIns="0" rtlCol="0" anchor="ctr"/>
          <a:lstStyle/>
          <a:p>
            <a:pPr indent="0" marL="0">
              <a:buNone/>
            </a:pPr>
            <a:r>
              <a:rPr lang="en-US" sz="1040" dirty="0">
                <a:solidFill>
                  <a:srgbClr val="FFFFFF"/>
                </a:solidFill>
                <a:latin typeface="Aptos" pitchFamily="34" charset="0"/>
                <a:ea typeface="Aptos" pitchFamily="34" charset="-122"/>
                <a:cs typeface="Aptos" pitchFamily="34" charset="-120"/>
              </a:rPr>
              <a:t>Le systeme supprime les alertes quand la condition disparait.</a:t>
            </a:r>
            <a:endParaRPr lang="en-US" sz="1040" dirty="0"/>
          </a:p>
        </p:txBody>
      </p:sp>
      <p:sp>
        <p:nvSpPr>
          <p:cNvPr id="43" name="Text 41"/>
          <p:cNvSpPr/>
          <p:nvPr/>
        </p:nvSpPr>
        <p:spPr>
          <a:xfrm>
            <a:off x="512064" y="6419088"/>
            <a:ext cx="7772400" cy="164592"/>
          </a:xfrm>
          <a:prstGeom prst="rect">
            <a:avLst/>
          </a:prstGeom>
          <a:noFill/>
          <a:ln/>
        </p:spPr>
        <p:txBody>
          <a:bodyPr wrap="square" lIns="0" tIns="0" rIns="0" bIns="0" rtlCol="0" anchor="ctr"/>
          <a:lstStyle/>
          <a:p>
            <a:pPr indent="0" marL="0">
              <a:buNone/>
            </a:pPr>
            <a:r>
              <a:rPr lang="en-US" sz="800" dirty="0">
                <a:solidFill>
                  <a:srgbClr val="64748B"/>
                </a:solidFill>
                <a:latin typeface="Aptos" pitchFamily="34" charset="0"/>
                <a:ea typeface="Aptos" pitchFamily="34" charset="-122"/>
                <a:cs typeface="Aptos" pitchFamily="34" charset="-120"/>
              </a:rPr>
              <a:t>La promesse du projet: passer d'une reaction tardive a une prevention continue.</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5F1E8"/>
          </a:solidFill>
          <a:ln w="12700">
            <a:solidFill>
              <a:srgbClr val="F5F1E8">
                <a:alpha val="0"/>
              </a:srgbClr>
            </a:solidFill>
            <a:prstDash val="solid"/>
          </a:ln>
        </p:spPr>
      </p:sp>
      <p:sp>
        <p:nvSpPr>
          <p:cNvPr id="3" name="Shape 1"/>
          <p:cNvSpPr/>
          <p:nvPr/>
        </p:nvSpPr>
        <p:spPr>
          <a:xfrm>
            <a:off x="384048" y="347472"/>
            <a:ext cx="11420856" cy="18288"/>
          </a:xfrm>
          <a:prstGeom prst="rect">
            <a:avLst/>
          </a:prstGeom>
          <a:solidFill>
            <a:srgbClr val="D8E0EA"/>
          </a:solidFill>
          <a:ln w="12700">
            <a:solidFill>
              <a:srgbClr val="D8E0EA"/>
            </a:solidFill>
            <a:prstDash val="solid"/>
          </a:ln>
        </p:spPr>
      </p:sp>
      <p:sp>
        <p:nvSpPr>
          <p:cNvPr id="4" name="Text 2"/>
          <p:cNvSpPr/>
          <p:nvPr/>
        </p:nvSpPr>
        <p:spPr>
          <a:xfrm>
            <a:off x="512064" y="155448"/>
            <a:ext cx="2926080" cy="164592"/>
          </a:xfrm>
          <a:prstGeom prst="rect">
            <a:avLst/>
          </a:prstGeom>
          <a:noFill/>
          <a:ln/>
        </p:spPr>
        <p:txBody>
          <a:bodyPr wrap="square" rtlCol="0" anchor="ctr"/>
          <a:lstStyle/>
          <a:p>
            <a:pPr indent="0" marL="0">
              <a:buNone/>
            </a:pPr>
            <a:r>
              <a:rPr lang="en-US" sz="800" b="1" spc="160" kern="0" dirty="0">
                <a:solidFill>
                  <a:srgbClr val="1F6B52"/>
                </a:solidFill>
                <a:latin typeface="Aptos" pitchFamily="34" charset="0"/>
                <a:ea typeface="Aptos" pitchFamily="34" charset="-122"/>
                <a:cs typeface="Aptos" pitchFamily="34" charset="-120"/>
              </a:rPr>
              <a:t>ARCHITECTURE</a:t>
            </a:r>
            <a:endParaRPr lang="en-US" sz="800" dirty="0"/>
          </a:p>
        </p:txBody>
      </p:sp>
      <p:sp>
        <p:nvSpPr>
          <p:cNvPr id="5" name="Text 3"/>
          <p:cNvSpPr/>
          <p:nvPr/>
        </p:nvSpPr>
        <p:spPr>
          <a:xfrm>
            <a:off x="11109960" y="6446520"/>
            <a:ext cx="640080" cy="182880"/>
          </a:xfrm>
          <a:prstGeom prst="rect">
            <a:avLst/>
          </a:prstGeom>
          <a:noFill/>
          <a:ln/>
        </p:spPr>
        <p:txBody>
          <a:bodyPr wrap="square" rtlCol="0" anchor="ctr"/>
          <a:lstStyle/>
          <a:p>
            <a:pPr algn="r" indent="0" marL="0">
              <a:buNone/>
            </a:pPr>
            <a:r>
              <a:rPr lang="en-US" sz="800" dirty="0">
                <a:solidFill>
                  <a:srgbClr val="64748B"/>
                </a:solidFill>
                <a:latin typeface="Aptos" pitchFamily="34" charset="0"/>
                <a:ea typeface="Aptos" pitchFamily="34" charset="-122"/>
                <a:cs typeface="Aptos" pitchFamily="34" charset="-120"/>
              </a:rPr>
              <a:t>04 / 12</a:t>
            </a:r>
            <a:endParaRPr lang="en-US" sz="800" dirty="0"/>
          </a:p>
        </p:txBody>
      </p:sp>
      <p:sp>
        <p:nvSpPr>
          <p:cNvPr id="6" name="Text 4"/>
          <p:cNvSpPr/>
          <p:nvPr/>
        </p:nvSpPr>
        <p:spPr>
          <a:xfrm>
            <a:off x="512064" y="530352"/>
            <a:ext cx="7772400" cy="694944"/>
          </a:xfrm>
          <a:prstGeom prst="rect">
            <a:avLst/>
          </a:prstGeom>
          <a:noFill/>
          <a:ln/>
        </p:spPr>
        <p:txBody>
          <a:bodyPr wrap="square" lIns="0" tIns="0" rIns="0" bIns="0" rtlCol="0" anchor="ctr"/>
          <a:lstStyle/>
          <a:p>
            <a:pPr indent="0" marL="0">
              <a:buNone/>
            </a:pPr>
            <a:r>
              <a:rPr lang="en-US" sz="2400" b="1" dirty="0">
                <a:solidFill>
                  <a:srgbClr val="172033"/>
                </a:solidFill>
                <a:latin typeface="Aptos Display" pitchFamily="34" charset="0"/>
                <a:ea typeface="Aptos Display" pitchFamily="34" charset="-122"/>
                <a:cs typeface="Aptos Display" pitchFamily="34" charset="-120"/>
              </a:rPr>
              <a:t>L'architecture relie la caisse, l'inventaire et les alertes sans casser les frontieres du systeme.</a:t>
            </a:r>
            <a:endParaRPr lang="en-US" sz="2400" dirty="0"/>
          </a:p>
        </p:txBody>
      </p:sp>
      <p:sp>
        <p:nvSpPr>
          <p:cNvPr id="7" name="Text 5"/>
          <p:cNvSpPr/>
          <p:nvPr/>
        </p:nvSpPr>
        <p:spPr>
          <a:xfrm>
            <a:off x="512064" y="1078992"/>
            <a:ext cx="8138160" cy="411480"/>
          </a:xfrm>
          <a:prstGeom prst="rect">
            <a:avLst/>
          </a:prstGeom>
          <a:noFill/>
          <a:ln/>
        </p:spPr>
        <p:txBody>
          <a:bodyPr wrap="square" lIns="0" tIns="0" rIns="0" bIns="0" rtlCol="0" anchor="ctr"/>
          <a:lstStyle/>
          <a:p>
            <a:pPr indent="0" marL="0">
              <a:buNone/>
            </a:pPr>
            <a:r>
              <a:rPr lang="en-US" sz="1050" dirty="0">
                <a:solidFill>
                  <a:srgbClr val="334155"/>
                </a:solidFill>
                <a:latin typeface="Aptos" pitchFamily="34" charset="0"/>
                <a:ea typeface="Aptos" pitchFamily="34" charset="-122"/>
                <a:cs typeface="Aptos" pitchFamily="34" charset="-120"/>
              </a:rPr>
              <a:t>Le backend reste la source de verite, le frontend orchestre les actions, et le module d'alertes agit comme moteur metier specialise.</a:t>
            </a:r>
            <a:endParaRPr lang="en-US" sz="1050" dirty="0"/>
          </a:p>
        </p:txBody>
      </p:sp>
      <p:sp>
        <p:nvSpPr>
          <p:cNvPr id="8" name="Shape 6"/>
          <p:cNvSpPr/>
          <p:nvPr/>
        </p:nvSpPr>
        <p:spPr>
          <a:xfrm>
            <a:off x="640080" y="1901952"/>
            <a:ext cx="2944368" cy="3054096"/>
          </a:xfrm>
          <a:prstGeom prst="roundRect">
            <a:avLst>
              <a:gd name="adj" fmla="val 1863"/>
            </a:avLst>
          </a:prstGeom>
          <a:solidFill>
            <a:srgbClr val="FFFFFF"/>
          </a:solidFill>
          <a:ln w="12700">
            <a:solidFill>
              <a:srgbClr val="D8E0EA"/>
            </a:solidFill>
            <a:prstDash val="solid"/>
          </a:ln>
          <a:effectLst>
            <a:outerShdw sx="100000" sy="100000" kx="0" ky="0" algn="bl" rotWithShape="0" blurRad="12700" dist="50800" dir="2700000">
              <a:srgbClr val="BFC8D4">
                <a:alpha val="18000"/>
              </a:srgbClr>
            </a:outerShdw>
          </a:effectLst>
        </p:spPr>
      </p:sp>
      <p:sp>
        <p:nvSpPr>
          <p:cNvPr id="9" name="Shape 7"/>
          <p:cNvSpPr/>
          <p:nvPr/>
        </p:nvSpPr>
        <p:spPr>
          <a:xfrm>
            <a:off x="640080" y="1901952"/>
            <a:ext cx="2944368" cy="146304"/>
          </a:xfrm>
          <a:prstGeom prst="rect">
            <a:avLst/>
          </a:prstGeom>
          <a:solidFill>
            <a:srgbClr val="172033"/>
          </a:solidFill>
          <a:ln w="12700">
            <a:solidFill>
              <a:srgbClr val="172033"/>
            </a:solidFill>
            <a:prstDash val="solid"/>
          </a:ln>
        </p:spPr>
      </p:sp>
      <p:sp>
        <p:nvSpPr>
          <p:cNvPr id="10" name="Shape 8"/>
          <p:cNvSpPr/>
          <p:nvPr/>
        </p:nvSpPr>
        <p:spPr>
          <a:xfrm>
            <a:off x="859536" y="2212848"/>
            <a:ext cx="493776" cy="256032"/>
          </a:xfrm>
          <a:prstGeom prst="roundRect">
            <a:avLst>
              <a:gd name="adj" fmla="val 10714"/>
            </a:avLst>
          </a:prstGeom>
          <a:solidFill>
            <a:srgbClr val="DCEEE6"/>
          </a:solidFill>
          <a:ln w="12700">
            <a:solidFill>
              <a:srgbClr val="DCEEE6"/>
            </a:solidFill>
            <a:prstDash val="solid"/>
          </a:ln>
        </p:spPr>
      </p:sp>
      <p:sp>
        <p:nvSpPr>
          <p:cNvPr id="11" name="Text 9"/>
          <p:cNvSpPr/>
          <p:nvPr/>
        </p:nvSpPr>
        <p:spPr>
          <a:xfrm>
            <a:off x="859536" y="2596896"/>
            <a:ext cx="2340864" cy="292608"/>
          </a:xfrm>
          <a:prstGeom prst="rect">
            <a:avLst/>
          </a:prstGeom>
          <a:noFill/>
          <a:ln/>
        </p:spPr>
        <p:txBody>
          <a:bodyPr wrap="square" lIns="0" tIns="0" rIns="0" bIns="0" rtlCol="0" anchor="ctr"/>
          <a:lstStyle/>
          <a:p>
            <a:pPr indent="0" marL="0">
              <a:buNone/>
            </a:pPr>
            <a:r>
              <a:rPr lang="en-US" sz="1450" b="1" dirty="0">
                <a:solidFill>
                  <a:srgbClr val="172033"/>
                </a:solidFill>
                <a:latin typeface="Aptos Display" pitchFamily="34" charset="0"/>
                <a:ea typeface="Aptos Display" pitchFamily="34" charset="-122"/>
                <a:cs typeface="Aptos Display" pitchFamily="34" charset="-120"/>
              </a:rPr>
              <a:t>Frontend Next.js</a:t>
            </a:r>
            <a:endParaRPr lang="en-US" sz="1450" dirty="0"/>
          </a:p>
        </p:txBody>
      </p:sp>
      <p:sp>
        <p:nvSpPr>
          <p:cNvPr id="12" name="Shape 10"/>
          <p:cNvSpPr/>
          <p:nvPr/>
        </p:nvSpPr>
        <p:spPr>
          <a:xfrm>
            <a:off x="859536" y="3127248"/>
            <a:ext cx="91440" cy="91440"/>
          </a:xfrm>
          <a:prstGeom prst="ellipse">
            <a:avLst/>
          </a:prstGeom>
          <a:solidFill>
            <a:srgbClr val="1F6B52"/>
          </a:solidFill>
          <a:ln w="12700">
            <a:solidFill>
              <a:srgbClr val="1F6B52"/>
            </a:solidFill>
            <a:prstDash val="solid"/>
          </a:ln>
        </p:spPr>
      </p:sp>
      <p:sp>
        <p:nvSpPr>
          <p:cNvPr id="13" name="Text 11"/>
          <p:cNvSpPr/>
          <p:nvPr/>
        </p:nvSpPr>
        <p:spPr>
          <a:xfrm>
            <a:off x="1024128" y="3072384"/>
            <a:ext cx="2331720" cy="228600"/>
          </a:xfrm>
          <a:prstGeom prst="rect">
            <a:avLst/>
          </a:prstGeom>
          <a:noFill/>
          <a:ln/>
        </p:spPr>
        <p:txBody>
          <a:bodyPr wrap="square" lIns="0" tIns="0" rIns="0" bIns="0" rtlCol="0" anchor="ctr"/>
          <a:lstStyle/>
          <a:p>
            <a:pPr indent="0" marL="0">
              <a:buNone/>
            </a:pPr>
            <a:r>
              <a:rPr lang="en-US" sz="1030" dirty="0">
                <a:solidFill>
                  <a:srgbClr val="334155"/>
                </a:solidFill>
                <a:latin typeface="Aptos" pitchFamily="34" charset="0"/>
                <a:ea typeface="Aptos" pitchFamily="34" charset="-122"/>
                <a:cs typeface="Aptos" pitchFamily="34" charset="-120"/>
              </a:rPr>
              <a:t>Dashboard proprietaire</a:t>
            </a:r>
            <a:endParaRPr lang="en-US" sz="1030" dirty="0"/>
          </a:p>
        </p:txBody>
      </p:sp>
      <p:sp>
        <p:nvSpPr>
          <p:cNvPr id="14" name="Shape 12"/>
          <p:cNvSpPr/>
          <p:nvPr/>
        </p:nvSpPr>
        <p:spPr>
          <a:xfrm>
            <a:off x="859536" y="3584448"/>
            <a:ext cx="91440" cy="91440"/>
          </a:xfrm>
          <a:prstGeom prst="ellipse">
            <a:avLst/>
          </a:prstGeom>
          <a:solidFill>
            <a:srgbClr val="1F6B52"/>
          </a:solidFill>
          <a:ln w="12700">
            <a:solidFill>
              <a:srgbClr val="1F6B52"/>
            </a:solidFill>
            <a:prstDash val="solid"/>
          </a:ln>
        </p:spPr>
      </p:sp>
      <p:sp>
        <p:nvSpPr>
          <p:cNvPr id="15" name="Text 13"/>
          <p:cNvSpPr/>
          <p:nvPr/>
        </p:nvSpPr>
        <p:spPr>
          <a:xfrm>
            <a:off x="1024128" y="3529584"/>
            <a:ext cx="2331720" cy="228600"/>
          </a:xfrm>
          <a:prstGeom prst="rect">
            <a:avLst/>
          </a:prstGeom>
          <a:noFill/>
          <a:ln/>
        </p:spPr>
        <p:txBody>
          <a:bodyPr wrap="square" lIns="0" tIns="0" rIns="0" bIns="0" rtlCol="0" anchor="ctr"/>
          <a:lstStyle/>
          <a:p>
            <a:pPr indent="0" marL="0">
              <a:buNone/>
            </a:pPr>
            <a:r>
              <a:rPr lang="en-US" sz="1030" dirty="0">
                <a:solidFill>
                  <a:srgbClr val="334155"/>
                </a:solidFill>
                <a:latin typeface="Aptos" pitchFamily="34" charset="0"/>
                <a:ea typeface="Aptos" pitchFamily="34" charset="-122"/>
                <a:cs typeface="Aptos" pitchFamily="34" charset="-120"/>
              </a:rPr>
              <a:t>Inventaire et alertes</a:t>
            </a:r>
            <a:endParaRPr lang="en-US" sz="1030" dirty="0"/>
          </a:p>
        </p:txBody>
      </p:sp>
      <p:sp>
        <p:nvSpPr>
          <p:cNvPr id="16" name="Shape 14"/>
          <p:cNvSpPr/>
          <p:nvPr/>
        </p:nvSpPr>
        <p:spPr>
          <a:xfrm>
            <a:off x="859536" y="4041648"/>
            <a:ext cx="91440" cy="91440"/>
          </a:xfrm>
          <a:prstGeom prst="ellipse">
            <a:avLst/>
          </a:prstGeom>
          <a:solidFill>
            <a:srgbClr val="1F6B52"/>
          </a:solidFill>
          <a:ln w="12700">
            <a:solidFill>
              <a:srgbClr val="1F6B52"/>
            </a:solidFill>
            <a:prstDash val="solid"/>
          </a:ln>
        </p:spPr>
      </p:sp>
      <p:sp>
        <p:nvSpPr>
          <p:cNvPr id="17" name="Text 15"/>
          <p:cNvSpPr/>
          <p:nvPr/>
        </p:nvSpPr>
        <p:spPr>
          <a:xfrm>
            <a:off x="1024128" y="3986784"/>
            <a:ext cx="2331720" cy="228600"/>
          </a:xfrm>
          <a:prstGeom prst="rect">
            <a:avLst/>
          </a:prstGeom>
          <a:noFill/>
          <a:ln/>
        </p:spPr>
        <p:txBody>
          <a:bodyPr wrap="square" lIns="0" tIns="0" rIns="0" bIns="0" rtlCol="0" anchor="ctr"/>
          <a:lstStyle/>
          <a:p>
            <a:pPr indent="0" marL="0">
              <a:buNone/>
            </a:pPr>
            <a:r>
              <a:rPr lang="en-US" sz="1030" dirty="0">
                <a:solidFill>
                  <a:srgbClr val="334155"/>
                </a:solidFill>
                <a:latin typeface="Aptos" pitchFamily="34" charset="0"/>
                <a:ea typeface="Aptos" pitchFamily="34" charset="-122"/>
                <a:cs typeface="Aptos" pitchFamily="34" charset="-120"/>
              </a:rPr>
              <a:t>Badge et polling 30 s</a:t>
            </a:r>
            <a:endParaRPr lang="en-US" sz="1030" dirty="0"/>
          </a:p>
        </p:txBody>
      </p:sp>
      <p:sp>
        <p:nvSpPr>
          <p:cNvPr id="18" name="Shape 16"/>
          <p:cNvSpPr/>
          <p:nvPr/>
        </p:nvSpPr>
        <p:spPr>
          <a:xfrm>
            <a:off x="4087368" y="1901952"/>
            <a:ext cx="2944368" cy="3054096"/>
          </a:xfrm>
          <a:prstGeom prst="roundRect">
            <a:avLst>
              <a:gd name="adj" fmla="val 1863"/>
            </a:avLst>
          </a:prstGeom>
          <a:solidFill>
            <a:srgbClr val="FFFFFF"/>
          </a:solidFill>
          <a:ln w="12700">
            <a:solidFill>
              <a:srgbClr val="D8E0EA"/>
            </a:solidFill>
            <a:prstDash val="solid"/>
          </a:ln>
          <a:effectLst>
            <a:outerShdw sx="100000" sy="100000" kx="0" ky="0" algn="bl" rotWithShape="0" blurRad="12700" dist="50800" dir="2700000">
              <a:srgbClr val="BFC8D4">
                <a:alpha val="18000"/>
              </a:srgbClr>
            </a:outerShdw>
          </a:effectLst>
        </p:spPr>
      </p:sp>
      <p:sp>
        <p:nvSpPr>
          <p:cNvPr id="19" name="Shape 17"/>
          <p:cNvSpPr/>
          <p:nvPr/>
        </p:nvSpPr>
        <p:spPr>
          <a:xfrm>
            <a:off x="4087368" y="1901952"/>
            <a:ext cx="2944368" cy="146304"/>
          </a:xfrm>
          <a:prstGeom prst="rect">
            <a:avLst/>
          </a:prstGeom>
          <a:solidFill>
            <a:srgbClr val="172033"/>
          </a:solidFill>
          <a:ln w="12700">
            <a:solidFill>
              <a:srgbClr val="172033"/>
            </a:solidFill>
            <a:prstDash val="solid"/>
          </a:ln>
        </p:spPr>
      </p:sp>
      <p:sp>
        <p:nvSpPr>
          <p:cNvPr id="20" name="Shape 18"/>
          <p:cNvSpPr/>
          <p:nvPr/>
        </p:nvSpPr>
        <p:spPr>
          <a:xfrm>
            <a:off x="4306824" y="2212848"/>
            <a:ext cx="493776" cy="256032"/>
          </a:xfrm>
          <a:prstGeom prst="roundRect">
            <a:avLst>
              <a:gd name="adj" fmla="val 10714"/>
            </a:avLst>
          </a:prstGeom>
          <a:solidFill>
            <a:srgbClr val="DCE4F0"/>
          </a:solidFill>
          <a:ln w="12700">
            <a:solidFill>
              <a:srgbClr val="DCE4F0"/>
            </a:solidFill>
            <a:prstDash val="solid"/>
          </a:ln>
        </p:spPr>
      </p:sp>
      <p:sp>
        <p:nvSpPr>
          <p:cNvPr id="21" name="Text 19"/>
          <p:cNvSpPr/>
          <p:nvPr/>
        </p:nvSpPr>
        <p:spPr>
          <a:xfrm>
            <a:off x="4306824" y="2596896"/>
            <a:ext cx="2340864" cy="292608"/>
          </a:xfrm>
          <a:prstGeom prst="rect">
            <a:avLst/>
          </a:prstGeom>
          <a:noFill/>
          <a:ln/>
        </p:spPr>
        <p:txBody>
          <a:bodyPr wrap="square" lIns="0" tIns="0" rIns="0" bIns="0" rtlCol="0" anchor="ctr"/>
          <a:lstStyle/>
          <a:p>
            <a:pPr indent="0" marL="0">
              <a:buNone/>
            </a:pPr>
            <a:r>
              <a:rPr lang="en-US" sz="1450" b="1" dirty="0">
                <a:solidFill>
                  <a:srgbClr val="172033"/>
                </a:solidFill>
                <a:latin typeface="Aptos Display" pitchFamily="34" charset="0"/>
                <a:ea typeface="Aptos Display" pitchFamily="34" charset="-122"/>
                <a:cs typeface="Aptos Display" pitchFamily="34" charset="-120"/>
              </a:rPr>
              <a:t>API NestJS</a:t>
            </a:r>
            <a:endParaRPr lang="en-US" sz="1450" dirty="0"/>
          </a:p>
        </p:txBody>
      </p:sp>
      <p:sp>
        <p:nvSpPr>
          <p:cNvPr id="22" name="Shape 20"/>
          <p:cNvSpPr/>
          <p:nvPr/>
        </p:nvSpPr>
        <p:spPr>
          <a:xfrm>
            <a:off x="4306824" y="3127248"/>
            <a:ext cx="91440" cy="91440"/>
          </a:xfrm>
          <a:prstGeom prst="ellipse">
            <a:avLst/>
          </a:prstGeom>
          <a:solidFill>
            <a:srgbClr val="1F6B52"/>
          </a:solidFill>
          <a:ln w="12700">
            <a:solidFill>
              <a:srgbClr val="1F6B52"/>
            </a:solidFill>
            <a:prstDash val="solid"/>
          </a:ln>
        </p:spPr>
      </p:sp>
      <p:sp>
        <p:nvSpPr>
          <p:cNvPr id="23" name="Text 21"/>
          <p:cNvSpPr/>
          <p:nvPr/>
        </p:nvSpPr>
        <p:spPr>
          <a:xfrm>
            <a:off x="4471416" y="3072384"/>
            <a:ext cx="2331720" cy="228600"/>
          </a:xfrm>
          <a:prstGeom prst="rect">
            <a:avLst/>
          </a:prstGeom>
          <a:noFill/>
          <a:ln/>
        </p:spPr>
        <p:txBody>
          <a:bodyPr wrap="square" lIns="0" tIns="0" rIns="0" bIns="0" rtlCol="0" anchor="ctr"/>
          <a:lstStyle/>
          <a:p>
            <a:pPr indent="0" marL="0">
              <a:buNone/>
            </a:pPr>
            <a:r>
              <a:rPr lang="en-US" sz="1030" dirty="0">
                <a:solidFill>
                  <a:srgbClr val="334155"/>
                </a:solidFill>
                <a:latin typeface="Aptos" pitchFamily="34" charset="0"/>
                <a:ea typeface="Aptos" pitchFamily="34" charset="-122"/>
                <a:cs typeface="Aptos" pitchFamily="34" charset="-120"/>
              </a:rPr>
              <a:t>Controllers fins</a:t>
            </a:r>
            <a:endParaRPr lang="en-US" sz="1030" dirty="0"/>
          </a:p>
        </p:txBody>
      </p:sp>
      <p:sp>
        <p:nvSpPr>
          <p:cNvPr id="24" name="Shape 22"/>
          <p:cNvSpPr/>
          <p:nvPr/>
        </p:nvSpPr>
        <p:spPr>
          <a:xfrm>
            <a:off x="4306824" y="3584448"/>
            <a:ext cx="91440" cy="91440"/>
          </a:xfrm>
          <a:prstGeom prst="ellipse">
            <a:avLst/>
          </a:prstGeom>
          <a:solidFill>
            <a:srgbClr val="1F6B52"/>
          </a:solidFill>
          <a:ln w="12700">
            <a:solidFill>
              <a:srgbClr val="1F6B52"/>
            </a:solidFill>
            <a:prstDash val="solid"/>
          </a:ln>
        </p:spPr>
      </p:sp>
      <p:sp>
        <p:nvSpPr>
          <p:cNvPr id="25" name="Text 23"/>
          <p:cNvSpPr/>
          <p:nvPr/>
        </p:nvSpPr>
        <p:spPr>
          <a:xfrm>
            <a:off x="4471416" y="3529584"/>
            <a:ext cx="2331720" cy="228600"/>
          </a:xfrm>
          <a:prstGeom prst="rect">
            <a:avLst/>
          </a:prstGeom>
          <a:noFill/>
          <a:ln/>
        </p:spPr>
        <p:txBody>
          <a:bodyPr wrap="square" lIns="0" tIns="0" rIns="0" bIns="0" rtlCol="0" anchor="ctr"/>
          <a:lstStyle/>
          <a:p>
            <a:pPr indent="0" marL="0">
              <a:buNone/>
            </a:pPr>
            <a:r>
              <a:rPr lang="en-US" sz="1030" dirty="0">
                <a:solidFill>
                  <a:srgbClr val="334155"/>
                </a:solidFill>
                <a:latin typeface="Aptos" pitchFamily="34" charset="0"/>
                <a:ea typeface="Aptos" pitchFamily="34" charset="-122"/>
                <a:cs typeface="Aptos" pitchFamily="34" charset="-120"/>
              </a:rPr>
              <a:t>Services metier</a:t>
            </a:r>
            <a:endParaRPr lang="en-US" sz="1030" dirty="0"/>
          </a:p>
        </p:txBody>
      </p:sp>
      <p:sp>
        <p:nvSpPr>
          <p:cNvPr id="26" name="Shape 24"/>
          <p:cNvSpPr/>
          <p:nvPr/>
        </p:nvSpPr>
        <p:spPr>
          <a:xfrm>
            <a:off x="4306824" y="4041648"/>
            <a:ext cx="91440" cy="91440"/>
          </a:xfrm>
          <a:prstGeom prst="ellipse">
            <a:avLst/>
          </a:prstGeom>
          <a:solidFill>
            <a:srgbClr val="1F6B52"/>
          </a:solidFill>
          <a:ln w="12700">
            <a:solidFill>
              <a:srgbClr val="1F6B52"/>
            </a:solidFill>
            <a:prstDash val="solid"/>
          </a:ln>
        </p:spPr>
      </p:sp>
      <p:sp>
        <p:nvSpPr>
          <p:cNvPr id="27" name="Text 25"/>
          <p:cNvSpPr/>
          <p:nvPr/>
        </p:nvSpPr>
        <p:spPr>
          <a:xfrm>
            <a:off x="4471416" y="3986784"/>
            <a:ext cx="2331720" cy="228600"/>
          </a:xfrm>
          <a:prstGeom prst="rect">
            <a:avLst/>
          </a:prstGeom>
          <a:noFill/>
          <a:ln/>
        </p:spPr>
        <p:txBody>
          <a:bodyPr wrap="square" lIns="0" tIns="0" rIns="0" bIns="0" rtlCol="0" anchor="ctr"/>
          <a:lstStyle/>
          <a:p>
            <a:pPr indent="0" marL="0">
              <a:buNone/>
            </a:pPr>
            <a:r>
              <a:rPr lang="en-US" sz="1030" dirty="0">
                <a:solidFill>
                  <a:srgbClr val="334155"/>
                </a:solidFill>
                <a:latin typeface="Aptos" pitchFamily="34" charset="0"/>
                <a:ea typeface="Aptos" pitchFamily="34" charset="-122"/>
                <a:cs typeface="Aptos" pitchFamily="34" charset="-120"/>
              </a:rPr>
              <a:t>Validation et roles</a:t>
            </a:r>
            <a:endParaRPr lang="en-US" sz="1030" dirty="0"/>
          </a:p>
        </p:txBody>
      </p:sp>
      <p:sp>
        <p:nvSpPr>
          <p:cNvPr id="28" name="Shape 26"/>
          <p:cNvSpPr/>
          <p:nvPr/>
        </p:nvSpPr>
        <p:spPr>
          <a:xfrm>
            <a:off x="7534656" y="1901952"/>
            <a:ext cx="2944368" cy="3054096"/>
          </a:xfrm>
          <a:prstGeom prst="roundRect">
            <a:avLst>
              <a:gd name="adj" fmla="val 1863"/>
            </a:avLst>
          </a:prstGeom>
          <a:solidFill>
            <a:srgbClr val="FFFFFF"/>
          </a:solidFill>
          <a:ln w="12700">
            <a:solidFill>
              <a:srgbClr val="D8E0EA"/>
            </a:solidFill>
            <a:prstDash val="solid"/>
          </a:ln>
          <a:effectLst>
            <a:outerShdw sx="100000" sy="100000" kx="0" ky="0" algn="bl" rotWithShape="0" blurRad="12700" dist="50800" dir="2700000">
              <a:srgbClr val="BFC8D4">
                <a:alpha val="18000"/>
              </a:srgbClr>
            </a:outerShdw>
          </a:effectLst>
        </p:spPr>
      </p:sp>
      <p:sp>
        <p:nvSpPr>
          <p:cNvPr id="29" name="Shape 27"/>
          <p:cNvSpPr/>
          <p:nvPr/>
        </p:nvSpPr>
        <p:spPr>
          <a:xfrm>
            <a:off x="7534656" y="1901952"/>
            <a:ext cx="2944368" cy="146304"/>
          </a:xfrm>
          <a:prstGeom prst="rect">
            <a:avLst/>
          </a:prstGeom>
          <a:solidFill>
            <a:srgbClr val="172033"/>
          </a:solidFill>
          <a:ln w="12700">
            <a:solidFill>
              <a:srgbClr val="172033"/>
            </a:solidFill>
            <a:prstDash val="solid"/>
          </a:ln>
        </p:spPr>
      </p:sp>
      <p:sp>
        <p:nvSpPr>
          <p:cNvPr id="30" name="Shape 28"/>
          <p:cNvSpPr/>
          <p:nvPr/>
        </p:nvSpPr>
        <p:spPr>
          <a:xfrm>
            <a:off x="7754112" y="2212848"/>
            <a:ext cx="493776" cy="256032"/>
          </a:xfrm>
          <a:prstGeom prst="roundRect">
            <a:avLst>
              <a:gd name="adj" fmla="val 10714"/>
            </a:avLst>
          </a:prstGeom>
          <a:solidFill>
            <a:srgbClr val="F6E7CB"/>
          </a:solidFill>
          <a:ln w="12700">
            <a:solidFill>
              <a:srgbClr val="F6E7CB"/>
            </a:solidFill>
            <a:prstDash val="solid"/>
          </a:ln>
        </p:spPr>
      </p:sp>
      <p:sp>
        <p:nvSpPr>
          <p:cNvPr id="31" name="Text 29"/>
          <p:cNvSpPr/>
          <p:nvPr/>
        </p:nvSpPr>
        <p:spPr>
          <a:xfrm>
            <a:off x="7754112" y="2596896"/>
            <a:ext cx="2340864" cy="292608"/>
          </a:xfrm>
          <a:prstGeom prst="rect">
            <a:avLst/>
          </a:prstGeom>
          <a:noFill/>
          <a:ln/>
        </p:spPr>
        <p:txBody>
          <a:bodyPr wrap="square" lIns="0" tIns="0" rIns="0" bIns="0" rtlCol="0" anchor="ctr"/>
          <a:lstStyle/>
          <a:p>
            <a:pPr indent="0" marL="0">
              <a:buNone/>
            </a:pPr>
            <a:r>
              <a:rPr lang="en-US" sz="1450" b="1" dirty="0">
                <a:solidFill>
                  <a:srgbClr val="172033"/>
                </a:solidFill>
                <a:latin typeface="Aptos Display" pitchFamily="34" charset="0"/>
                <a:ea typeface="Aptos Display" pitchFamily="34" charset="-122"/>
                <a:cs typeface="Aptos Display" pitchFamily="34" charset="-120"/>
              </a:rPr>
              <a:t>Donnees et moteurs</a:t>
            </a:r>
            <a:endParaRPr lang="en-US" sz="1450" dirty="0"/>
          </a:p>
        </p:txBody>
      </p:sp>
      <p:sp>
        <p:nvSpPr>
          <p:cNvPr id="32" name="Shape 30"/>
          <p:cNvSpPr/>
          <p:nvPr/>
        </p:nvSpPr>
        <p:spPr>
          <a:xfrm>
            <a:off x="7754112" y="3127248"/>
            <a:ext cx="91440" cy="91440"/>
          </a:xfrm>
          <a:prstGeom prst="ellipse">
            <a:avLst/>
          </a:prstGeom>
          <a:solidFill>
            <a:srgbClr val="1F6B52"/>
          </a:solidFill>
          <a:ln w="12700">
            <a:solidFill>
              <a:srgbClr val="1F6B52"/>
            </a:solidFill>
            <a:prstDash val="solid"/>
          </a:ln>
        </p:spPr>
      </p:sp>
      <p:sp>
        <p:nvSpPr>
          <p:cNvPr id="33" name="Text 31"/>
          <p:cNvSpPr/>
          <p:nvPr/>
        </p:nvSpPr>
        <p:spPr>
          <a:xfrm>
            <a:off x="7918704" y="3072384"/>
            <a:ext cx="2331720" cy="228600"/>
          </a:xfrm>
          <a:prstGeom prst="rect">
            <a:avLst/>
          </a:prstGeom>
          <a:noFill/>
          <a:ln/>
        </p:spPr>
        <p:txBody>
          <a:bodyPr wrap="square" lIns="0" tIns="0" rIns="0" bIns="0" rtlCol="0" anchor="ctr"/>
          <a:lstStyle/>
          <a:p>
            <a:pPr indent="0" marL="0">
              <a:buNone/>
            </a:pPr>
            <a:r>
              <a:rPr lang="en-US" sz="1030" dirty="0">
                <a:solidFill>
                  <a:srgbClr val="334155"/>
                </a:solidFill>
                <a:latin typeface="Aptos" pitchFamily="34" charset="0"/>
                <a:ea typeface="Aptos" pitchFamily="34" charset="-122"/>
                <a:cs typeface="Aptos" pitchFamily="34" charset="-120"/>
              </a:rPr>
              <a:t>Prisma + PostgreSQL</a:t>
            </a:r>
            <a:endParaRPr lang="en-US" sz="1030" dirty="0"/>
          </a:p>
        </p:txBody>
      </p:sp>
      <p:sp>
        <p:nvSpPr>
          <p:cNvPr id="34" name="Shape 32"/>
          <p:cNvSpPr/>
          <p:nvPr/>
        </p:nvSpPr>
        <p:spPr>
          <a:xfrm>
            <a:off x="7754112" y="3584448"/>
            <a:ext cx="91440" cy="91440"/>
          </a:xfrm>
          <a:prstGeom prst="ellipse">
            <a:avLst/>
          </a:prstGeom>
          <a:solidFill>
            <a:srgbClr val="1F6B52"/>
          </a:solidFill>
          <a:ln w="12700">
            <a:solidFill>
              <a:srgbClr val="1F6B52"/>
            </a:solidFill>
            <a:prstDash val="solid"/>
          </a:ln>
        </p:spPr>
      </p:sp>
      <p:sp>
        <p:nvSpPr>
          <p:cNvPr id="35" name="Text 33"/>
          <p:cNvSpPr/>
          <p:nvPr/>
        </p:nvSpPr>
        <p:spPr>
          <a:xfrm>
            <a:off x="7918704" y="3529584"/>
            <a:ext cx="2331720" cy="228600"/>
          </a:xfrm>
          <a:prstGeom prst="rect">
            <a:avLst/>
          </a:prstGeom>
          <a:noFill/>
          <a:ln/>
        </p:spPr>
        <p:txBody>
          <a:bodyPr wrap="square" lIns="0" tIns="0" rIns="0" bIns="0" rtlCol="0" anchor="ctr"/>
          <a:lstStyle/>
          <a:p>
            <a:pPr indent="0" marL="0">
              <a:buNone/>
            </a:pPr>
            <a:r>
              <a:rPr lang="en-US" sz="1030" dirty="0">
                <a:solidFill>
                  <a:srgbClr val="334155"/>
                </a:solidFill>
                <a:latin typeface="Aptos" pitchFamily="34" charset="0"/>
                <a:ea typeface="Aptos" pitchFamily="34" charset="-122"/>
                <a:cs typeface="Aptos" pitchFamily="34" charset="-120"/>
              </a:rPr>
              <a:t>Transactions stock</a:t>
            </a:r>
            <a:endParaRPr lang="en-US" sz="1030" dirty="0"/>
          </a:p>
        </p:txBody>
      </p:sp>
      <p:sp>
        <p:nvSpPr>
          <p:cNvPr id="36" name="Shape 34"/>
          <p:cNvSpPr/>
          <p:nvPr/>
        </p:nvSpPr>
        <p:spPr>
          <a:xfrm>
            <a:off x="7754112" y="4041648"/>
            <a:ext cx="91440" cy="91440"/>
          </a:xfrm>
          <a:prstGeom prst="ellipse">
            <a:avLst/>
          </a:prstGeom>
          <a:solidFill>
            <a:srgbClr val="1F6B52"/>
          </a:solidFill>
          <a:ln w="12700">
            <a:solidFill>
              <a:srgbClr val="1F6B52"/>
            </a:solidFill>
            <a:prstDash val="solid"/>
          </a:ln>
        </p:spPr>
      </p:sp>
      <p:sp>
        <p:nvSpPr>
          <p:cNvPr id="37" name="Text 35"/>
          <p:cNvSpPr/>
          <p:nvPr/>
        </p:nvSpPr>
        <p:spPr>
          <a:xfrm>
            <a:off x="7918704" y="3986784"/>
            <a:ext cx="2331720" cy="228600"/>
          </a:xfrm>
          <a:prstGeom prst="rect">
            <a:avLst/>
          </a:prstGeom>
          <a:noFill/>
          <a:ln/>
        </p:spPr>
        <p:txBody>
          <a:bodyPr wrap="square" lIns="0" tIns="0" rIns="0" bIns="0" rtlCol="0" anchor="ctr"/>
          <a:lstStyle/>
          <a:p>
            <a:pPr indent="0" marL="0">
              <a:buNone/>
            </a:pPr>
            <a:r>
              <a:rPr lang="en-US" sz="1030" dirty="0">
                <a:solidFill>
                  <a:srgbClr val="334155"/>
                </a:solidFill>
                <a:latin typeface="Aptos" pitchFamily="34" charset="0"/>
                <a:ea typeface="Aptos" pitchFamily="34" charset="-122"/>
                <a:cs typeface="Aptos" pitchFamily="34" charset="-120"/>
              </a:rPr>
              <a:t>Reconciliation alertes</a:t>
            </a:r>
            <a:endParaRPr lang="en-US" sz="1030" dirty="0"/>
          </a:p>
        </p:txBody>
      </p:sp>
      <p:sp>
        <p:nvSpPr>
          <p:cNvPr id="38" name="Shape 36"/>
          <p:cNvSpPr/>
          <p:nvPr/>
        </p:nvSpPr>
        <p:spPr>
          <a:xfrm>
            <a:off x="3621024" y="3310128"/>
            <a:ext cx="256032" cy="256032"/>
          </a:xfrm>
          <a:prstGeom prst="chevron">
            <a:avLst/>
          </a:prstGeom>
          <a:solidFill>
            <a:srgbClr val="1F6B52"/>
          </a:solidFill>
          <a:ln w="12700">
            <a:solidFill>
              <a:srgbClr val="1F6B52"/>
            </a:solidFill>
            <a:prstDash val="solid"/>
          </a:ln>
        </p:spPr>
      </p:sp>
      <p:sp>
        <p:nvSpPr>
          <p:cNvPr id="39" name="Shape 37"/>
          <p:cNvSpPr/>
          <p:nvPr/>
        </p:nvSpPr>
        <p:spPr>
          <a:xfrm>
            <a:off x="7068312" y="3310128"/>
            <a:ext cx="256032" cy="256032"/>
          </a:xfrm>
          <a:prstGeom prst="chevron">
            <a:avLst/>
          </a:prstGeom>
          <a:solidFill>
            <a:srgbClr val="B7791F"/>
          </a:solidFill>
          <a:ln w="12700">
            <a:solidFill>
              <a:srgbClr val="B7791F"/>
            </a:solidFill>
            <a:prstDash val="solid"/>
          </a:ln>
        </p:spPr>
      </p:sp>
      <p:sp>
        <p:nvSpPr>
          <p:cNvPr id="40" name="Shape 38"/>
          <p:cNvSpPr/>
          <p:nvPr/>
        </p:nvSpPr>
        <p:spPr>
          <a:xfrm>
            <a:off x="1005840" y="5321808"/>
            <a:ext cx="10195560" cy="658368"/>
          </a:xfrm>
          <a:prstGeom prst="roundRect">
            <a:avLst>
              <a:gd name="adj" fmla="val 8333"/>
            </a:avLst>
          </a:prstGeom>
          <a:solidFill>
            <a:srgbClr val="EEE7DA"/>
          </a:solidFill>
          <a:ln w="12700">
            <a:solidFill>
              <a:srgbClr val="D8E0EA"/>
            </a:solidFill>
            <a:prstDash val="solid"/>
          </a:ln>
        </p:spPr>
      </p:sp>
      <p:sp>
        <p:nvSpPr>
          <p:cNvPr id="41" name="Text 39"/>
          <p:cNvSpPr/>
          <p:nvPr/>
        </p:nvSpPr>
        <p:spPr>
          <a:xfrm>
            <a:off x="1225296" y="5541264"/>
            <a:ext cx="9646920" cy="201168"/>
          </a:xfrm>
          <a:prstGeom prst="rect">
            <a:avLst/>
          </a:prstGeom>
          <a:noFill/>
          <a:ln/>
        </p:spPr>
        <p:txBody>
          <a:bodyPr wrap="square" lIns="0" tIns="0" rIns="0" bIns="0" rtlCol="0" anchor="ctr"/>
          <a:lstStyle/>
          <a:p>
            <a:pPr algn="ctr" indent="0" marL="0">
              <a:buNone/>
            </a:pPr>
            <a:r>
              <a:rPr lang="en-US" sz="1040" dirty="0">
                <a:solidFill>
                  <a:srgbClr val="172033"/>
                </a:solidFill>
                <a:latin typeface="Aptos" pitchFamily="34" charset="0"/>
                <a:ea typeface="Aptos" pitchFamily="34" charset="-122"/>
                <a:cs typeface="Aptos" pitchFamily="34" charset="-120"/>
              </a:rPr>
              <a:t>Contrat architectural retenu: le frontend consomme l'API, les services portent la logique metier, Prisma est l'unique acces a la base, et le port ALERTS_PORT evite le couplage direct entre modules.</a:t>
            </a:r>
            <a:endParaRPr lang="en-US" sz="1040" dirty="0"/>
          </a:p>
        </p:txBody>
      </p:sp>
      <p:sp>
        <p:nvSpPr>
          <p:cNvPr id="42" name="Text 40"/>
          <p:cNvSpPr/>
          <p:nvPr/>
        </p:nvSpPr>
        <p:spPr>
          <a:xfrm>
            <a:off x="512064" y="6419088"/>
            <a:ext cx="7772400" cy="164592"/>
          </a:xfrm>
          <a:prstGeom prst="rect">
            <a:avLst/>
          </a:prstGeom>
          <a:noFill/>
          <a:ln/>
        </p:spPr>
        <p:txBody>
          <a:bodyPr wrap="square" lIns="0" tIns="0" rIns="0" bIns="0" rtlCol="0" anchor="ctr"/>
          <a:lstStyle/>
          <a:p>
            <a:pPr indent="0" marL="0">
              <a:buNone/>
            </a:pPr>
            <a:r>
              <a:rPr lang="en-US" sz="800" dirty="0">
                <a:solidFill>
                  <a:srgbClr val="64748B"/>
                </a:solidFill>
                <a:latin typeface="Aptos" pitchFamily="34" charset="0"/>
                <a:ea typeface="Aptos" pitchFamily="34" charset="-122"/>
                <a:cs typeface="Aptos" pitchFamily="34" charset="-120"/>
              </a:rPr>
              <a:t>Cette architecture respecte la separation backend / frontend / shared definie dans le projet.</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5F1E8"/>
          </a:solidFill>
          <a:ln w="12700">
            <a:solidFill>
              <a:srgbClr val="F5F1E8">
                <a:alpha val="0"/>
              </a:srgbClr>
            </a:solidFill>
            <a:prstDash val="solid"/>
          </a:ln>
        </p:spPr>
      </p:sp>
      <p:sp>
        <p:nvSpPr>
          <p:cNvPr id="3" name="Shape 1"/>
          <p:cNvSpPr/>
          <p:nvPr/>
        </p:nvSpPr>
        <p:spPr>
          <a:xfrm>
            <a:off x="384048" y="347472"/>
            <a:ext cx="11420856" cy="18288"/>
          </a:xfrm>
          <a:prstGeom prst="rect">
            <a:avLst/>
          </a:prstGeom>
          <a:solidFill>
            <a:srgbClr val="D8E0EA"/>
          </a:solidFill>
          <a:ln w="12700">
            <a:solidFill>
              <a:srgbClr val="D8E0EA"/>
            </a:solidFill>
            <a:prstDash val="solid"/>
          </a:ln>
        </p:spPr>
      </p:sp>
      <p:sp>
        <p:nvSpPr>
          <p:cNvPr id="4" name="Text 2"/>
          <p:cNvSpPr/>
          <p:nvPr/>
        </p:nvSpPr>
        <p:spPr>
          <a:xfrm>
            <a:off x="512064" y="155448"/>
            <a:ext cx="2926080" cy="164592"/>
          </a:xfrm>
          <a:prstGeom prst="rect">
            <a:avLst/>
          </a:prstGeom>
          <a:noFill/>
          <a:ln/>
        </p:spPr>
        <p:txBody>
          <a:bodyPr wrap="square" rtlCol="0" anchor="ctr"/>
          <a:lstStyle/>
          <a:p>
            <a:pPr indent="0" marL="0">
              <a:buNone/>
            </a:pPr>
            <a:r>
              <a:rPr lang="en-US" sz="800" b="1" spc="160" kern="0" dirty="0">
                <a:solidFill>
                  <a:srgbClr val="1F6B52"/>
                </a:solidFill>
                <a:latin typeface="Aptos" pitchFamily="34" charset="0"/>
                <a:ea typeface="Aptos" pitchFamily="34" charset="-122"/>
                <a:cs typeface="Aptos" pitchFamily="34" charset="-120"/>
              </a:rPr>
              <a:t>FLUX METIER</a:t>
            </a:r>
            <a:endParaRPr lang="en-US" sz="800" dirty="0"/>
          </a:p>
        </p:txBody>
      </p:sp>
      <p:sp>
        <p:nvSpPr>
          <p:cNvPr id="5" name="Text 3"/>
          <p:cNvSpPr/>
          <p:nvPr/>
        </p:nvSpPr>
        <p:spPr>
          <a:xfrm>
            <a:off x="11109960" y="6446520"/>
            <a:ext cx="640080" cy="182880"/>
          </a:xfrm>
          <a:prstGeom prst="rect">
            <a:avLst/>
          </a:prstGeom>
          <a:noFill/>
          <a:ln/>
        </p:spPr>
        <p:txBody>
          <a:bodyPr wrap="square" rtlCol="0" anchor="ctr"/>
          <a:lstStyle/>
          <a:p>
            <a:pPr algn="r" indent="0" marL="0">
              <a:buNone/>
            </a:pPr>
            <a:r>
              <a:rPr lang="en-US" sz="800" dirty="0">
                <a:solidFill>
                  <a:srgbClr val="64748B"/>
                </a:solidFill>
                <a:latin typeface="Aptos" pitchFamily="34" charset="0"/>
                <a:ea typeface="Aptos" pitchFamily="34" charset="-122"/>
                <a:cs typeface="Aptos" pitchFamily="34" charset="-120"/>
              </a:rPr>
              <a:t>05 / 12</a:t>
            </a:r>
            <a:endParaRPr lang="en-US" sz="800" dirty="0"/>
          </a:p>
        </p:txBody>
      </p:sp>
      <p:sp>
        <p:nvSpPr>
          <p:cNvPr id="6" name="Text 4"/>
          <p:cNvSpPr/>
          <p:nvPr/>
        </p:nvSpPr>
        <p:spPr>
          <a:xfrm>
            <a:off x="512064" y="530352"/>
            <a:ext cx="7772400" cy="694944"/>
          </a:xfrm>
          <a:prstGeom prst="rect">
            <a:avLst/>
          </a:prstGeom>
          <a:noFill/>
          <a:ln/>
        </p:spPr>
        <p:txBody>
          <a:bodyPr wrap="square" lIns="0" tIns="0" rIns="0" bIns="0" rtlCol="0" anchor="ctr"/>
          <a:lstStyle/>
          <a:p>
            <a:pPr indent="0" marL="0">
              <a:buNone/>
            </a:pPr>
            <a:r>
              <a:rPr lang="en-US" sz="2400" b="1" dirty="0">
                <a:solidFill>
                  <a:srgbClr val="172033"/>
                </a:solidFill>
                <a:latin typeface="Aptos Display" pitchFamily="34" charset="0"/>
                <a:ea typeface="Aptos Display" pitchFamily="34" charset="-122"/>
                <a:cs typeface="Aptos Display" pitchFamily="34" charset="-120"/>
              </a:rPr>
              <a:t>Une vente finalisee declenche un flux atomique qui maintient le stock et les alertes coherents.</a:t>
            </a:r>
            <a:endParaRPr lang="en-US" sz="2400" dirty="0"/>
          </a:p>
        </p:txBody>
      </p:sp>
      <p:sp>
        <p:nvSpPr>
          <p:cNvPr id="7" name="Text 5"/>
          <p:cNvSpPr/>
          <p:nvPr/>
        </p:nvSpPr>
        <p:spPr>
          <a:xfrm>
            <a:off x="512064" y="1078992"/>
            <a:ext cx="8138160" cy="411480"/>
          </a:xfrm>
          <a:prstGeom prst="rect">
            <a:avLst/>
          </a:prstGeom>
          <a:noFill/>
          <a:ln/>
        </p:spPr>
        <p:txBody>
          <a:bodyPr wrap="square" lIns="0" tIns="0" rIns="0" bIns="0" rtlCol="0" anchor="ctr"/>
          <a:lstStyle/>
          <a:p>
            <a:pPr indent="0" marL="0">
              <a:buNone/>
            </a:pPr>
            <a:r>
              <a:rPr lang="en-US" sz="1050" dirty="0">
                <a:solidFill>
                  <a:srgbClr val="334155"/>
                </a:solidFill>
                <a:latin typeface="Aptos" pitchFamily="34" charset="0"/>
                <a:ea typeface="Aptos" pitchFamily="34" charset="-122"/>
                <a:cs typeface="Aptos" pitchFamily="34" charset="-120"/>
              </a:rPr>
              <a:t>Le point cle n'est pas l'interface: c'est la transaction backend qui empile mouvement, stock, audit et alertes dans une seule unite de travail.</a:t>
            </a:r>
            <a:endParaRPr lang="en-US" sz="1050" dirty="0"/>
          </a:p>
        </p:txBody>
      </p:sp>
      <p:sp>
        <p:nvSpPr>
          <p:cNvPr id="8" name="Shape 6"/>
          <p:cNvSpPr/>
          <p:nvPr/>
        </p:nvSpPr>
        <p:spPr>
          <a:xfrm>
            <a:off x="676656" y="2176272"/>
            <a:ext cx="1901952" cy="2157984"/>
          </a:xfrm>
          <a:prstGeom prst="roundRect">
            <a:avLst>
              <a:gd name="adj" fmla="val 2885"/>
            </a:avLst>
          </a:prstGeom>
          <a:solidFill>
            <a:srgbClr val="FFFFFF"/>
          </a:solidFill>
          <a:ln w="12700">
            <a:solidFill>
              <a:srgbClr val="D8E0EA"/>
            </a:solidFill>
            <a:prstDash val="solid"/>
          </a:ln>
          <a:effectLst>
            <a:outerShdw sx="100000" sy="100000" kx="0" ky="0" algn="bl" rotWithShape="0" blurRad="12700" dist="50800" dir="2700000">
              <a:srgbClr val="BFC8D4">
                <a:alpha val="18000"/>
              </a:srgbClr>
            </a:outerShdw>
          </a:effectLst>
        </p:spPr>
      </p:sp>
      <p:sp>
        <p:nvSpPr>
          <p:cNvPr id="9" name="Text 7"/>
          <p:cNvSpPr/>
          <p:nvPr/>
        </p:nvSpPr>
        <p:spPr>
          <a:xfrm>
            <a:off x="841248" y="2359152"/>
            <a:ext cx="292608" cy="219456"/>
          </a:xfrm>
          <a:prstGeom prst="rect">
            <a:avLst/>
          </a:prstGeom>
          <a:noFill/>
          <a:ln/>
        </p:spPr>
        <p:txBody>
          <a:bodyPr wrap="square" lIns="0" tIns="0" rIns="0" bIns="0" rtlCol="0" anchor="ctr"/>
          <a:lstStyle/>
          <a:p>
            <a:pPr indent="0" marL="0">
              <a:buNone/>
            </a:pPr>
            <a:r>
              <a:rPr lang="en-US" sz="1800" b="1" dirty="0">
                <a:solidFill>
                  <a:srgbClr val="1F6B52"/>
                </a:solidFill>
                <a:latin typeface="Aptos Display" pitchFamily="34" charset="0"/>
                <a:ea typeface="Aptos Display" pitchFamily="34" charset="-122"/>
                <a:cs typeface="Aptos Display" pitchFamily="34" charset="-120"/>
              </a:rPr>
              <a:t>1</a:t>
            </a:r>
            <a:endParaRPr lang="en-US" sz="1800" dirty="0"/>
          </a:p>
        </p:txBody>
      </p:sp>
      <p:sp>
        <p:nvSpPr>
          <p:cNvPr id="10" name="Text 8"/>
          <p:cNvSpPr/>
          <p:nvPr/>
        </p:nvSpPr>
        <p:spPr>
          <a:xfrm>
            <a:off x="841248" y="2724912"/>
            <a:ext cx="1481328" cy="292608"/>
          </a:xfrm>
          <a:prstGeom prst="rect">
            <a:avLst/>
          </a:prstGeom>
          <a:noFill/>
          <a:ln/>
        </p:spPr>
        <p:txBody>
          <a:bodyPr wrap="square" lIns="0" tIns="0" rIns="0" bIns="0" rtlCol="0" anchor="ctr"/>
          <a:lstStyle/>
          <a:p>
            <a:pPr indent="0" marL="0">
              <a:buNone/>
            </a:pPr>
            <a:r>
              <a:rPr lang="en-US" sz="1350" b="1" dirty="0">
                <a:solidFill>
                  <a:srgbClr val="172033"/>
                </a:solidFill>
                <a:latin typeface="Aptos Display" pitchFamily="34" charset="0"/>
                <a:ea typeface="Aptos Display" pitchFamily="34" charset="-122"/>
                <a:cs typeface="Aptos Display" pitchFamily="34" charset="-120"/>
              </a:rPr>
              <a:t>Validation vente</a:t>
            </a:r>
            <a:endParaRPr lang="en-US" sz="1350" dirty="0"/>
          </a:p>
        </p:txBody>
      </p:sp>
      <p:sp>
        <p:nvSpPr>
          <p:cNvPr id="11" name="Text 9"/>
          <p:cNvSpPr/>
          <p:nvPr/>
        </p:nvSpPr>
        <p:spPr>
          <a:xfrm>
            <a:off x="841248" y="3145536"/>
            <a:ext cx="1536192" cy="749808"/>
          </a:xfrm>
          <a:prstGeom prst="rect">
            <a:avLst/>
          </a:prstGeom>
          <a:noFill/>
          <a:ln/>
        </p:spPr>
        <p:txBody>
          <a:bodyPr wrap="square" lIns="0" tIns="0" rIns="0" bIns="0" rtlCol="0" anchor="ctr"/>
          <a:lstStyle/>
          <a:p>
            <a:pPr indent="0" marL="0">
              <a:buNone/>
            </a:pPr>
            <a:r>
              <a:rPr lang="en-US" sz="990" dirty="0">
                <a:solidFill>
                  <a:srgbClr val="334155"/>
                </a:solidFill>
                <a:latin typeface="Aptos" pitchFamily="34" charset="0"/>
                <a:ea typeface="Aptos" pitchFamily="34" charset="-122"/>
                <a:cs typeface="Aptos" pitchFamily="34" charset="-120"/>
              </a:rPr>
              <a:t>Le POS confirme les lignes et les quantites vendues.</a:t>
            </a:r>
            <a:endParaRPr lang="en-US" sz="990" dirty="0"/>
          </a:p>
        </p:txBody>
      </p:sp>
      <p:sp>
        <p:nvSpPr>
          <p:cNvPr id="12" name="Shape 10"/>
          <p:cNvSpPr/>
          <p:nvPr/>
        </p:nvSpPr>
        <p:spPr>
          <a:xfrm>
            <a:off x="2523744" y="3145536"/>
            <a:ext cx="256032" cy="256032"/>
          </a:xfrm>
          <a:prstGeom prst="chevron">
            <a:avLst/>
          </a:prstGeom>
          <a:solidFill>
            <a:srgbClr val="1F6B52"/>
          </a:solidFill>
          <a:ln w="12700">
            <a:solidFill>
              <a:srgbClr val="1F6B52"/>
            </a:solidFill>
            <a:prstDash val="solid"/>
          </a:ln>
        </p:spPr>
      </p:sp>
      <p:sp>
        <p:nvSpPr>
          <p:cNvPr id="13" name="Shape 11"/>
          <p:cNvSpPr/>
          <p:nvPr/>
        </p:nvSpPr>
        <p:spPr>
          <a:xfrm>
            <a:off x="2944368" y="2176272"/>
            <a:ext cx="1901952" cy="2157984"/>
          </a:xfrm>
          <a:prstGeom prst="roundRect">
            <a:avLst>
              <a:gd name="adj" fmla="val 2885"/>
            </a:avLst>
          </a:prstGeom>
          <a:solidFill>
            <a:srgbClr val="FFFFFF"/>
          </a:solidFill>
          <a:ln w="12700">
            <a:solidFill>
              <a:srgbClr val="D8E0EA"/>
            </a:solidFill>
            <a:prstDash val="solid"/>
          </a:ln>
          <a:effectLst>
            <a:outerShdw sx="100000" sy="100000" kx="0" ky="0" algn="bl" rotWithShape="0" blurRad="12700" dist="50800" dir="2700000">
              <a:srgbClr val="BFC8D4">
                <a:alpha val="18000"/>
              </a:srgbClr>
            </a:outerShdw>
          </a:effectLst>
        </p:spPr>
      </p:sp>
      <p:sp>
        <p:nvSpPr>
          <p:cNvPr id="14" name="Text 12"/>
          <p:cNvSpPr/>
          <p:nvPr/>
        </p:nvSpPr>
        <p:spPr>
          <a:xfrm>
            <a:off x="3108960" y="2359152"/>
            <a:ext cx="292608" cy="219456"/>
          </a:xfrm>
          <a:prstGeom prst="rect">
            <a:avLst/>
          </a:prstGeom>
          <a:noFill/>
          <a:ln/>
        </p:spPr>
        <p:txBody>
          <a:bodyPr wrap="square" lIns="0" tIns="0" rIns="0" bIns="0" rtlCol="0" anchor="ctr"/>
          <a:lstStyle/>
          <a:p>
            <a:pPr indent="0" marL="0">
              <a:buNone/>
            </a:pPr>
            <a:r>
              <a:rPr lang="en-US" sz="1800" b="1" dirty="0">
                <a:solidFill>
                  <a:srgbClr val="1F6B52"/>
                </a:solidFill>
                <a:latin typeface="Aptos Display" pitchFamily="34" charset="0"/>
                <a:ea typeface="Aptos Display" pitchFamily="34" charset="-122"/>
                <a:cs typeface="Aptos Display" pitchFamily="34" charset="-120"/>
              </a:rPr>
              <a:t>2</a:t>
            </a:r>
            <a:endParaRPr lang="en-US" sz="1800" dirty="0"/>
          </a:p>
        </p:txBody>
      </p:sp>
      <p:sp>
        <p:nvSpPr>
          <p:cNvPr id="15" name="Text 13"/>
          <p:cNvSpPr/>
          <p:nvPr/>
        </p:nvSpPr>
        <p:spPr>
          <a:xfrm>
            <a:off x="3108960" y="2724912"/>
            <a:ext cx="1481328" cy="292608"/>
          </a:xfrm>
          <a:prstGeom prst="rect">
            <a:avLst/>
          </a:prstGeom>
          <a:noFill/>
          <a:ln/>
        </p:spPr>
        <p:txBody>
          <a:bodyPr wrap="square" lIns="0" tIns="0" rIns="0" bIns="0" rtlCol="0" anchor="ctr"/>
          <a:lstStyle/>
          <a:p>
            <a:pPr indent="0" marL="0">
              <a:buNone/>
            </a:pPr>
            <a:r>
              <a:rPr lang="en-US" sz="1350" b="1" dirty="0">
                <a:solidFill>
                  <a:srgbClr val="172033"/>
                </a:solidFill>
                <a:latin typeface="Aptos Display" pitchFamily="34" charset="0"/>
                <a:ea typeface="Aptos Display" pitchFamily="34" charset="-122"/>
                <a:cs typeface="Aptos Display" pitchFamily="34" charset="-120"/>
              </a:rPr>
              <a:t>Mise a jour stock</a:t>
            </a:r>
            <a:endParaRPr lang="en-US" sz="1350" dirty="0"/>
          </a:p>
        </p:txBody>
      </p:sp>
      <p:sp>
        <p:nvSpPr>
          <p:cNvPr id="16" name="Text 14"/>
          <p:cNvSpPr/>
          <p:nvPr/>
        </p:nvSpPr>
        <p:spPr>
          <a:xfrm>
            <a:off x="3108960" y="3145536"/>
            <a:ext cx="1536192" cy="749808"/>
          </a:xfrm>
          <a:prstGeom prst="rect">
            <a:avLst/>
          </a:prstGeom>
          <a:noFill/>
          <a:ln/>
        </p:spPr>
        <p:txBody>
          <a:bodyPr wrap="square" lIns="0" tIns="0" rIns="0" bIns="0" rtlCol="0" anchor="ctr"/>
          <a:lstStyle/>
          <a:p>
            <a:pPr indent="0" marL="0">
              <a:buNone/>
            </a:pPr>
            <a:r>
              <a:rPr lang="en-US" sz="990" dirty="0">
                <a:solidFill>
                  <a:srgbClr val="334155"/>
                </a:solidFill>
                <a:latin typeface="Aptos" pitchFamily="34" charset="0"/>
                <a:ea typeface="Aptos" pitchFamily="34" charset="-122"/>
                <a:cs typeface="Aptos" pitchFamily="34" charset="-120"/>
              </a:rPr>
              <a:t>currentStock est decremente produit par produit.</a:t>
            </a:r>
            <a:endParaRPr lang="en-US" sz="990" dirty="0"/>
          </a:p>
        </p:txBody>
      </p:sp>
      <p:sp>
        <p:nvSpPr>
          <p:cNvPr id="17" name="Shape 15"/>
          <p:cNvSpPr/>
          <p:nvPr/>
        </p:nvSpPr>
        <p:spPr>
          <a:xfrm>
            <a:off x="4791456" y="3145536"/>
            <a:ext cx="256032" cy="256032"/>
          </a:xfrm>
          <a:prstGeom prst="chevron">
            <a:avLst/>
          </a:prstGeom>
          <a:solidFill>
            <a:srgbClr val="1F6B52"/>
          </a:solidFill>
          <a:ln w="12700">
            <a:solidFill>
              <a:srgbClr val="1F6B52"/>
            </a:solidFill>
            <a:prstDash val="solid"/>
          </a:ln>
        </p:spPr>
      </p:sp>
      <p:sp>
        <p:nvSpPr>
          <p:cNvPr id="18" name="Shape 16"/>
          <p:cNvSpPr/>
          <p:nvPr/>
        </p:nvSpPr>
        <p:spPr>
          <a:xfrm>
            <a:off x="5212080" y="2176272"/>
            <a:ext cx="1901952" cy="2157984"/>
          </a:xfrm>
          <a:prstGeom prst="roundRect">
            <a:avLst>
              <a:gd name="adj" fmla="val 2885"/>
            </a:avLst>
          </a:prstGeom>
          <a:solidFill>
            <a:srgbClr val="FFFFFF"/>
          </a:solidFill>
          <a:ln w="12700">
            <a:solidFill>
              <a:srgbClr val="D8E0EA"/>
            </a:solidFill>
            <a:prstDash val="solid"/>
          </a:ln>
          <a:effectLst>
            <a:outerShdw sx="100000" sy="100000" kx="0" ky="0" algn="bl" rotWithShape="0" blurRad="12700" dist="50800" dir="2700000">
              <a:srgbClr val="BFC8D4">
                <a:alpha val="18000"/>
              </a:srgbClr>
            </a:outerShdw>
          </a:effectLst>
        </p:spPr>
      </p:sp>
      <p:sp>
        <p:nvSpPr>
          <p:cNvPr id="19" name="Text 17"/>
          <p:cNvSpPr/>
          <p:nvPr/>
        </p:nvSpPr>
        <p:spPr>
          <a:xfrm>
            <a:off x="5376672" y="2359152"/>
            <a:ext cx="292608" cy="219456"/>
          </a:xfrm>
          <a:prstGeom prst="rect">
            <a:avLst/>
          </a:prstGeom>
          <a:noFill/>
          <a:ln/>
        </p:spPr>
        <p:txBody>
          <a:bodyPr wrap="square" lIns="0" tIns="0" rIns="0" bIns="0" rtlCol="0" anchor="ctr"/>
          <a:lstStyle/>
          <a:p>
            <a:pPr indent="0" marL="0">
              <a:buNone/>
            </a:pPr>
            <a:r>
              <a:rPr lang="en-US" sz="1800" b="1" dirty="0">
                <a:solidFill>
                  <a:srgbClr val="1F6B52"/>
                </a:solidFill>
                <a:latin typeface="Aptos Display" pitchFamily="34" charset="0"/>
                <a:ea typeface="Aptos Display" pitchFamily="34" charset="-122"/>
                <a:cs typeface="Aptos Display" pitchFamily="34" charset="-120"/>
              </a:rPr>
              <a:t>3</a:t>
            </a:r>
            <a:endParaRPr lang="en-US" sz="1800" dirty="0"/>
          </a:p>
        </p:txBody>
      </p:sp>
      <p:sp>
        <p:nvSpPr>
          <p:cNvPr id="20" name="Text 18"/>
          <p:cNvSpPr/>
          <p:nvPr/>
        </p:nvSpPr>
        <p:spPr>
          <a:xfrm>
            <a:off x="5376672" y="2724912"/>
            <a:ext cx="1481328" cy="292608"/>
          </a:xfrm>
          <a:prstGeom prst="rect">
            <a:avLst/>
          </a:prstGeom>
          <a:noFill/>
          <a:ln/>
        </p:spPr>
        <p:txBody>
          <a:bodyPr wrap="square" lIns="0" tIns="0" rIns="0" bIns="0" rtlCol="0" anchor="ctr"/>
          <a:lstStyle/>
          <a:p>
            <a:pPr indent="0" marL="0">
              <a:buNone/>
            </a:pPr>
            <a:r>
              <a:rPr lang="en-US" sz="1350" b="1" dirty="0">
                <a:solidFill>
                  <a:srgbClr val="172033"/>
                </a:solidFill>
                <a:latin typeface="Aptos Display" pitchFamily="34" charset="0"/>
                <a:ea typeface="Aptos Display" pitchFamily="34" charset="-122"/>
                <a:cs typeface="Aptos Display" pitchFamily="34" charset="-120"/>
              </a:rPr>
              <a:t>Audit mouvement</a:t>
            </a:r>
            <a:endParaRPr lang="en-US" sz="1350" dirty="0"/>
          </a:p>
        </p:txBody>
      </p:sp>
      <p:sp>
        <p:nvSpPr>
          <p:cNvPr id="21" name="Text 19"/>
          <p:cNvSpPr/>
          <p:nvPr/>
        </p:nvSpPr>
        <p:spPr>
          <a:xfrm>
            <a:off x="5376672" y="3145536"/>
            <a:ext cx="1536192" cy="749808"/>
          </a:xfrm>
          <a:prstGeom prst="rect">
            <a:avLst/>
          </a:prstGeom>
          <a:noFill/>
          <a:ln/>
        </p:spPr>
        <p:txBody>
          <a:bodyPr wrap="square" lIns="0" tIns="0" rIns="0" bIns="0" rtlCol="0" anchor="ctr"/>
          <a:lstStyle/>
          <a:p>
            <a:pPr indent="0" marL="0">
              <a:buNone/>
            </a:pPr>
            <a:r>
              <a:rPr lang="en-US" sz="990" dirty="0">
                <a:solidFill>
                  <a:srgbClr val="334155"/>
                </a:solidFill>
                <a:latin typeface="Aptos" pitchFamily="34" charset="0"/>
                <a:ea typeface="Aptos" pitchFamily="34" charset="-122"/>
                <a:cs typeface="Aptos" pitchFamily="34" charset="-120"/>
              </a:rPr>
              <a:t>Le mouvement est ecrit pour garder la trace.</a:t>
            </a:r>
            <a:endParaRPr lang="en-US" sz="990" dirty="0"/>
          </a:p>
        </p:txBody>
      </p:sp>
      <p:sp>
        <p:nvSpPr>
          <p:cNvPr id="22" name="Shape 20"/>
          <p:cNvSpPr/>
          <p:nvPr/>
        </p:nvSpPr>
        <p:spPr>
          <a:xfrm>
            <a:off x="7059168" y="3145536"/>
            <a:ext cx="256032" cy="256032"/>
          </a:xfrm>
          <a:prstGeom prst="chevron">
            <a:avLst/>
          </a:prstGeom>
          <a:solidFill>
            <a:srgbClr val="B7791F"/>
          </a:solidFill>
          <a:ln w="12700">
            <a:solidFill>
              <a:srgbClr val="B7791F"/>
            </a:solidFill>
            <a:prstDash val="solid"/>
          </a:ln>
        </p:spPr>
      </p:sp>
      <p:sp>
        <p:nvSpPr>
          <p:cNvPr id="23" name="Shape 21"/>
          <p:cNvSpPr/>
          <p:nvPr/>
        </p:nvSpPr>
        <p:spPr>
          <a:xfrm>
            <a:off x="7479792" y="2176272"/>
            <a:ext cx="1901952" cy="2157984"/>
          </a:xfrm>
          <a:prstGeom prst="roundRect">
            <a:avLst>
              <a:gd name="adj" fmla="val 2885"/>
            </a:avLst>
          </a:prstGeom>
          <a:solidFill>
            <a:srgbClr val="F6E7CB"/>
          </a:solidFill>
          <a:ln w="12700">
            <a:solidFill>
              <a:srgbClr val="D8E0EA"/>
            </a:solidFill>
            <a:prstDash val="solid"/>
          </a:ln>
          <a:effectLst>
            <a:outerShdw sx="100000" sy="100000" kx="0" ky="0" algn="bl" rotWithShape="0" blurRad="12700" dist="50800" dir="2700000">
              <a:srgbClr val="BFC8D4">
                <a:alpha val="18000"/>
              </a:srgbClr>
            </a:outerShdw>
          </a:effectLst>
        </p:spPr>
      </p:sp>
      <p:sp>
        <p:nvSpPr>
          <p:cNvPr id="24" name="Text 22"/>
          <p:cNvSpPr/>
          <p:nvPr/>
        </p:nvSpPr>
        <p:spPr>
          <a:xfrm>
            <a:off x="7644384" y="2359152"/>
            <a:ext cx="292608" cy="219456"/>
          </a:xfrm>
          <a:prstGeom prst="rect">
            <a:avLst/>
          </a:prstGeom>
          <a:noFill/>
          <a:ln/>
        </p:spPr>
        <p:txBody>
          <a:bodyPr wrap="square" lIns="0" tIns="0" rIns="0" bIns="0" rtlCol="0" anchor="ctr"/>
          <a:lstStyle/>
          <a:p>
            <a:pPr indent="0" marL="0">
              <a:buNone/>
            </a:pPr>
            <a:r>
              <a:rPr lang="en-US" sz="1800" b="1" dirty="0">
                <a:solidFill>
                  <a:srgbClr val="1F6B52"/>
                </a:solidFill>
                <a:latin typeface="Aptos Display" pitchFamily="34" charset="0"/>
                <a:ea typeface="Aptos Display" pitchFamily="34" charset="-122"/>
                <a:cs typeface="Aptos Display" pitchFamily="34" charset="-120"/>
              </a:rPr>
              <a:t>4</a:t>
            </a:r>
            <a:endParaRPr lang="en-US" sz="1800" dirty="0"/>
          </a:p>
        </p:txBody>
      </p:sp>
      <p:sp>
        <p:nvSpPr>
          <p:cNvPr id="25" name="Text 23"/>
          <p:cNvSpPr/>
          <p:nvPr/>
        </p:nvSpPr>
        <p:spPr>
          <a:xfrm>
            <a:off x="7644384" y="2724912"/>
            <a:ext cx="1481328" cy="292608"/>
          </a:xfrm>
          <a:prstGeom prst="rect">
            <a:avLst/>
          </a:prstGeom>
          <a:noFill/>
          <a:ln/>
        </p:spPr>
        <p:txBody>
          <a:bodyPr wrap="square" lIns="0" tIns="0" rIns="0" bIns="0" rtlCol="0" anchor="ctr"/>
          <a:lstStyle/>
          <a:p>
            <a:pPr indent="0" marL="0">
              <a:buNone/>
            </a:pPr>
            <a:r>
              <a:rPr lang="en-US" sz="1350" b="1" dirty="0">
                <a:solidFill>
                  <a:srgbClr val="172033"/>
                </a:solidFill>
                <a:latin typeface="Aptos Display" pitchFamily="34" charset="0"/>
                <a:ea typeface="Aptos Display" pitchFamily="34" charset="-122"/>
                <a:cs typeface="Aptos Display" pitchFamily="34" charset="-120"/>
              </a:rPr>
              <a:t>Reevaluation alertes</a:t>
            </a:r>
            <a:endParaRPr lang="en-US" sz="1350" dirty="0"/>
          </a:p>
        </p:txBody>
      </p:sp>
      <p:sp>
        <p:nvSpPr>
          <p:cNvPr id="26" name="Text 24"/>
          <p:cNvSpPr/>
          <p:nvPr/>
        </p:nvSpPr>
        <p:spPr>
          <a:xfrm>
            <a:off x="7644384" y="3145536"/>
            <a:ext cx="1536192" cy="749808"/>
          </a:xfrm>
          <a:prstGeom prst="rect">
            <a:avLst/>
          </a:prstGeom>
          <a:noFill/>
          <a:ln/>
        </p:spPr>
        <p:txBody>
          <a:bodyPr wrap="square" lIns="0" tIns="0" rIns="0" bIns="0" rtlCol="0" anchor="ctr"/>
          <a:lstStyle/>
          <a:p>
            <a:pPr indent="0" marL="0">
              <a:buNone/>
            </a:pPr>
            <a:r>
              <a:rPr lang="en-US" sz="990" dirty="0">
                <a:solidFill>
                  <a:srgbClr val="334155"/>
                </a:solidFill>
                <a:latin typeface="Aptos" pitchFamily="34" charset="0"/>
                <a:ea typeface="Aptos" pitchFamily="34" charset="-122"/>
                <a:cs typeface="Aptos" pitchFamily="34" charset="-120"/>
              </a:rPr>
              <a:t>LOW_STOCK et EXPIRY sont recalcules.</a:t>
            </a:r>
            <a:endParaRPr lang="en-US" sz="990" dirty="0"/>
          </a:p>
        </p:txBody>
      </p:sp>
      <p:sp>
        <p:nvSpPr>
          <p:cNvPr id="27" name="Shape 25"/>
          <p:cNvSpPr/>
          <p:nvPr/>
        </p:nvSpPr>
        <p:spPr>
          <a:xfrm>
            <a:off x="9326880" y="3145536"/>
            <a:ext cx="256032" cy="256032"/>
          </a:xfrm>
          <a:prstGeom prst="chevron">
            <a:avLst/>
          </a:prstGeom>
          <a:solidFill>
            <a:srgbClr val="1F6B52"/>
          </a:solidFill>
          <a:ln w="12700">
            <a:solidFill>
              <a:srgbClr val="1F6B52"/>
            </a:solidFill>
            <a:prstDash val="solid"/>
          </a:ln>
        </p:spPr>
      </p:sp>
      <p:sp>
        <p:nvSpPr>
          <p:cNvPr id="28" name="Shape 26"/>
          <p:cNvSpPr/>
          <p:nvPr/>
        </p:nvSpPr>
        <p:spPr>
          <a:xfrm>
            <a:off x="9747504" y="2176272"/>
            <a:ext cx="1901952" cy="2157984"/>
          </a:xfrm>
          <a:prstGeom prst="roundRect">
            <a:avLst>
              <a:gd name="adj" fmla="val 2885"/>
            </a:avLst>
          </a:prstGeom>
          <a:solidFill>
            <a:srgbClr val="DCEEE6"/>
          </a:solidFill>
          <a:ln w="12700">
            <a:solidFill>
              <a:srgbClr val="D8E0EA"/>
            </a:solidFill>
            <a:prstDash val="solid"/>
          </a:ln>
          <a:effectLst>
            <a:outerShdw sx="100000" sy="100000" kx="0" ky="0" algn="bl" rotWithShape="0" blurRad="12700" dist="50800" dir="2700000">
              <a:srgbClr val="BFC8D4">
                <a:alpha val="18000"/>
              </a:srgbClr>
            </a:outerShdw>
          </a:effectLst>
        </p:spPr>
      </p:sp>
      <p:sp>
        <p:nvSpPr>
          <p:cNvPr id="29" name="Text 27"/>
          <p:cNvSpPr/>
          <p:nvPr/>
        </p:nvSpPr>
        <p:spPr>
          <a:xfrm>
            <a:off x="9912096" y="2359152"/>
            <a:ext cx="292608" cy="219456"/>
          </a:xfrm>
          <a:prstGeom prst="rect">
            <a:avLst/>
          </a:prstGeom>
          <a:noFill/>
          <a:ln/>
        </p:spPr>
        <p:txBody>
          <a:bodyPr wrap="square" lIns="0" tIns="0" rIns="0" bIns="0" rtlCol="0" anchor="ctr"/>
          <a:lstStyle/>
          <a:p>
            <a:pPr indent="0" marL="0">
              <a:buNone/>
            </a:pPr>
            <a:r>
              <a:rPr lang="en-US" sz="1800" b="1" dirty="0">
                <a:solidFill>
                  <a:srgbClr val="1F6B52"/>
                </a:solidFill>
                <a:latin typeface="Aptos Display" pitchFamily="34" charset="0"/>
                <a:ea typeface="Aptos Display" pitchFamily="34" charset="-122"/>
                <a:cs typeface="Aptos Display" pitchFamily="34" charset="-120"/>
              </a:rPr>
              <a:t>5</a:t>
            </a:r>
            <a:endParaRPr lang="en-US" sz="1800" dirty="0"/>
          </a:p>
        </p:txBody>
      </p:sp>
      <p:sp>
        <p:nvSpPr>
          <p:cNvPr id="30" name="Text 28"/>
          <p:cNvSpPr/>
          <p:nvPr/>
        </p:nvSpPr>
        <p:spPr>
          <a:xfrm>
            <a:off x="9912096" y="2724912"/>
            <a:ext cx="1481328" cy="292608"/>
          </a:xfrm>
          <a:prstGeom prst="rect">
            <a:avLst/>
          </a:prstGeom>
          <a:noFill/>
          <a:ln/>
        </p:spPr>
        <p:txBody>
          <a:bodyPr wrap="square" lIns="0" tIns="0" rIns="0" bIns="0" rtlCol="0" anchor="ctr"/>
          <a:lstStyle/>
          <a:p>
            <a:pPr indent="0" marL="0">
              <a:buNone/>
            </a:pPr>
            <a:r>
              <a:rPr lang="en-US" sz="1350" b="1" dirty="0">
                <a:solidFill>
                  <a:srgbClr val="172033"/>
                </a:solidFill>
                <a:latin typeface="Aptos Display" pitchFamily="34" charset="0"/>
                <a:ea typeface="Aptos Display" pitchFamily="34" charset="-122"/>
                <a:cs typeface="Aptos Display" pitchFamily="34" charset="-120"/>
              </a:rPr>
              <a:t>Notification owner</a:t>
            </a:r>
            <a:endParaRPr lang="en-US" sz="1350" dirty="0"/>
          </a:p>
        </p:txBody>
      </p:sp>
      <p:sp>
        <p:nvSpPr>
          <p:cNvPr id="31" name="Text 29"/>
          <p:cNvSpPr/>
          <p:nvPr/>
        </p:nvSpPr>
        <p:spPr>
          <a:xfrm>
            <a:off x="9912096" y="3145536"/>
            <a:ext cx="1536192" cy="749808"/>
          </a:xfrm>
          <a:prstGeom prst="rect">
            <a:avLst/>
          </a:prstGeom>
          <a:noFill/>
          <a:ln/>
        </p:spPr>
        <p:txBody>
          <a:bodyPr wrap="square" lIns="0" tIns="0" rIns="0" bIns="0" rtlCol="0" anchor="ctr"/>
          <a:lstStyle/>
          <a:p>
            <a:pPr indent="0" marL="0">
              <a:buNone/>
            </a:pPr>
            <a:r>
              <a:rPr lang="en-US" sz="990" dirty="0">
                <a:solidFill>
                  <a:srgbClr val="334155"/>
                </a:solidFill>
                <a:latin typeface="Aptos" pitchFamily="34" charset="0"/>
                <a:ea typeface="Aptos" pitchFamily="34" charset="-122"/>
                <a:cs typeface="Aptos" pitchFamily="34" charset="-120"/>
              </a:rPr>
              <a:t>Badge dashboard et e-mail prennent le relai.</a:t>
            </a:r>
            <a:endParaRPr lang="en-US" sz="990" dirty="0"/>
          </a:p>
        </p:txBody>
      </p:sp>
      <p:sp>
        <p:nvSpPr>
          <p:cNvPr id="32" name="Shape 30"/>
          <p:cNvSpPr/>
          <p:nvPr/>
        </p:nvSpPr>
        <p:spPr>
          <a:xfrm>
            <a:off x="676656" y="4736592"/>
            <a:ext cx="10972800" cy="749808"/>
          </a:xfrm>
          <a:prstGeom prst="roundRect">
            <a:avLst>
              <a:gd name="adj" fmla="val 7317"/>
            </a:avLst>
          </a:prstGeom>
          <a:solidFill>
            <a:srgbClr val="172033"/>
          </a:solidFill>
          <a:ln w="12700">
            <a:solidFill>
              <a:srgbClr val="172033"/>
            </a:solidFill>
            <a:prstDash val="solid"/>
          </a:ln>
        </p:spPr>
      </p:sp>
      <p:sp>
        <p:nvSpPr>
          <p:cNvPr id="33" name="Text 31"/>
          <p:cNvSpPr/>
          <p:nvPr/>
        </p:nvSpPr>
        <p:spPr>
          <a:xfrm>
            <a:off x="914400" y="4983480"/>
            <a:ext cx="10497312" cy="237744"/>
          </a:xfrm>
          <a:prstGeom prst="rect">
            <a:avLst/>
          </a:prstGeom>
          <a:noFill/>
          <a:ln/>
        </p:spPr>
        <p:txBody>
          <a:bodyPr wrap="square" lIns="0" tIns="0" rIns="0" bIns="0" rtlCol="0" anchor="ctr"/>
          <a:lstStyle/>
          <a:p>
            <a:pPr algn="ctr" indent="0" marL="0">
              <a:buNone/>
            </a:pPr>
            <a:r>
              <a:rPr lang="en-US" sz="1050" dirty="0">
                <a:solidFill>
                  <a:srgbClr val="FFFFFF"/>
                </a:solidFill>
                <a:latin typeface="Aptos" pitchFamily="34" charset="0"/>
                <a:ea typeface="Aptos" pitchFamily="34" charset="-122"/>
                <a:cs typeface="Aptos" pitchFamily="34" charset="-120"/>
              </a:rPr>
              <a:t>Point critique: les etapes 2 a 4 vivent dans la meme transaction Prisma. Si la reevaluation des alertes echoue, la modification de stock est annulee elle aussi. Le systeme ne laisse jamais un stock modifie avec des alertes incoherentes.</a:t>
            </a:r>
            <a:endParaRPr lang="en-US" sz="1050" dirty="0"/>
          </a:p>
        </p:txBody>
      </p:sp>
      <p:sp>
        <p:nvSpPr>
          <p:cNvPr id="34" name="Text 32"/>
          <p:cNvSpPr/>
          <p:nvPr/>
        </p:nvSpPr>
        <p:spPr>
          <a:xfrm>
            <a:off x="512064" y="6419088"/>
            <a:ext cx="7772400" cy="164592"/>
          </a:xfrm>
          <a:prstGeom prst="rect">
            <a:avLst/>
          </a:prstGeom>
          <a:noFill/>
          <a:ln/>
        </p:spPr>
        <p:txBody>
          <a:bodyPr wrap="square" lIns="0" tIns="0" rIns="0" bIns="0" rtlCol="0" anchor="ctr"/>
          <a:lstStyle/>
          <a:p>
            <a:pPr indent="0" marL="0">
              <a:buNone/>
            </a:pPr>
            <a:r>
              <a:rPr lang="en-US" sz="800" dirty="0">
                <a:solidFill>
                  <a:srgbClr val="64748B"/>
                </a:solidFill>
                <a:latin typeface="Aptos" pitchFamily="34" charset="0"/>
                <a:ea typeface="Aptos" pitchFamily="34" charset="-122"/>
                <a:cs typeface="Aptos" pitchFamily="34" charset="-120"/>
              </a:rPr>
              <a:t>La coherence transactionnelle est l'argument technique le plus fort de la solution.</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5F1E8"/>
          </a:solidFill>
          <a:ln w="12700">
            <a:solidFill>
              <a:srgbClr val="F5F1E8">
                <a:alpha val="0"/>
              </a:srgbClr>
            </a:solidFill>
            <a:prstDash val="solid"/>
          </a:ln>
        </p:spPr>
      </p:sp>
      <p:sp>
        <p:nvSpPr>
          <p:cNvPr id="3" name="Shape 1"/>
          <p:cNvSpPr/>
          <p:nvPr/>
        </p:nvSpPr>
        <p:spPr>
          <a:xfrm>
            <a:off x="384048" y="347472"/>
            <a:ext cx="11420856" cy="18288"/>
          </a:xfrm>
          <a:prstGeom prst="rect">
            <a:avLst/>
          </a:prstGeom>
          <a:solidFill>
            <a:srgbClr val="D8E0EA"/>
          </a:solidFill>
          <a:ln w="12700">
            <a:solidFill>
              <a:srgbClr val="D8E0EA"/>
            </a:solidFill>
            <a:prstDash val="solid"/>
          </a:ln>
        </p:spPr>
      </p:sp>
      <p:sp>
        <p:nvSpPr>
          <p:cNvPr id="4" name="Text 2"/>
          <p:cNvSpPr/>
          <p:nvPr/>
        </p:nvSpPr>
        <p:spPr>
          <a:xfrm>
            <a:off x="512064" y="155448"/>
            <a:ext cx="2926080" cy="164592"/>
          </a:xfrm>
          <a:prstGeom prst="rect">
            <a:avLst/>
          </a:prstGeom>
          <a:noFill/>
          <a:ln/>
        </p:spPr>
        <p:txBody>
          <a:bodyPr wrap="square" rtlCol="0" anchor="ctr"/>
          <a:lstStyle/>
          <a:p>
            <a:pPr indent="0" marL="0">
              <a:buNone/>
            </a:pPr>
            <a:r>
              <a:rPr lang="en-US" sz="800" b="1" spc="160" kern="0" dirty="0">
                <a:solidFill>
                  <a:srgbClr val="1F6B52"/>
                </a:solidFill>
                <a:latin typeface="Aptos" pitchFamily="34" charset="0"/>
                <a:ea typeface="Aptos" pitchFamily="34" charset="-122"/>
                <a:cs typeface="Aptos" pitchFamily="34" charset="-120"/>
              </a:rPr>
              <a:t>MODULE INVENTAIRE</a:t>
            </a:r>
            <a:endParaRPr lang="en-US" sz="800" dirty="0"/>
          </a:p>
        </p:txBody>
      </p:sp>
      <p:sp>
        <p:nvSpPr>
          <p:cNvPr id="5" name="Text 3"/>
          <p:cNvSpPr/>
          <p:nvPr/>
        </p:nvSpPr>
        <p:spPr>
          <a:xfrm>
            <a:off x="11109960" y="6446520"/>
            <a:ext cx="640080" cy="182880"/>
          </a:xfrm>
          <a:prstGeom prst="rect">
            <a:avLst/>
          </a:prstGeom>
          <a:noFill/>
          <a:ln/>
        </p:spPr>
        <p:txBody>
          <a:bodyPr wrap="square" rtlCol="0" anchor="ctr"/>
          <a:lstStyle/>
          <a:p>
            <a:pPr algn="r" indent="0" marL="0">
              <a:buNone/>
            </a:pPr>
            <a:r>
              <a:rPr lang="en-US" sz="800" dirty="0">
                <a:solidFill>
                  <a:srgbClr val="64748B"/>
                </a:solidFill>
                <a:latin typeface="Aptos" pitchFamily="34" charset="0"/>
                <a:ea typeface="Aptos" pitchFamily="34" charset="-122"/>
                <a:cs typeface="Aptos" pitchFamily="34" charset="-120"/>
              </a:rPr>
              <a:t>06 / 12</a:t>
            </a:r>
            <a:endParaRPr lang="en-US" sz="800" dirty="0"/>
          </a:p>
        </p:txBody>
      </p:sp>
      <p:sp>
        <p:nvSpPr>
          <p:cNvPr id="6" name="Text 4"/>
          <p:cNvSpPr/>
          <p:nvPr/>
        </p:nvSpPr>
        <p:spPr>
          <a:xfrm>
            <a:off x="512064" y="530352"/>
            <a:ext cx="7772400" cy="694944"/>
          </a:xfrm>
          <a:prstGeom prst="rect">
            <a:avLst/>
          </a:prstGeom>
          <a:noFill/>
          <a:ln/>
        </p:spPr>
        <p:txBody>
          <a:bodyPr wrap="square" lIns="0" tIns="0" rIns="0" bIns="0" rtlCol="0" anchor="ctr"/>
          <a:lstStyle/>
          <a:p>
            <a:pPr indent="0" marL="0">
              <a:buNone/>
            </a:pPr>
            <a:r>
              <a:rPr lang="en-US" sz="2400" b="1" dirty="0">
                <a:solidFill>
                  <a:srgbClr val="172033"/>
                </a:solidFill>
                <a:latin typeface="Aptos Display" pitchFamily="34" charset="0"/>
                <a:ea typeface="Aptos Display" pitchFamily="34" charset="-122"/>
                <a:cs typeface="Aptos Display" pitchFamily="34" charset="-120"/>
              </a:rPr>
              <a:t>Le module inventaire convertit chaque produit en objet de pilotage, pas seulement en ligne de catalogue.</a:t>
            </a:r>
            <a:endParaRPr lang="en-US" sz="2400" dirty="0"/>
          </a:p>
        </p:txBody>
      </p:sp>
      <p:sp>
        <p:nvSpPr>
          <p:cNvPr id="7" name="Text 5"/>
          <p:cNvSpPr/>
          <p:nvPr/>
        </p:nvSpPr>
        <p:spPr>
          <a:xfrm>
            <a:off x="512064" y="1078992"/>
            <a:ext cx="8138160" cy="411480"/>
          </a:xfrm>
          <a:prstGeom prst="rect">
            <a:avLst/>
          </a:prstGeom>
          <a:noFill/>
          <a:ln/>
        </p:spPr>
        <p:txBody>
          <a:bodyPr wrap="square" lIns="0" tIns="0" rIns="0" bIns="0" rtlCol="0" anchor="ctr"/>
          <a:lstStyle/>
          <a:p>
            <a:pPr indent="0" marL="0">
              <a:buNone/>
            </a:pPr>
            <a:r>
              <a:rPr lang="en-US" sz="1050" dirty="0">
                <a:solidFill>
                  <a:srgbClr val="334155"/>
                </a:solidFill>
                <a:latin typeface="Aptos" pitchFamily="34" charset="0"/>
                <a:ea typeface="Aptos" pitchFamily="34" charset="-122"/>
                <a:cs typeface="Aptos" pitchFamily="34" charset="-120"/>
              </a:rPr>
              <a:t>La qualite du systeme vient des champs metier retenus et de la discipline de mise a jour imposee par le service backend.</a:t>
            </a:r>
            <a:endParaRPr lang="en-US" sz="1050" dirty="0"/>
          </a:p>
        </p:txBody>
      </p:sp>
      <p:sp>
        <p:nvSpPr>
          <p:cNvPr id="8" name="Shape 6"/>
          <p:cNvSpPr/>
          <p:nvPr/>
        </p:nvSpPr>
        <p:spPr>
          <a:xfrm>
            <a:off x="512064" y="1810512"/>
            <a:ext cx="3767328" cy="3639312"/>
          </a:xfrm>
          <a:prstGeom prst="roundRect">
            <a:avLst>
              <a:gd name="adj" fmla="val 1508"/>
            </a:avLst>
          </a:prstGeom>
          <a:solidFill>
            <a:srgbClr val="FFFFFF"/>
          </a:solidFill>
          <a:ln w="12700">
            <a:solidFill>
              <a:srgbClr val="D8E0EA"/>
            </a:solidFill>
            <a:prstDash val="solid"/>
          </a:ln>
          <a:effectLst>
            <a:outerShdw sx="100000" sy="100000" kx="0" ky="0" algn="bl" rotWithShape="0" blurRad="12700" dist="50800" dir="2700000">
              <a:srgbClr val="BFC8D4">
                <a:alpha val="18000"/>
              </a:srgbClr>
            </a:outerShdw>
          </a:effectLst>
        </p:spPr>
      </p:sp>
      <p:sp>
        <p:nvSpPr>
          <p:cNvPr id="9" name="Text 7"/>
          <p:cNvSpPr/>
          <p:nvPr/>
        </p:nvSpPr>
        <p:spPr>
          <a:xfrm>
            <a:off x="749808" y="2029968"/>
            <a:ext cx="1554480" cy="164592"/>
          </a:xfrm>
          <a:prstGeom prst="rect">
            <a:avLst/>
          </a:prstGeom>
          <a:noFill/>
          <a:ln/>
        </p:spPr>
        <p:txBody>
          <a:bodyPr wrap="square" rtlCol="0" anchor="ctr"/>
          <a:lstStyle/>
          <a:p>
            <a:pPr indent="0" marL="0">
              <a:buNone/>
            </a:pPr>
            <a:r>
              <a:rPr lang="en-US" sz="820" b="1" spc="120" kern="0" dirty="0">
                <a:solidFill>
                  <a:srgbClr val="1F6B52"/>
                </a:solidFill>
                <a:latin typeface="Aptos" pitchFamily="34" charset="0"/>
                <a:ea typeface="Aptos" pitchFamily="34" charset="-122"/>
                <a:cs typeface="Aptos" pitchFamily="34" charset="-120"/>
              </a:rPr>
              <a:t>Champs structurants</a:t>
            </a:r>
            <a:endParaRPr lang="en-US" sz="820" dirty="0"/>
          </a:p>
        </p:txBody>
      </p:sp>
      <p:sp>
        <p:nvSpPr>
          <p:cNvPr id="10" name="Text 8"/>
          <p:cNvSpPr/>
          <p:nvPr/>
        </p:nvSpPr>
        <p:spPr>
          <a:xfrm>
            <a:off x="749808" y="2414016"/>
            <a:ext cx="1280160" cy="201168"/>
          </a:xfrm>
          <a:prstGeom prst="rect">
            <a:avLst/>
          </a:prstGeom>
          <a:noFill/>
          <a:ln/>
        </p:spPr>
        <p:txBody>
          <a:bodyPr wrap="square" lIns="0" tIns="0" rIns="0" bIns="0" rtlCol="0" anchor="ctr"/>
          <a:lstStyle/>
          <a:p>
            <a:pPr indent="0" marL="0">
              <a:buNone/>
            </a:pPr>
            <a:r>
              <a:rPr lang="en-US" sz="1120" b="1" dirty="0">
                <a:solidFill>
                  <a:srgbClr val="172033"/>
                </a:solidFill>
                <a:latin typeface="Aptos Display" pitchFamily="34" charset="0"/>
                <a:ea typeface="Aptos Display" pitchFamily="34" charset="-122"/>
                <a:cs typeface="Aptos Display" pitchFamily="34" charset="-120"/>
              </a:rPr>
              <a:t>currentStock</a:t>
            </a:r>
            <a:endParaRPr lang="en-US" sz="1120" dirty="0"/>
          </a:p>
        </p:txBody>
      </p:sp>
      <p:sp>
        <p:nvSpPr>
          <p:cNvPr id="11" name="Text 9"/>
          <p:cNvSpPr/>
          <p:nvPr/>
        </p:nvSpPr>
        <p:spPr>
          <a:xfrm>
            <a:off x="2084832" y="2414016"/>
            <a:ext cx="1773936" cy="201168"/>
          </a:xfrm>
          <a:prstGeom prst="rect">
            <a:avLst/>
          </a:prstGeom>
          <a:noFill/>
          <a:ln/>
        </p:spPr>
        <p:txBody>
          <a:bodyPr wrap="square" lIns="0" tIns="0" rIns="0" bIns="0" rtlCol="0" anchor="ctr"/>
          <a:lstStyle/>
          <a:p>
            <a:pPr indent="0" marL="0">
              <a:buNone/>
            </a:pPr>
            <a:r>
              <a:rPr lang="en-US" sz="990" dirty="0">
                <a:solidFill>
                  <a:srgbClr val="334155"/>
                </a:solidFill>
                <a:latin typeface="Aptos" pitchFamily="34" charset="0"/>
                <a:ea typeface="Aptos" pitchFamily="34" charset="-122"/>
                <a:cs typeface="Aptos" pitchFamily="34" charset="-120"/>
              </a:rPr>
              <a:t>Quantite exploitable en temps reel</a:t>
            </a:r>
            <a:endParaRPr lang="en-US" sz="990" dirty="0"/>
          </a:p>
        </p:txBody>
      </p:sp>
      <p:sp>
        <p:nvSpPr>
          <p:cNvPr id="12" name="Shape 10"/>
          <p:cNvSpPr/>
          <p:nvPr/>
        </p:nvSpPr>
        <p:spPr>
          <a:xfrm>
            <a:off x="749808" y="2688336"/>
            <a:ext cx="3218688" cy="9144"/>
          </a:xfrm>
          <a:prstGeom prst="rect">
            <a:avLst/>
          </a:prstGeom>
          <a:solidFill>
            <a:srgbClr val="D8E0EA"/>
          </a:solidFill>
          <a:ln w="12700">
            <a:solidFill>
              <a:srgbClr val="D8E0EA"/>
            </a:solidFill>
            <a:prstDash val="solid"/>
          </a:ln>
        </p:spPr>
      </p:sp>
      <p:sp>
        <p:nvSpPr>
          <p:cNvPr id="13" name="Text 11"/>
          <p:cNvSpPr/>
          <p:nvPr/>
        </p:nvSpPr>
        <p:spPr>
          <a:xfrm>
            <a:off x="749808" y="2980944"/>
            <a:ext cx="1280160" cy="201168"/>
          </a:xfrm>
          <a:prstGeom prst="rect">
            <a:avLst/>
          </a:prstGeom>
          <a:noFill/>
          <a:ln/>
        </p:spPr>
        <p:txBody>
          <a:bodyPr wrap="square" lIns="0" tIns="0" rIns="0" bIns="0" rtlCol="0" anchor="ctr"/>
          <a:lstStyle/>
          <a:p>
            <a:pPr indent="0" marL="0">
              <a:buNone/>
            </a:pPr>
            <a:r>
              <a:rPr lang="en-US" sz="1120" b="1" dirty="0">
                <a:solidFill>
                  <a:srgbClr val="172033"/>
                </a:solidFill>
                <a:latin typeface="Aptos Display" pitchFamily="34" charset="0"/>
                <a:ea typeface="Aptos Display" pitchFamily="34" charset="-122"/>
                <a:cs typeface="Aptos Display" pitchFamily="34" charset="-120"/>
              </a:rPr>
              <a:t>lowStockThreshold</a:t>
            </a:r>
            <a:endParaRPr lang="en-US" sz="1120" dirty="0"/>
          </a:p>
        </p:txBody>
      </p:sp>
      <p:sp>
        <p:nvSpPr>
          <p:cNvPr id="14" name="Text 12"/>
          <p:cNvSpPr/>
          <p:nvPr/>
        </p:nvSpPr>
        <p:spPr>
          <a:xfrm>
            <a:off x="2084832" y="2980944"/>
            <a:ext cx="1773936" cy="201168"/>
          </a:xfrm>
          <a:prstGeom prst="rect">
            <a:avLst/>
          </a:prstGeom>
          <a:noFill/>
          <a:ln/>
        </p:spPr>
        <p:txBody>
          <a:bodyPr wrap="square" lIns="0" tIns="0" rIns="0" bIns="0" rtlCol="0" anchor="ctr"/>
          <a:lstStyle/>
          <a:p>
            <a:pPr indent="0" marL="0">
              <a:buNone/>
            </a:pPr>
            <a:r>
              <a:rPr lang="en-US" sz="990" dirty="0">
                <a:solidFill>
                  <a:srgbClr val="334155"/>
                </a:solidFill>
                <a:latin typeface="Aptos" pitchFamily="34" charset="0"/>
                <a:ea typeface="Aptos" pitchFamily="34" charset="-122"/>
                <a:cs typeface="Aptos" pitchFamily="34" charset="-120"/>
              </a:rPr>
              <a:t>Seuil qui declenche l'alerte</a:t>
            </a:r>
            <a:endParaRPr lang="en-US" sz="990" dirty="0"/>
          </a:p>
        </p:txBody>
      </p:sp>
      <p:sp>
        <p:nvSpPr>
          <p:cNvPr id="15" name="Shape 13"/>
          <p:cNvSpPr/>
          <p:nvPr/>
        </p:nvSpPr>
        <p:spPr>
          <a:xfrm>
            <a:off x="749808" y="3255264"/>
            <a:ext cx="3218688" cy="9144"/>
          </a:xfrm>
          <a:prstGeom prst="rect">
            <a:avLst/>
          </a:prstGeom>
          <a:solidFill>
            <a:srgbClr val="D8E0EA"/>
          </a:solidFill>
          <a:ln w="12700">
            <a:solidFill>
              <a:srgbClr val="D8E0EA"/>
            </a:solidFill>
            <a:prstDash val="solid"/>
          </a:ln>
        </p:spPr>
      </p:sp>
      <p:sp>
        <p:nvSpPr>
          <p:cNvPr id="16" name="Text 14"/>
          <p:cNvSpPr/>
          <p:nvPr/>
        </p:nvSpPr>
        <p:spPr>
          <a:xfrm>
            <a:off x="749808" y="3547872"/>
            <a:ext cx="1280160" cy="201168"/>
          </a:xfrm>
          <a:prstGeom prst="rect">
            <a:avLst/>
          </a:prstGeom>
          <a:noFill/>
          <a:ln/>
        </p:spPr>
        <p:txBody>
          <a:bodyPr wrap="square" lIns="0" tIns="0" rIns="0" bIns="0" rtlCol="0" anchor="ctr"/>
          <a:lstStyle/>
          <a:p>
            <a:pPr indent="0" marL="0">
              <a:buNone/>
            </a:pPr>
            <a:r>
              <a:rPr lang="en-US" sz="1120" b="1" dirty="0">
                <a:solidFill>
                  <a:srgbClr val="172033"/>
                </a:solidFill>
                <a:latin typeface="Aptos Display" pitchFamily="34" charset="0"/>
                <a:ea typeface="Aptos Display" pitchFamily="34" charset="-122"/>
                <a:cs typeface="Aptos Display" pitchFamily="34" charset="-120"/>
              </a:rPr>
              <a:t>expirationDate</a:t>
            </a:r>
            <a:endParaRPr lang="en-US" sz="1120" dirty="0"/>
          </a:p>
        </p:txBody>
      </p:sp>
      <p:sp>
        <p:nvSpPr>
          <p:cNvPr id="17" name="Text 15"/>
          <p:cNvSpPr/>
          <p:nvPr/>
        </p:nvSpPr>
        <p:spPr>
          <a:xfrm>
            <a:off x="2084832" y="3547872"/>
            <a:ext cx="1773936" cy="201168"/>
          </a:xfrm>
          <a:prstGeom prst="rect">
            <a:avLst/>
          </a:prstGeom>
          <a:noFill/>
          <a:ln/>
        </p:spPr>
        <p:txBody>
          <a:bodyPr wrap="square" lIns="0" tIns="0" rIns="0" bIns="0" rtlCol="0" anchor="ctr"/>
          <a:lstStyle/>
          <a:p>
            <a:pPr indent="0" marL="0">
              <a:buNone/>
            </a:pPr>
            <a:r>
              <a:rPr lang="en-US" sz="990" dirty="0">
                <a:solidFill>
                  <a:srgbClr val="334155"/>
                </a:solidFill>
                <a:latin typeface="Aptos" pitchFamily="34" charset="0"/>
                <a:ea typeface="Aptos" pitchFamily="34" charset="-122"/>
                <a:cs typeface="Aptos" pitchFamily="34" charset="-120"/>
              </a:rPr>
              <a:t>Base des alertes de peremption</a:t>
            </a:r>
            <a:endParaRPr lang="en-US" sz="990" dirty="0"/>
          </a:p>
        </p:txBody>
      </p:sp>
      <p:sp>
        <p:nvSpPr>
          <p:cNvPr id="18" name="Shape 16"/>
          <p:cNvSpPr/>
          <p:nvPr/>
        </p:nvSpPr>
        <p:spPr>
          <a:xfrm>
            <a:off x="749808" y="3822192"/>
            <a:ext cx="3218688" cy="9144"/>
          </a:xfrm>
          <a:prstGeom prst="rect">
            <a:avLst/>
          </a:prstGeom>
          <a:solidFill>
            <a:srgbClr val="D8E0EA"/>
          </a:solidFill>
          <a:ln w="12700">
            <a:solidFill>
              <a:srgbClr val="D8E0EA"/>
            </a:solidFill>
            <a:prstDash val="solid"/>
          </a:ln>
        </p:spPr>
      </p:sp>
      <p:sp>
        <p:nvSpPr>
          <p:cNvPr id="19" name="Text 17"/>
          <p:cNvSpPr/>
          <p:nvPr/>
        </p:nvSpPr>
        <p:spPr>
          <a:xfrm>
            <a:off x="749808" y="4114800"/>
            <a:ext cx="1280160" cy="201168"/>
          </a:xfrm>
          <a:prstGeom prst="rect">
            <a:avLst/>
          </a:prstGeom>
          <a:noFill/>
          <a:ln/>
        </p:spPr>
        <p:txBody>
          <a:bodyPr wrap="square" lIns="0" tIns="0" rIns="0" bIns="0" rtlCol="0" anchor="ctr"/>
          <a:lstStyle/>
          <a:p>
            <a:pPr indent="0" marL="0">
              <a:buNone/>
            </a:pPr>
            <a:r>
              <a:rPr lang="en-US" sz="1120" b="1" dirty="0">
                <a:solidFill>
                  <a:srgbClr val="172033"/>
                </a:solidFill>
                <a:latin typeface="Aptos Display" pitchFamily="34" charset="0"/>
                <a:ea typeface="Aptos Display" pitchFamily="34" charset="-122"/>
                <a:cs typeface="Aptos Display" pitchFamily="34" charset="-120"/>
              </a:rPr>
              <a:t>stockMovements</a:t>
            </a:r>
            <a:endParaRPr lang="en-US" sz="1120" dirty="0"/>
          </a:p>
        </p:txBody>
      </p:sp>
      <p:sp>
        <p:nvSpPr>
          <p:cNvPr id="20" name="Text 18"/>
          <p:cNvSpPr/>
          <p:nvPr/>
        </p:nvSpPr>
        <p:spPr>
          <a:xfrm>
            <a:off x="2084832" y="4114800"/>
            <a:ext cx="1773936" cy="201168"/>
          </a:xfrm>
          <a:prstGeom prst="rect">
            <a:avLst/>
          </a:prstGeom>
          <a:noFill/>
          <a:ln/>
        </p:spPr>
        <p:txBody>
          <a:bodyPr wrap="square" lIns="0" tIns="0" rIns="0" bIns="0" rtlCol="0" anchor="ctr"/>
          <a:lstStyle/>
          <a:p>
            <a:pPr indent="0" marL="0">
              <a:buNone/>
            </a:pPr>
            <a:r>
              <a:rPr lang="en-US" sz="990" dirty="0">
                <a:solidFill>
                  <a:srgbClr val="334155"/>
                </a:solidFill>
                <a:latin typeface="Aptos" pitchFamily="34" charset="0"/>
                <a:ea typeface="Aptos" pitchFamily="34" charset="-122"/>
                <a:cs typeface="Aptos" pitchFamily="34" charset="-120"/>
              </a:rPr>
              <a:t>Historique de toutes les entrees et sorties</a:t>
            </a:r>
            <a:endParaRPr lang="en-US" sz="990" dirty="0"/>
          </a:p>
        </p:txBody>
      </p:sp>
      <p:sp>
        <p:nvSpPr>
          <p:cNvPr id="21" name="Shape 19"/>
          <p:cNvSpPr/>
          <p:nvPr/>
        </p:nvSpPr>
        <p:spPr>
          <a:xfrm>
            <a:off x="749808" y="4389120"/>
            <a:ext cx="3218688" cy="9144"/>
          </a:xfrm>
          <a:prstGeom prst="rect">
            <a:avLst/>
          </a:prstGeom>
          <a:solidFill>
            <a:srgbClr val="D8E0EA"/>
          </a:solidFill>
          <a:ln w="12700">
            <a:solidFill>
              <a:srgbClr val="D8E0EA"/>
            </a:solidFill>
            <a:prstDash val="solid"/>
          </a:ln>
        </p:spPr>
      </p:sp>
      <p:sp>
        <p:nvSpPr>
          <p:cNvPr id="22" name="Text 20"/>
          <p:cNvSpPr/>
          <p:nvPr/>
        </p:nvSpPr>
        <p:spPr>
          <a:xfrm>
            <a:off x="749808" y="4681728"/>
            <a:ext cx="1280160" cy="201168"/>
          </a:xfrm>
          <a:prstGeom prst="rect">
            <a:avLst/>
          </a:prstGeom>
          <a:noFill/>
          <a:ln/>
        </p:spPr>
        <p:txBody>
          <a:bodyPr wrap="square" lIns="0" tIns="0" rIns="0" bIns="0" rtlCol="0" anchor="ctr"/>
          <a:lstStyle/>
          <a:p>
            <a:pPr indent="0" marL="0">
              <a:buNone/>
            </a:pPr>
            <a:r>
              <a:rPr lang="en-US" sz="1120" b="1" dirty="0">
                <a:solidFill>
                  <a:srgbClr val="172033"/>
                </a:solidFill>
                <a:latin typeface="Aptos Display" pitchFamily="34" charset="0"/>
                <a:ea typeface="Aptos Display" pitchFamily="34" charset="-122"/>
                <a:cs typeface="Aptos Display" pitchFamily="34" charset="-120"/>
              </a:rPr>
              <a:t>auditLogs</a:t>
            </a:r>
            <a:endParaRPr lang="en-US" sz="1120" dirty="0"/>
          </a:p>
        </p:txBody>
      </p:sp>
      <p:sp>
        <p:nvSpPr>
          <p:cNvPr id="23" name="Text 21"/>
          <p:cNvSpPr/>
          <p:nvPr/>
        </p:nvSpPr>
        <p:spPr>
          <a:xfrm>
            <a:off x="2084832" y="4681728"/>
            <a:ext cx="1773936" cy="201168"/>
          </a:xfrm>
          <a:prstGeom prst="rect">
            <a:avLst/>
          </a:prstGeom>
          <a:noFill/>
          <a:ln/>
        </p:spPr>
        <p:txBody>
          <a:bodyPr wrap="square" lIns="0" tIns="0" rIns="0" bIns="0" rtlCol="0" anchor="ctr"/>
          <a:lstStyle/>
          <a:p>
            <a:pPr indent="0" marL="0">
              <a:buNone/>
            </a:pPr>
            <a:r>
              <a:rPr lang="en-US" sz="990" dirty="0">
                <a:solidFill>
                  <a:srgbClr val="334155"/>
                </a:solidFill>
                <a:latin typeface="Aptos" pitchFamily="34" charset="0"/>
                <a:ea typeface="Aptos" pitchFamily="34" charset="-122"/>
                <a:cs typeface="Aptos" pitchFamily="34" charset="-120"/>
              </a:rPr>
              <a:t>Trace des actions sensibles</a:t>
            </a:r>
            <a:endParaRPr lang="en-US" sz="990" dirty="0"/>
          </a:p>
        </p:txBody>
      </p:sp>
      <p:sp>
        <p:nvSpPr>
          <p:cNvPr id="24" name="Shape 22"/>
          <p:cNvSpPr/>
          <p:nvPr/>
        </p:nvSpPr>
        <p:spPr>
          <a:xfrm>
            <a:off x="4590288" y="1810512"/>
            <a:ext cx="2816352" cy="3639312"/>
          </a:xfrm>
          <a:prstGeom prst="roundRect">
            <a:avLst>
              <a:gd name="adj" fmla="val 1948"/>
            </a:avLst>
          </a:prstGeom>
          <a:solidFill>
            <a:srgbClr val="EEE7DA"/>
          </a:solidFill>
          <a:ln w="12700">
            <a:solidFill>
              <a:srgbClr val="D8E0EA"/>
            </a:solidFill>
            <a:prstDash val="solid"/>
          </a:ln>
        </p:spPr>
      </p:sp>
      <p:sp>
        <p:nvSpPr>
          <p:cNvPr id="25" name="Text 23"/>
          <p:cNvSpPr/>
          <p:nvPr/>
        </p:nvSpPr>
        <p:spPr>
          <a:xfrm>
            <a:off x="4828032" y="2029968"/>
            <a:ext cx="1417320" cy="164592"/>
          </a:xfrm>
          <a:prstGeom prst="rect">
            <a:avLst/>
          </a:prstGeom>
          <a:noFill/>
          <a:ln/>
        </p:spPr>
        <p:txBody>
          <a:bodyPr wrap="square" rtlCol="0" anchor="ctr"/>
          <a:lstStyle/>
          <a:p>
            <a:pPr indent="0" marL="0">
              <a:buNone/>
            </a:pPr>
            <a:r>
              <a:rPr lang="en-US" sz="820" b="1" spc="120" kern="0" dirty="0">
                <a:solidFill>
                  <a:srgbClr val="B7791F"/>
                </a:solidFill>
                <a:latin typeface="Aptos" pitchFamily="34" charset="0"/>
                <a:ea typeface="Aptos" pitchFamily="34" charset="-122"/>
                <a:cs typeface="Aptos" pitchFamily="34" charset="-120"/>
              </a:rPr>
              <a:t>Regles de service</a:t>
            </a:r>
            <a:endParaRPr lang="en-US" sz="820" dirty="0"/>
          </a:p>
        </p:txBody>
      </p:sp>
      <p:sp>
        <p:nvSpPr>
          <p:cNvPr id="26" name="Shape 24"/>
          <p:cNvSpPr/>
          <p:nvPr/>
        </p:nvSpPr>
        <p:spPr>
          <a:xfrm>
            <a:off x="4828032" y="2450592"/>
            <a:ext cx="91440" cy="91440"/>
          </a:xfrm>
          <a:prstGeom prst="ellipse">
            <a:avLst/>
          </a:prstGeom>
          <a:solidFill>
            <a:srgbClr val="B7791F"/>
          </a:solidFill>
          <a:ln w="12700">
            <a:solidFill>
              <a:srgbClr val="B7791F"/>
            </a:solidFill>
            <a:prstDash val="solid"/>
          </a:ln>
        </p:spPr>
      </p:sp>
      <p:sp>
        <p:nvSpPr>
          <p:cNvPr id="27" name="Text 25"/>
          <p:cNvSpPr/>
          <p:nvPr/>
        </p:nvSpPr>
        <p:spPr>
          <a:xfrm>
            <a:off x="4992624" y="2395728"/>
            <a:ext cx="2011680" cy="228600"/>
          </a:xfrm>
          <a:prstGeom prst="rect">
            <a:avLst/>
          </a:prstGeom>
          <a:noFill/>
          <a:ln/>
        </p:spPr>
        <p:txBody>
          <a:bodyPr wrap="square" lIns="0" tIns="0" rIns="0" bIns="0" rtlCol="0" anchor="ctr"/>
          <a:lstStyle/>
          <a:p>
            <a:pPr indent="0" marL="0">
              <a:buNone/>
            </a:pPr>
            <a:r>
              <a:rPr lang="en-US" sz="1010" dirty="0">
                <a:solidFill>
                  <a:srgbClr val="334155"/>
                </a:solidFill>
                <a:latin typeface="Aptos" pitchFamily="34" charset="0"/>
                <a:ea typeface="Aptos" pitchFamily="34" charset="-122"/>
                <a:cs typeface="Aptos" pitchFamily="34" charset="-120"/>
              </a:rPr>
              <a:t>Aucune logique metier en controller.</a:t>
            </a:r>
            <a:endParaRPr lang="en-US" sz="1010" dirty="0"/>
          </a:p>
        </p:txBody>
      </p:sp>
      <p:sp>
        <p:nvSpPr>
          <p:cNvPr id="28" name="Shape 26"/>
          <p:cNvSpPr/>
          <p:nvPr/>
        </p:nvSpPr>
        <p:spPr>
          <a:xfrm>
            <a:off x="4828032" y="2944368"/>
            <a:ext cx="91440" cy="91440"/>
          </a:xfrm>
          <a:prstGeom prst="ellipse">
            <a:avLst/>
          </a:prstGeom>
          <a:solidFill>
            <a:srgbClr val="B7791F"/>
          </a:solidFill>
          <a:ln w="12700">
            <a:solidFill>
              <a:srgbClr val="B7791F"/>
            </a:solidFill>
            <a:prstDash val="solid"/>
          </a:ln>
        </p:spPr>
      </p:sp>
      <p:sp>
        <p:nvSpPr>
          <p:cNvPr id="29" name="Text 27"/>
          <p:cNvSpPr/>
          <p:nvPr/>
        </p:nvSpPr>
        <p:spPr>
          <a:xfrm>
            <a:off x="4992624" y="2889504"/>
            <a:ext cx="2011680" cy="228600"/>
          </a:xfrm>
          <a:prstGeom prst="rect">
            <a:avLst/>
          </a:prstGeom>
          <a:noFill/>
          <a:ln/>
        </p:spPr>
        <p:txBody>
          <a:bodyPr wrap="square" lIns="0" tIns="0" rIns="0" bIns="0" rtlCol="0" anchor="ctr"/>
          <a:lstStyle/>
          <a:p>
            <a:pPr indent="0" marL="0">
              <a:buNone/>
            </a:pPr>
            <a:r>
              <a:rPr lang="en-US" sz="1010" dirty="0">
                <a:solidFill>
                  <a:srgbClr val="334155"/>
                </a:solidFill>
                <a:latin typeface="Aptos" pitchFamily="34" charset="0"/>
                <a:ea typeface="Aptos" pitchFamily="34" charset="-122"/>
                <a:cs typeface="Aptos" pitchFamily="34" charset="-120"/>
              </a:rPr>
              <a:t>Aucun acces SQL hors Prisma.</a:t>
            </a:r>
            <a:endParaRPr lang="en-US" sz="1010" dirty="0"/>
          </a:p>
        </p:txBody>
      </p:sp>
      <p:sp>
        <p:nvSpPr>
          <p:cNvPr id="30" name="Shape 28"/>
          <p:cNvSpPr/>
          <p:nvPr/>
        </p:nvSpPr>
        <p:spPr>
          <a:xfrm>
            <a:off x="4828032" y="3438144"/>
            <a:ext cx="91440" cy="91440"/>
          </a:xfrm>
          <a:prstGeom prst="ellipse">
            <a:avLst/>
          </a:prstGeom>
          <a:solidFill>
            <a:srgbClr val="B7791F"/>
          </a:solidFill>
          <a:ln w="12700">
            <a:solidFill>
              <a:srgbClr val="B7791F"/>
            </a:solidFill>
            <a:prstDash val="solid"/>
          </a:ln>
        </p:spPr>
      </p:sp>
      <p:sp>
        <p:nvSpPr>
          <p:cNvPr id="31" name="Text 29"/>
          <p:cNvSpPr/>
          <p:nvPr/>
        </p:nvSpPr>
        <p:spPr>
          <a:xfrm>
            <a:off x="4992624" y="3383280"/>
            <a:ext cx="2011680" cy="228600"/>
          </a:xfrm>
          <a:prstGeom prst="rect">
            <a:avLst/>
          </a:prstGeom>
          <a:noFill/>
          <a:ln/>
        </p:spPr>
        <p:txBody>
          <a:bodyPr wrap="square" lIns="0" tIns="0" rIns="0" bIns="0" rtlCol="0" anchor="ctr"/>
          <a:lstStyle/>
          <a:p>
            <a:pPr indent="0" marL="0">
              <a:buNone/>
            </a:pPr>
            <a:r>
              <a:rPr lang="en-US" sz="1010" dirty="0">
                <a:solidFill>
                  <a:srgbClr val="334155"/>
                </a:solidFill>
                <a:latin typeface="Aptos" pitchFamily="34" charset="0"/>
                <a:ea typeface="Aptos" pitchFamily="34" charset="-122"/>
                <a:cs typeface="Aptos" pitchFamily="34" charset="-120"/>
              </a:rPr>
              <a:t>Stock IN et Stock OUT passent par le service.</a:t>
            </a:r>
            <a:endParaRPr lang="en-US" sz="1010" dirty="0"/>
          </a:p>
        </p:txBody>
      </p:sp>
      <p:sp>
        <p:nvSpPr>
          <p:cNvPr id="32" name="Shape 30"/>
          <p:cNvSpPr/>
          <p:nvPr/>
        </p:nvSpPr>
        <p:spPr>
          <a:xfrm>
            <a:off x="4828032" y="3931920"/>
            <a:ext cx="91440" cy="91440"/>
          </a:xfrm>
          <a:prstGeom prst="ellipse">
            <a:avLst/>
          </a:prstGeom>
          <a:solidFill>
            <a:srgbClr val="B7791F"/>
          </a:solidFill>
          <a:ln w="12700">
            <a:solidFill>
              <a:srgbClr val="B7791F"/>
            </a:solidFill>
            <a:prstDash val="solid"/>
          </a:ln>
        </p:spPr>
      </p:sp>
      <p:sp>
        <p:nvSpPr>
          <p:cNvPr id="33" name="Text 31"/>
          <p:cNvSpPr/>
          <p:nvPr/>
        </p:nvSpPr>
        <p:spPr>
          <a:xfrm>
            <a:off x="4992624" y="3877056"/>
            <a:ext cx="2011680" cy="228600"/>
          </a:xfrm>
          <a:prstGeom prst="rect">
            <a:avLst/>
          </a:prstGeom>
          <a:noFill/>
          <a:ln/>
        </p:spPr>
        <p:txBody>
          <a:bodyPr wrap="square" lIns="0" tIns="0" rIns="0" bIns="0" rtlCol="0" anchor="ctr"/>
          <a:lstStyle/>
          <a:p>
            <a:pPr indent="0" marL="0">
              <a:buNone/>
            </a:pPr>
            <a:r>
              <a:rPr lang="en-US" sz="1010" dirty="0">
                <a:solidFill>
                  <a:srgbClr val="334155"/>
                </a:solidFill>
                <a:latin typeface="Aptos" pitchFamily="34" charset="0"/>
                <a:ea typeface="Aptos" pitchFamily="34" charset="-122"/>
                <a:cs typeface="Aptos" pitchFamily="34" charset="-120"/>
              </a:rPr>
              <a:t>Chaque mouvement peut alimenter l'alerting.</a:t>
            </a:r>
            <a:endParaRPr lang="en-US" sz="1010" dirty="0"/>
          </a:p>
        </p:txBody>
      </p:sp>
      <p:sp>
        <p:nvSpPr>
          <p:cNvPr id="34" name="Shape 32"/>
          <p:cNvSpPr/>
          <p:nvPr/>
        </p:nvSpPr>
        <p:spPr>
          <a:xfrm>
            <a:off x="4828032" y="4425696"/>
            <a:ext cx="91440" cy="91440"/>
          </a:xfrm>
          <a:prstGeom prst="ellipse">
            <a:avLst/>
          </a:prstGeom>
          <a:solidFill>
            <a:srgbClr val="B7791F"/>
          </a:solidFill>
          <a:ln w="12700">
            <a:solidFill>
              <a:srgbClr val="B7791F"/>
            </a:solidFill>
            <a:prstDash val="solid"/>
          </a:ln>
        </p:spPr>
      </p:sp>
      <p:sp>
        <p:nvSpPr>
          <p:cNvPr id="35" name="Text 33"/>
          <p:cNvSpPr/>
          <p:nvPr/>
        </p:nvSpPr>
        <p:spPr>
          <a:xfrm>
            <a:off x="4992624" y="4370832"/>
            <a:ext cx="2011680" cy="228600"/>
          </a:xfrm>
          <a:prstGeom prst="rect">
            <a:avLst/>
          </a:prstGeom>
          <a:noFill/>
          <a:ln/>
        </p:spPr>
        <p:txBody>
          <a:bodyPr wrap="square" lIns="0" tIns="0" rIns="0" bIns="0" rtlCol="0" anchor="ctr"/>
          <a:lstStyle/>
          <a:p>
            <a:pPr indent="0" marL="0">
              <a:buNone/>
            </a:pPr>
            <a:r>
              <a:rPr lang="en-US" sz="1010" dirty="0">
                <a:solidFill>
                  <a:srgbClr val="334155"/>
                </a:solidFill>
                <a:latin typeface="Aptos" pitchFamily="34" charset="0"/>
                <a:ea typeface="Aptos" pitchFamily="34" charset="-122"/>
                <a:cs typeface="Aptos" pitchFamily="34" charset="-120"/>
              </a:rPr>
              <a:t>Le module reste isole et testable.</a:t>
            </a:r>
            <a:endParaRPr lang="en-US" sz="1010" dirty="0"/>
          </a:p>
        </p:txBody>
      </p:sp>
      <p:sp>
        <p:nvSpPr>
          <p:cNvPr id="36" name="Shape 34"/>
          <p:cNvSpPr/>
          <p:nvPr/>
        </p:nvSpPr>
        <p:spPr>
          <a:xfrm>
            <a:off x="7717536" y="1810512"/>
            <a:ext cx="3959352" cy="3639312"/>
          </a:xfrm>
          <a:prstGeom prst="roundRect">
            <a:avLst>
              <a:gd name="adj" fmla="val 1508"/>
            </a:avLst>
          </a:prstGeom>
          <a:solidFill>
            <a:srgbClr val="172033"/>
          </a:solidFill>
          <a:ln w="12700">
            <a:solidFill>
              <a:srgbClr val="172033"/>
            </a:solidFill>
            <a:prstDash val="solid"/>
          </a:ln>
        </p:spPr>
      </p:sp>
      <p:sp>
        <p:nvSpPr>
          <p:cNvPr id="37" name="Text 35"/>
          <p:cNvSpPr/>
          <p:nvPr/>
        </p:nvSpPr>
        <p:spPr>
          <a:xfrm>
            <a:off x="7991856" y="2029968"/>
            <a:ext cx="1600200" cy="164592"/>
          </a:xfrm>
          <a:prstGeom prst="rect">
            <a:avLst/>
          </a:prstGeom>
          <a:noFill/>
          <a:ln/>
        </p:spPr>
        <p:txBody>
          <a:bodyPr wrap="square" rtlCol="0" anchor="ctr"/>
          <a:lstStyle/>
          <a:p>
            <a:pPr indent="0" marL="0">
              <a:buNone/>
            </a:pPr>
            <a:r>
              <a:rPr lang="en-US" sz="820" b="1" spc="120" kern="0" dirty="0">
                <a:solidFill>
                  <a:srgbClr val="EEE7DA"/>
                </a:solidFill>
                <a:latin typeface="Aptos" pitchFamily="34" charset="0"/>
                <a:ea typeface="Aptos" pitchFamily="34" charset="-122"/>
                <a:cs typeface="Aptos" pitchFamily="34" charset="-120"/>
              </a:rPr>
              <a:t>Pourquoi cela compte</a:t>
            </a:r>
            <a:endParaRPr lang="en-US" sz="820" dirty="0"/>
          </a:p>
        </p:txBody>
      </p:sp>
      <p:sp>
        <p:nvSpPr>
          <p:cNvPr id="38" name="Text 36"/>
          <p:cNvSpPr/>
          <p:nvPr/>
        </p:nvSpPr>
        <p:spPr>
          <a:xfrm>
            <a:off x="7991856" y="2395728"/>
            <a:ext cx="3163824" cy="1280160"/>
          </a:xfrm>
          <a:prstGeom prst="rect">
            <a:avLst/>
          </a:prstGeom>
          <a:noFill/>
          <a:ln/>
        </p:spPr>
        <p:txBody>
          <a:bodyPr wrap="square" lIns="0" tIns="0" rIns="0" bIns="0" rtlCol="0" anchor="ctr"/>
          <a:lstStyle/>
          <a:p>
            <a:pPr indent="0" marL="0">
              <a:buNone/>
            </a:pPr>
            <a:r>
              <a:rPr lang="en-US" sz="1120" dirty="0">
                <a:solidFill>
                  <a:srgbClr val="FFFFFF"/>
                </a:solidFill>
                <a:latin typeface="Aptos" pitchFamily="34" charset="0"/>
                <a:ea typeface="Aptos" pitchFamily="34" charset="-122"/>
                <a:cs typeface="Aptos" pitchFamily="34" charset="-120"/>
              </a:rPr>
              <a:t>Le module inventaire n'est pas un ecran d'administration. Il devient la base de calcul de toute la supervision magasin. Plus ce module est propre, plus les alertes, les rapports et les decisions proprietaire sont fiables.</a:t>
            </a:r>
            <a:endParaRPr lang="en-US" sz="1120" dirty="0"/>
          </a:p>
        </p:txBody>
      </p:sp>
      <p:sp>
        <p:nvSpPr>
          <p:cNvPr id="39" name="Shape 37"/>
          <p:cNvSpPr/>
          <p:nvPr/>
        </p:nvSpPr>
        <p:spPr>
          <a:xfrm>
            <a:off x="7991856" y="4114800"/>
            <a:ext cx="2834640" cy="18288"/>
          </a:xfrm>
          <a:prstGeom prst="rect">
            <a:avLst/>
          </a:prstGeom>
          <a:solidFill>
            <a:srgbClr val="42516A"/>
          </a:solidFill>
          <a:ln w="12700">
            <a:solidFill>
              <a:srgbClr val="42516A"/>
            </a:solidFill>
            <a:prstDash val="solid"/>
          </a:ln>
        </p:spPr>
      </p:sp>
      <p:sp>
        <p:nvSpPr>
          <p:cNvPr id="40" name="Text 38"/>
          <p:cNvSpPr/>
          <p:nvPr/>
        </p:nvSpPr>
        <p:spPr>
          <a:xfrm>
            <a:off x="7991856" y="4334256"/>
            <a:ext cx="3035808" cy="402336"/>
          </a:xfrm>
          <a:prstGeom prst="rect">
            <a:avLst/>
          </a:prstGeom>
          <a:noFill/>
          <a:ln/>
        </p:spPr>
        <p:txBody>
          <a:bodyPr wrap="square" lIns="0" tIns="0" rIns="0" bIns="0" rtlCol="0" anchor="ctr"/>
          <a:lstStyle/>
          <a:p>
            <a:pPr indent="0" marL="0">
              <a:buNone/>
            </a:pPr>
            <a:r>
              <a:rPr lang="en-US" sz="1300" b="1" dirty="0">
                <a:solidFill>
                  <a:srgbClr val="EEE7DA"/>
                </a:solidFill>
                <a:latin typeface="Aptos Display" pitchFamily="34" charset="0"/>
                <a:ea typeface="Aptos Display" pitchFamily="34" charset="-122"/>
                <a:cs typeface="Aptos Display" pitchFamily="34" charset="-120"/>
              </a:rPr>
              <a:t>Principe retenu: un produit = un etat de stock + un contexte de risque.</a:t>
            </a:r>
            <a:endParaRPr lang="en-US" sz="1300" dirty="0"/>
          </a:p>
        </p:txBody>
      </p:sp>
      <p:sp>
        <p:nvSpPr>
          <p:cNvPr id="41" name="Text 39"/>
          <p:cNvSpPr/>
          <p:nvPr/>
        </p:nvSpPr>
        <p:spPr>
          <a:xfrm>
            <a:off x="512064" y="6419088"/>
            <a:ext cx="7772400" cy="164592"/>
          </a:xfrm>
          <a:prstGeom prst="rect">
            <a:avLst/>
          </a:prstGeom>
          <a:noFill/>
          <a:ln/>
        </p:spPr>
        <p:txBody>
          <a:bodyPr wrap="square" lIns="0" tIns="0" rIns="0" bIns="0" rtlCol="0" anchor="ctr"/>
          <a:lstStyle/>
          <a:p>
            <a:pPr indent="0" marL="0">
              <a:buNone/>
            </a:pPr>
            <a:r>
              <a:rPr lang="en-US" sz="800" dirty="0">
                <a:solidFill>
                  <a:srgbClr val="64748B"/>
                </a:solidFill>
                <a:latin typeface="Aptos" pitchFamily="34" charset="0"/>
                <a:ea typeface="Aptos" pitchFamily="34" charset="-122"/>
                <a:cs typeface="Aptos" pitchFamily="34" charset="-120"/>
              </a:rPr>
              <a:t>Le choix des donnees metier explique la qualite du reste de la plateforme.</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5F1E8"/>
          </a:solidFill>
          <a:ln w="12700">
            <a:solidFill>
              <a:srgbClr val="F5F1E8">
                <a:alpha val="0"/>
              </a:srgbClr>
            </a:solidFill>
            <a:prstDash val="solid"/>
          </a:ln>
        </p:spPr>
      </p:sp>
      <p:sp>
        <p:nvSpPr>
          <p:cNvPr id="3" name="Shape 1"/>
          <p:cNvSpPr/>
          <p:nvPr/>
        </p:nvSpPr>
        <p:spPr>
          <a:xfrm>
            <a:off x="384048" y="347472"/>
            <a:ext cx="11420856" cy="18288"/>
          </a:xfrm>
          <a:prstGeom prst="rect">
            <a:avLst/>
          </a:prstGeom>
          <a:solidFill>
            <a:srgbClr val="D8E0EA"/>
          </a:solidFill>
          <a:ln w="12700">
            <a:solidFill>
              <a:srgbClr val="D8E0EA"/>
            </a:solidFill>
            <a:prstDash val="solid"/>
          </a:ln>
        </p:spPr>
      </p:sp>
      <p:sp>
        <p:nvSpPr>
          <p:cNvPr id="4" name="Text 2"/>
          <p:cNvSpPr/>
          <p:nvPr/>
        </p:nvSpPr>
        <p:spPr>
          <a:xfrm>
            <a:off x="512064" y="155448"/>
            <a:ext cx="2926080" cy="164592"/>
          </a:xfrm>
          <a:prstGeom prst="rect">
            <a:avLst/>
          </a:prstGeom>
          <a:noFill/>
          <a:ln/>
        </p:spPr>
        <p:txBody>
          <a:bodyPr wrap="square" rtlCol="0" anchor="ctr"/>
          <a:lstStyle/>
          <a:p>
            <a:pPr indent="0" marL="0">
              <a:buNone/>
            </a:pPr>
            <a:r>
              <a:rPr lang="en-US" sz="800" b="1" spc="160" kern="0" dirty="0">
                <a:solidFill>
                  <a:srgbClr val="1F6B52"/>
                </a:solidFill>
                <a:latin typeface="Aptos" pitchFamily="34" charset="0"/>
                <a:ea typeface="Aptos" pitchFamily="34" charset="-122"/>
                <a:cs typeface="Aptos" pitchFamily="34" charset="-120"/>
              </a:rPr>
              <a:t>MODULE ALERTES</a:t>
            </a:r>
            <a:endParaRPr lang="en-US" sz="800" dirty="0"/>
          </a:p>
        </p:txBody>
      </p:sp>
      <p:sp>
        <p:nvSpPr>
          <p:cNvPr id="5" name="Text 3"/>
          <p:cNvSpPr/>
          <p:nvPr/>
        </p:nvSpPr>
        <p:spPr>
          <a:xfrm>
            <a:off x="11109960" y="6446520"/>
            <a:ext cx="640080" cy="182880"/>
          </a:xfrm>
          <a:prstGeom prst="rect">
            <a:avLst/>
          </a:prstGeom>
          <a:noFill/>
          <a:ln/>
        </p:spPr>
        <p:txBody>
          <a:bodyPr wrap="square" rtlCol="0" anchor="ctr"/>
          <a:lstStyle/>
          <a:p>
            <a:pPr algn="r" indent="0" marL="0">
              <a:buNone/>
            </a:pPr>
            <a:r>
              <a:rPr lang="en-US" sz="800" dirty="0">
                <a:solidFill>
                  <a:srgbClr val="64748B"/>
                </a:solidFill>
                <a:latin typeface="Aptos" pitchFamily="34" charset="0"/>
                <a:ea typeface="Aptos" pitchFamily="34" charset="-122"/>
                <a:cs typeface="Aptos" pitchFamily="34" charset="-120"/>
              </a:rPr>
              <a:t>07 / 12</a:t>
            </a:r>
            <a:endParaRPr lang="en-US" sz="800" dirty="0"/>
          </a:p>
        </p:txBody>
      </p:sp>
      <p:sp>
        <p:nvSpPr>
          <p:cNvPr id="6" name="Text 4"/>
          <p:cNvSpPr/>
          <p:nvPr/>
        </p:nvSpPr>
        <p:spPr>
          <a:xfrm>
            <a:off x="512064" y="530352"/>
            <a:ext cx="7772400" cy="694944"/>
          </a:xfrm>
          <a:prstGeom prst="rect">
            <a:avLst/>
          </a:prstGeom>
          <a:noFill/>
          <a:ln/>
        </p:spPr>
        <p:txBody>
          <a:bodyPr wrap="square" lIns="0" tIns="0" rIns="0" bIns="0" rtlCol="0" anchor="ctr"/>
          <a:lstStyle/>
          <a:p>
            <a:pPr indent="0" marL="0">
              <a:buNone/>
            </a:pPr>
            <a:r>
              <a:rPr lang="en-US" sz="2400" b="1" dirty="0">
                <a:solidFill>
                  <a:srgbClr val="172033"/>
                </a:solidFill>
                <a:latin typeface="Aptos Display" pitchFamily="34" charset="0"/>
                <a:ea typeface="Aptos Display" pitchFamily="34" charset="-122"/>
                <a:cs typeface="Aptos Display" pitchFamily="34" charset="-120"/>
              </a:rPr>
              <a:t>Le moteur d'alertes ne se contente pas de creer des notifications: il maintient un etat propre et sans doublons.</a:t>
            </a:r>
            <a:endParaRPr lang="en-US" sz="2400" dirty="0"/>
          </a:p>
        </p:txBody>
      </p:sp>
      <p:sp>
        <p:nvSpPr>
          <p:cNvPr id="7" name="Text 5"/>
          <p:cNvSpPr/>
          <p:nvPr/>
        </p:nvSpPr>
        <p:spPr>
          <a:xfrm>
            <a:off x="512064" y="1078992"/>
            <a:ext cx="8138160" cy="411480"/>
          </a:xfrm>
          <a:prstGeom prst="rect">
            <a:avLst/>
          </a:prstGeom>
          <a:noFill/>
          <a:ln/>
        </p:spPr>
        <p:txBody>
          <a:bodyPr wrap="square" lIns="0" tIns="0" rIns="0" bIns="0" rtlCol="0" anchor="ctr"/>
          <a:lstStyle/>
          <a:p>
            <a:pPr indent="0" marL="0">
              <a:buNone/>
            </a:pPr>
            <a:r>
              <a:rPr lang="en-US" sz="1050" dirty="0">
                <a:solidFill>
                  <a:srgbClr val="334155"/>
                </a:solidFill>
                <a:latin typeface="Aptos" pitchFamily="34" charset="0"/>
                <a:ea typeface="Aptos" pitchFamily="34" charset="-122"/>
                <a:cs typeface="Aptos" pitchFamily="34" charset="-120"/>
              </a:rPr>
              <a:t>La valeur vient de la reconciliation: creer une alerte quand la condition apparait, la conserver tant qu'elle reste vraie, puis la supprimer quand le risque disparait.</a:t>
            </a:r>
            <a:endParaRPr lang="en-US" sz="1050" dirty="0"/>
          </a:p>
        </p:txBody>
      </p:sp>
      <p:sp>
        <p:nvSpPr>
          <p:cNvPr id="8" name="Shape 6"/>
          <p:cNvSpPr/>
          <p:nvPr/>
        </p:nvSpPr>
        <p:spPr>
          <a:xfrm>
            <a:off x="512064" y="1865376"/>
            <a:ext cx="3456432" cy="3511296"/>
          </a:xfrm>
          <a:prstGeom prst="roundRect">
            <a:avLst>
              <a:gd name="adj" fmla="val 1587"/>
            </a:avLst>
          </a:prstGeom>
          <a:solidFill>
            <a:srgbClr val="FFFFFF"/>
          </a:solidFill>
          <a:ln w="12700">
            <a:solidFill>
              <a:srgbClr val="D8E0EA"/>
            </a:solidFill>
            <a:prstDash val="solid"/>
          </a:ln>
          <a:effectLst>
            <a:outerShdw sx="100000" sy="100000" kx="0" ky="0" algn="bl" rotWithShape="0" blurRad="12700" dist="50800" dir="2700000">
              <a:srgbClr val="BFC8D4">
                <a:alpha val="18000"/>
              </a:srgbClr>
            </a:outerShdw>
          </a:effectLst>
        </p:spPr>
      </p:sp>
      <p:sp>
        <p:nvSpPr>
          <p:cNvPr id="9" name="Shape 7"/>
          <p:cNvSpPr/>
          <p:nvPr/>
        </p:nvSpPr>
        <p:spPr>
          <a:xfrm>
            <a:off x="4370832" y="1865376"/>
            <a:ext cx="3456432" cy="3511296"/>
          </a:xfrm>
          <a:prstGeom prst="roundRect">
            <a:avLst>
              <a:gd name="adj" fmla="val 1587"/>
            </a:avLst>
          </a:prstGeom>
          <a:solidFill>
            <a:srgbClr val="FFFFFF"/>
          </a:solidFill>
          <a:ln w="12700">
            <a:solidFill>
              <a:srgbClr val="D8E0EA"/>
            </a:solidFill>
            <a:prstDash val="solid"/>
          </a:ln>
          <a:effectLst>
            <a:outerShdw sx="100000" sy="100000" kx="0" ky="0" algn="bl" rotWithShape="0" blurRad="12700" dist="50800" dir="2700000">
              <a:srgbClr val="BFC8D4">
                <a:alpha val="18000"/>
              </a:srgbClr>
            </a:outerShdw>
          </a:effectLst>
        </p:spPr>
      </p:sp>
      <p:sp>
        <p:nvSpPr>
          <p:cNvPr id="10" name="Shape 8"/>
          <p:cNvSpPr/>
          <p:nvPr/>
        </p:nvSpPr>
        <p:spPr>
          <a:xfrm>
            <a:off x="8229600" y="1865376"/>
            <a:ext cx="2944368" cy="3511296"/>
          </a:xfrm>
          <a:prstGeom prst="roundRect">
            <a:avLst>
              <a:gd name="adj" fmla="val 1863"/>
            </a:avLst>
          </a:prstGeom>
          <a:solidFill>
            <a:srgbClr val="172033"/>
          </a:solidFill>
          <a:ln w="12700">
            <a:solidFill>
              <a:srgbClr val="172033"/>
            </a:solidFill>
            <a:prstDash val="solid"/>
          </a:ln>
        </p:spPr>
      </p:sp>
      <p:sp>
        <p:nvSpPr>
          <p:cNvPr id="11" name="Text 9"/>
          <p:cNvSpPr/>
          <p:nvPr/>
        </p:nvSpPr>
        <p:spPr>
          <a:xfrm>
            <a:off x="749808" y="2084832"/>
            <a:ext cx="1664208" cy="164592"/>
          </a:xfrm>
          <a:prstGeom prst="rect">
            <a:avLst/>
          </a:prstGeom>
          <a:noFill/>
          <a:ln/>
        </p:spPr>
        <p:txBody>
          <a:bodyPr wrap="square" rtlCol="0" anchor="ctr"/>
          <a:lstStyle/>
          <a:p>
            <a:pPr indent="0" marL="0">
              <a:buNone/>
            </a:pPr>
            <a:r>
              <a:rPr lang="en-US" sz="820" b="1" spc="120" kern="0" dirty="0">
                <a:solidFill>
                  <a:srgbClr val="1F6B52"/>
                </a:solidFill>
                <a:latin typeface="Aptos" pitchFamily="34" charset="0"/>
                <a:ea typeface="Aptos" pitchFamily="34" charset="-122"/>
                <a:cs typeface="Aptos" pitchFamily="34" charset="-120"/>
              </a:rPr>
              <a:t>Deux types surveilles</a:t>
            </a:r>
            <a:endParaRPr lang="en-US" sz="820" dirty="0"/>
          </a:p>
        </p:txBody>
      </p:sp>
      <p:sp>
        <p:nvSpPr>
          <p:cNvPr id="12" name="Shape 10"/>
          <p:cNvSpPr/>
          <p:nvPr/>
        </p:nvSpPr>
        <p:spPr>
          <a:xfrm>
            <a:off x="749808" y="2542032"/>
            <a:ext cx="91440" cy="91440"/>
          </a:xfrm>
          <a:prstGeom prst="ellipse">
            <a:avLst/>
          </a:prstGeom>
          <a:solidFill>
            <a:srgbClr val="1F6B52"/>
          </a:solidFill>
          <a:ln w="12700">
            <a:solidFill>
              <a:srgbClr val="1F6B52"/>
            </a:solidFill>
            <a:prstDash val="solid"/>
          </a:ln>
        </p:spPr>
      </p:sp>
      <p:sp>
        <p:nvSpPr>
          <p:cNvPr id="13" name="Text 11"/>
          <p:cNvSpPr/>
          <p:nvPr/>
        </p:nvSpPr>
        <p:spPr>
          <a:xfrm>
            <a:off x="914400" y="2487168"/>
            <a:ext cx="2651760" cy="228600"/>
          </a:xfrm>
          <a:prstGeom prst="rect">
            <a:avLst/>
          </a:prstGeom>
          <a:noFill/>
          <a:ln/>
        </p:spPr>
        <p:txBody>
          <a:bodyPr wrap="square" lIns="0" tIns="0" rIns="0" bIns="0" rtlCol="0" anchor="ctr"/>
          <a:lstStyle/>
          <a:p>
            <a:pPr indent="0" marL="0">
              <a:buNone/>
            </a:pPr>
            <a:r>
              <a:rPr lang="en-US" sz="1030" dirty="0">
                <a:solidFill>
                  <a:srgbClr val="334155"/>
                </a:solidFill>
                <a:latin typeface="Aptos" pitchFamily="34" charset="0"/>
                <a:ea typeface="Aptos" pitchFamily="34" charset="-122"/>
                <a:cs typeface="Aptos" pitchFamily="34" charset="-120"/>
              </a:rPr>
              <a:t>LOW_STOCK: currentStock &lt;= lowStockThreshold</a:t>
            </a:r>
            <a:endParaRPr lang="en-US" sz="1030" dirty="0"/>
          </a:p>
        </p:txBody>
      </p:sp>
      <p:sp>
        <p:nvSpPr>
          <p:cNvPr id="14" name="Shape 12"/>
          <p:cNvSpPr/>
          <p:nvPr/>
        </p:nvSpPr>
        <p:spPr>
          <a:xfrm>
            <a:off x="749808" y="3072384"/>
            <a:ext cx="91440" cy="91440"/>
          </a:xfrm>
          <a:prstGeom prst="ellipse">
            <a:avLst/>
          </a:prstGeom>
          <a:solidFill>
            <a:srgbClr val="1F6B52"/>
          </a:solidFill>
          <a:ln w="12700">
            <a:solidFill>
              <a:srgbClr val="1F6B52"/>
            </a:solidFill>
            <a:prstDash val="solid"/>
          </a:ln>
        </p:spPr>
      </p:sp>
      <p:sp>
        <p:nvSpPr>
          <p:cNvPr id="15" name="Text 13"/>
          <p:cNvSpPr/>
          <p:nvPr/>
        </p:nvSpPr>
        <p:spPr>
          <a:xfrm>
            <a:off x="914400" y="3017520"/>
            <a:ext cx="2651760" cy="228600"/>
          </a:xfrm>
          <a:prstGeom prst="rect">
            <a:avLst/>
          </a:prstGeom>
          <a:noFill/>
          <a:ln/>
        </p:spPr>
        <p:txBody>
          <a:bodyPr wrap="square" lIns="0" tIns="0" rIns="0" bIns="0" rtlCol="0" anchor="ctr"/>
          <a:lstStyle/>
          <a:p>
            <a:pPr indent="0" marL="0">
              <a:buNone/>
            </a:pPr>
            <a:r>
              <a:rPr lang="en-US" sz="1030" dirty="0">
                <a:solidFill>
                  <a:srgbClr val="334155"/>
                </a:solidFill>
                <a:latin typeface="Aptos" pitchFamily="34" charset="0"/>
                <a:ea typeface="Aptos" pitchFamily="34" charset="-122"/>
                <a:cs typeface="Aptos" pitchFamily="34" charset="-120"/>
              </a:rPr>
              <a:t>EXPIRY: date de peremption proche</a:t>
            </a:r>
            <a:endParaRPr lang="en-US" sz="1030" dirty="0"/>
          </a:p>
        </p:txBody>
      </p:sp>
      <p:sp>
        <p:nvSpPr>
          <p:cNvPr id="16" name="Shape 14"/>
          <p:cNvSpPr/>
          <p:nvPr/>
        </p:nvSpPr>
        <p:spPr>
          <a:xfrm>
            <a:off x="749808" y="3602736"/>
            <a:ext cx="91440" cy="91440"/>
          </a:xfrm>
          <a:prstGeom prst="ellipse">
            <a:avLst/>
          </a:prstGeom>
          <a:solidFill>
            <a:srgbClr val="1F6B52"/>
          </a:solidFill>
          <a:ln w="12700">
            <a:solidFill>
              <a:srgbClr val="1F6B52"/>
            </a:solidFill>
            <a:prstDash val="solid"/>
          </a:ln>
        </p:spPr>
      </p:sp>
      <p:sp>
        <p:nvSpPr>
          <p:cNvPr id="17" name="Text 15"/>
          <p:cNvSpPr/>
          <p:nvPr/>
        </p:nvSpPr>
        <p:spPr>
          <a:xfrm>
            <a:off x="914400" y="3547872"/>
            <a:ext cx="2651760" cy="228600"/>
          </a:xfrm>
          <a:prstGeom prst="rect">
            <a:avLst/>
          </a:prstGeom>
          <a:noFill/>
          <a:ln/>
        </p:spPr>
        <p:txBody>
          <a:bodyPr wrap="square" lIns="0" tIns="0" rIns="0" bIns="0" rtlCol="0" anchor="ctr"/>
          <a:lstStyle/>
          <a:p>
            <a:pPr indent="0" marL="0">
              <a:buNone/>
            </a:pPr>
            <a:r>
              <a:rPr lang="en-US" sz="1030" dirty="0">
                <a:solidFill>
                  <a:srgbClr val="334155"/>
                </a:solidFill>
                <a:latin typeface="Aptos" pitchFamily="34" charset="0"/>
                <a:ea typeface="Aptos" pitchFamily="34" charset="-122"/>
                <a:cs typeface="Aptos" pitchFamily="34" charset="-120"/>
              </a:rPr>
              <a:t>Fenetre de 5 jours pour les produits a risque</a:t>
            </a:r>
            <a:endParaRPr lang="en-US" sz="1030" dirty="0"/>
          </a:p>
        </p:txBody>
      </p:sp>
      <p:sp>
        <p:nvSpPr>
          <p:cNvPr id="18" name="Text 16"/>
          <p:cNvSpPr/>
          <p:nvPr/>
        </p:nvSpPr>
        <p:spPr>
          <a:xfrm>
            <a:off x="4608576" y="2084832"/>
            <a:ext cx="1828800" cy="164592"/>
          </a:xfrm>
          <a:prstGeom prst="rect">
            <a:avLst/>
          </a:prstGeom>
          <a:noFill/>
          <a:ln/>
        </p:spPr>
        <p:txBody>
          <a:bodyPr wrap="square" rtlCol="0" anchor="ctr"/>
          <a:lstStyle/>
          <a:p>
            <a:pPr indent="0" marL="0">
              <a:buNone/>
            </a:pPr>
            <a:r>
              <a:rPr lang="en-US" sz="820" b="1" spc="120" kern="0" dirty="0">
                <a:solidFill>
                  <a:srgbClr val="B7791F"/>
                </a:solidFill>
                <a:latin typeface="Aptos" pitchFamily="34" charset="0"/>
                <a:ea typeface="Aptos" pitchFamily="34" charset="-122"/>
                <a:cs typeface="Aptos" pitchFamily="34" charset="-120"/>
              </a:rPr>
              <a:t>Logique de reconciliation</a:t>
            </a:r>
            <a:endParaRPr lang="en-US" sz="820" dirty="0"/>
          </a:p>
        </p:txBody>
      </p:sp>
      <p:sp>
        <p:nvSpPr>
          <p:cNvPr id="19" name="Shape 17"/>
          <p:cNvSpPr/>
          <p:nvPr/>
        </p:nvSpPr>
        <p:spPr>
          <a:xfrm>
            <a:off x="4608576" y="2542032"/>
            <a:ext cx="91440" cy="91440"/>
          </a:xfrm>
          <a:prstGeom prst="ellipse">
            <a:avLst/>
          </a:prstGeom>
          <a:solidFill>
            <a:srgbClr val="B7791F"/>
          </a:solidFill>
          <a:ln w="12700">
            <a:solidFill>
              <a:srgbClr val="B7791F"/>
            </a:solidFill>
            <a:prstDash val="solid"/>
          </a:ln>
        </p:spPr>
      </p:sp>
      <p:sp>
        <p:nvSpPr>
          <p:cNvPr id="20" name="Text 18"/>
          <p:cNvSpPr/>
          <p:nvPr/>
        </p:nvSpPr>
        <p:spPr>
          <a:xfrm>
            <a:off x="4773168" y="2487168"/>
            <a:ext cx="2578608" cy="228600"/>
          </a:xfrm>
          <a:prstGeom prst="rect">
            <a:avLst/>
          </a:prstGeom>
          <a:noFill/>
          <a:ln/>
        </p:spPr>
        <p:txBody>
          <a:bodyPr wrap="square" lIns="0" tIns="0" rIns="0" bIns="0" rtlCol="0" anchor="ctr"/>
          <a:lstStyle/>
          <a:p>
            <a:pPr indent="0" marL="0">
              <a:buNone/>
            </a:pPr>
            <a:r>
              <a:rPr lang="en-US" sz="1010" dirty="0">
                <a:solidFill>
                  <a:srgbClr val="334155"/>
                </a:solidFill>
                <a:latin typeface="Aptos" pitchFamily="34" charset="0"/>
                <a:ea typeface="Aptos" pitchFamily="34" charset="-122"/>
                <a:cs typeface="Aptos" pitchFamily="34" charset="-120"/>
              </a:rPr>
              <a:t>Condition vraie + pas d alerte -&gt; creation</a:t>
            </a:r>
            <a:endParaRPr lang="en-US" sz="1010" dirty="0"/>
          </a:p>
        </p:txBody>
      </p:sp>
      <p:sp>
        <p:nvSpPr>
          <p:cNvPr id="21" name="Shape 19"/>
          <p:cNvSpPr/>
          <p:nvPr/>
        </p:nvSpPr>
        <p:spPr>
          <a:xfrm>
            <a:off x="4608576" y="2999232"/>
            <a:ext cx="91440" cy="91440"/>
          </a:xfrm>
          <a:prstGeom prst="ellipse">
            <a:avLst/>
          </a:prstGeom>
          <a:solidFill>
            <a:srgbClr val="B7791F"/>
          </a:solidFill>
          <a:ln w="12700">
            <a:solidFill>
              <a:srgbClr val="B7791F"/>
            </a:solidFill>
            <a:prstDash val="solid"/>
          </a:ln>
        </p:spPr>
      </p:sp>
      <p:sp>
        <p:nvSpPr>
          <p:cNvPr id="22" name="Text 20"/>
          <p:cNvSpPr/>
          <p:nvPr/>
        </p:nvSpPr>
        <p:spPr>
          <a:xfrm>
            <a:off x="4773168" y="2944368"/>
            <a:ext cx="2578608" cy="228600"/>
          </a:xfrm>
          <a:prstGeom prst="rect">
            <a:avLst/>
          </a:prstGeom>
          <a:noFill/>
          <a:ln/>
        </p:spPr>
        <p:txBody>
          <a:bodyPr wrap="square" lIns="0" tIns="0" rIns="0" bIns="0" rtlCol="0" anchor="ctr"/>
          <a:lstStyle/>
          <a:p>
            <a:pPr indent="0" marL="0">
              <a:buNone/>
            </a:pPr>
            <a:r>
              <a:rPr lang="en-US" sz="1010" dirty="0">
                <a:solidFill>
                  <a:srgbClr val="334155"/>
                </a:solidFill>
                <a:latin typeface="Aptos" pitchFamily="34" charset="0"/>
                <a:ea typeface="Aptos" pitchFamily="34" charset="-122"/>
                <a:cs typeface="Aptos" pitchFamily="34" charset="-120"/>
              </a:rPr>
              <a:t>Condition vraie + alerte existante -&gt; conservation</a:t>
            </a:r>
            <a:endParaRPr lang="en-US" sz="1010" dirty="0"/>
          </a:p>
        </p:txBody>
      </p:sp>
      <p:sp>
        <p:nvSpPr>
          <p:cNvPr id="23" name="Shape 21"/>
          <p:cNvSpPr/>
          <p:nvPr/>
        </p:nvSpPr>
        <p:spPr>
          <a:xfrm>
            <a:off x="4608576" y="3456432"/>
            <a:ext cx="91440" cy="91440"/>
          </a:xfrm>
          <a:prstGeom prst="ellipse">
            <a:avLst/>
          </a:prstGeom>
          <a:solidFill>
            <a:srgbClr val="B7791F"/>
          </a:solidFill>
          <a:ln w="12700">
            <a:solidFill>
              <a:srgbClr val="B7791F"/>
            </a:solidFill>
            <a:prstDash val="solid"/>
          </a:ln>
        </p:spPr>
      </p:sp>
      <p:sp>
        <p:nvSpPr>
          <p:cNvPr id="24" name="Text 22"/>
          <p:cNvSpPr/>
          <p:nvPr/>
        </p:nvSpPr>
        <p:spPr>
          <a:xfrm>
            <a:off x="4773168" y="3401568"/>
            <a:ext cx="2578608" cy="228600"/>
          </a:xfrm>
          <a:prstGeom prst="rect">
            <a:avLst/>
          </a:prstGeom>
          <a:noFill/>
          <a:ln/>
        </p:spPr>
        <p:txBody>
          <a:bodyPr wrap="square" lIns="0" tIns="0" rIns="0" bIns="0" rtlCol="0" anchor="ctr"/>
          <a:lstStyle/>
          <a:p>
            <a:pPr indent="0" marL="0">
              <a:buNone/>
            </a:pPr>
            <a:r>
              <a:rPr lang="en-US" sz="1010" dirty="0">
                <a:solidFill>
                  <a:srgbClr val="334155"/>
                </a:solidFill>
                <a:latin typeface="Aptos" pitchFamily="34" charset="0"/>
                <a:ea typeface="Aptos" pitchFamily="34" charset="-122"/>
                <a:cs typeface="Aptos" pitchFamily="34" charset="-120"/>
              </a:rPr>
              <a:t>Condition fausse + alerte existante -&gt; suppression</a:t>
            </a:r>
            <a:endParaRPr lang="en-US" sz="1010" dirty="0"/>
          </a:p>
        </p:txBody>
      </p:sp>
      <p:sp>
        <p:nvSpPr>
          <p:cNvPr id="25" name="Shape 23"/>
          <p:cNvSpPr/>
          <p:nvPr/>
        </p:nvSpPr>
        <p:spPr>
          <a:xfrm>
            <a:off x="4608576" y="3913632"/>
            <a:ext cx="91440" cy="91440"/>
          </a:xfrm>
          <a:prstGeom prst="ellipse">
            <a:avLst/>
          </a:prstGeom>
          <a:solidFill>
            <a:srgbClr val="B7791F"/>
          </a:solidFill>
          <a:ln w="12700">
            <a:solidFill>
              <a:srgbClr val="B7791F"/>
            </a:solidFill>
            <a:prstDash val="solid"/>
          </a:ln>
        </p:spPr>
      </p:sp>
      <p:sp>
        <p:nvSpPr>
          <p:cNvPr id="26" name="Text 24"/>
          <p:cNvSpPr/>
          <p:nvPr/>
        </p:nvSpPr>
        <p:spPr>
          <a:xfrm>
            <a:off x="4773168" y="3858768"/>
            <a:ext cx="2578608" cy="228600"/>
          </a:xfrm>
          <a:prstGeom prst="rect">
            <a:avLst/>
          </a:prstGeom>
          <a:noFill/>
          <a:ln/>
        </p:spPr>
        <p:txBody>
          <a:bodyPr wrap="square" lIns="0" tIns="0" rIns="0" bIns="0" rtlCol="0" anchor="ctr"/>
          <a:lstStyle/>
          <a:p>
            <a:pPr indent="0" marL="0">
              <a:buNone/>
            </a:pPr>
            <a:r>
              <a:rPr lang="en-US" sz="1010" dirty="0">
                <a:solidFill>
                  <a:srgbClr val="334155"/>
                </a:solidFill>
                <a:latin typeface="Aptos" pitchFamily="34" charset="0"/>
                <a:ea typeface="Aptos" pitchFamily="34" charset="-122"/>
                <a:cs typeface="Aptos" pitchFamily="34" charset="-120"/>
              </a:rPr>
              <a:t>Resultat: aucune alerte fantome ou en double</a:t>
            </a:r>
            <a:endParaRPr lang="en-US" sz="1010" dirty="0"/>
          </a:p>
        </p:txBody>
      </p:sp>
      <p:sp>
        <p:nvSpPr>
          <p:cNvPr id="27" name="Text 25"/>
          <p:cNvSpPr/>
          <p:nvPr/>
        </p:nvSpPr>
        <p:spPr>
          <a:xfrm>
            <a:off x="8503920" y="2103120"/>
            <a:ext cx="1371600" cy="164592"/>
          </a:xfrm>
          <a:prstGeom prst="rect">
            <a:avLst/>
          </a:prstGeom>
          <a:noFill/>
          <a:ln/>
        </p:spPr>
        <p:txBody>
          <a:bodyPr wrap="square" rtlCol="0" anchor="ctr"/>
          <a:lstStyle/>
          <a:p>
            <a:pPr indent="0" marL="0">
              <a:buNone/>
            </a:pPr>
            <a:r>
              <a:rPr lang="en-US" sz="820" b="1" spc="120" kern="0" dirty="0">
                <a:solidFill>
                  <a:srgbClr val="EEE7DA"/>
                </a:solidFill>
                <a:latin typeface="Aptos" pitchFamily="34" charset="0"/>
                <a:ea typeface="Aptos" pitchFamily="34" charset="-122"/>
                <a:cs typeface="Aptos" pitchFamily="34" charset="-120"/>
              </a:rPr>
              <a:t>Impact produit</a:t>
            </a:r>
            <a:endParaRPr lang="en-US" sz="820" dirty="0"/>
          </a:p>
        </p:txBody>
      </p:sp>
      <p:sp>
        <p:nvSpPr>
          <p:cNvPr id="28" name="Text 26"/>
          <p:cNvSpPr/>
          <p:nvPr/>
        </p:nvSpPr>
        <p:spPr>
          <a:xfrm>
            <a:off x="8503920" y="2487168"/>
            <a:ext cx="2103120" cy="786384"/>
          </a:xfrm>
          <a:prstGeom prst="rect">
            <a:avLst/>
          </a:prstGeom>
          <a:noFill/>
          <a:ln/>
        </p:spPr>
        <p:txBody>
          <a:bodyPr wrap="square" lIns="0" tIns="0" rIns="0" bIns="0" rtlCol="0" anchor="ctr"/>
          <a:lstStyle/>
          <a:p>
            <a:pPr indent="0" marL="0">
              <a:buNone/>
            </a:pPr>
            <a:r>
              <a:rPr lang="en-US" sz="1100" dirty="0">
                <a:solidFill>
                  <a:srgbClr val="FFFFFF"/>
                </a:solidFill>
                <a:latin typeface="Aptos" pitchFamily="34" charset="0"/>
                <a:ea typeface="Aptos" pitchFamily="34" charset="-122"/>
                <a:cs typeface="Aptos" pitchFamily="34" charset="-120"/>
              </a:rPr>
              <a:t>Le proprietaire voit uniquement les alertes utiles. Le signal reste credible, donc il est consulte et traite.</a:t>
            </a:r>
            <a:endParaRPr lang="en-US" sz="1100" dirty="0"/>
          </a:p>
        </p:txBody>
      </p:sp>
      <p:sp>
        <p:nvSpPr>
          <p:cNvPr id="29" name="Shape 27"/>
          <p:cNvSpPr/>
          <p:nvPr/>
        </p:nvSpPr>
        <p:spPr>
          <a:xfrm>
            <a:off x="8503920" y="3602736"/>
            <a:ext cx="2057400" cy="18288"/>
          </a:xfrm>
          <a:prstGeom prst="rect">
            <a:avLst/>
          </a:prstGeom>
          <a:solidFill>
            <a:srgbClr val="42516A"/>
          </a:solidFill>
          <a:ln w="12700">
            <a:solidFill>
              <a:srgbClr val="42516A"/>
            </a:solidFill>
            <a:prstDash val="solid"/>
          </a:ln>
        </p:spPr>
      </p:sp>
      <p:sp>
        <p:nvSpPr>
          <p:cNvPr id="30" name="Text 28"/>
          <p:cNvSpPr/>
          <p:nvPr/>
        </p:nvSpPr>
        <p:spPr>
          <a:xfrm>
            <a:off x="8503920" y="3803904"/>
            <a:ext cx="2240280" cy="420624"/>
          </a:xfrm>
          <a:prstGeom prst="rect">
            <a:avLst/>
          </a:prstGeom>
          <a:noFill/>
          <a:ln/>
        </p:spPr>
        <p:txBody>
          <a:bodyPr wrap="square" lIns="0" tIns="0" rIns="0" bIns="0" rtlCol="0" anchor="ctr"/>
          <a:lstStyle/>
          <a:p>
            <a:pPr indent="0" marL="0">
              <a:buNone/>
            </a:pPr>
            <a:r>
              <a:rPr lang="en-US" sz="1300" b="1" dirty="0">
                <a:solidFill>
                  <a:srgbClr val="EEE7DA"/>
                </a:solidFill>
                <a:latin typeface="Aptos Display" pitchFamily="34" charset="0"/>
                <a:ea typeface="Aptos Display" pitchFamily="34" charset="-122"/>
                <a:cs typeface="Aptos Display" pitchFamily="34" charset="-120"/>
              </a:rPr>
              <a:t>Une bonne alerte est rare, precise et actionnable.</a:t>
            </a:r>
            <a:endParaRPr lang="en-US" sz="1300" dirty="0"/>
          </a:p>
        </p:txBody>
      </p:sp>
      <p:sp>
        <p:nvSpPr>
          <p:cNvPr id="31" name="Text 29"/>
          <p:cNvSpPr/>
          <p:nvPr/>
        </p:nvSpPr>
        <p:spPr>
          <a:xfrm>
            <a:off x="512064" y="6419088"/>
            <a:ext cx="7772400" cy="164592"/>
          </a:xfrm>
          <a:prstGeom prst="rect">
            <a:avLst/>
          </a:prstGeom>
          <a:noFill/>
          <a:ln/>
        </p:spPr>
        <p:txBody>
          <a:bodyPr wrap="square" lIns="0" tIns="0" rIns="0" bIns="0" rtlCol="0" anchor="ctr"/>
          <a:lstStyle/>
          <a:p>
            <a:pPr indent="0" marL="0">
              <a:buNone/>
            </a:pPr>
            <a:r>
              <a:rPr lang="en-US" sz="800" dirty="0">
                <a:solidFill>
                  <a:srgbClr val="64748B"/>
                </a:solidFill>
                <a:latin typeface="Aptos" pitchFamily="34" charset="0"/>
                <a:ea typeface="Aptos" pitchFamily="34" charset="-122"/>
                <a:cs typeface="Aptos" pitchFamily="34" charset="-120"/>
              </a:rPr>
              <a:t>Le moteur d'alertes est un module metier, pas un simple service d'envoi.</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5F1E8"/>
          </a:solidFill>
          <a:ln w="12700">
            <a:solidFill>
              <a:srgbClr val="F5F1E8">
                <a:alpha val="0"/>
              </a:srgbClr>
            </a:solidFill>
            <a:prstDash val="solid"/>
          </a:ln>
        </p:spPr>
      </p:sp>
      <p:sp>
        <p:nvSpPr>
          <p:cNvPr id="3" name="Shape 1"/>
          <p:cNvSpPr/>
          <p:nvPr/>
        </p:nvSpPr>
        <p:spPr>
          <a:xfrm>
            <a:off x="384048" y="347472"/>
            <a:ext cx="11420856" cy="18288"/>
          </a:xfrm>
          <a:prstGeom prst="rect">
            <a:avLst/>
          </a:prstGeom>
          <a:solidFill>
            <a:srgbClr val="D8E0EA"/>
          </a:solidFill>
          <a:ln w="12700">
            <a:solidFill>
              <a:srgbClr val="D8E0EA"/>
            </a:solidFill>
            <a:prstDash val="solid"/>
          </a:ln>
        </p:spPr>
      </p:sp>
      <p:sp>
        <p:nvSpPr>
          <p:cNvPr id="4" name="Text 2"/>
          <p:cNvSpPr/>
          <p:nvPr/>
        </p:nvSpPr>
        <p:spPr>
          <a:xfrm>
            <a:off x="512064" y="155448"/>
            <a:ext cx="2926080" cy="164592"/>
          </a:xfrm>
          <a:prstGeom prst="rect">
            <a:avLst/>
          </a:prstGeom>
          <a:noFill/>
          <a:ln/>
        </p:spPr>
        <p:txBody>
          <a:bodyPr wrap="square" rtlCol="0" anchor="ctr"/>
          <a:lstStyle/>
          <a:p>
            <a:pPr indent="0" marL="0">
              <a:buNone/>
            </a:pPr>
            <a:r>
              <a:rPr lang="en-US" sz="800" b="1" spc="160" kern="0" dirty="0">
                <a:solidFill>
                  <a:srgbClr val="1F6B52"/>
                </a:solidFill>
                <a:latin typeface="Aptos" pitchFamily="34" charset="0"/>
                <a:ea typeface="Aptos" pitchFamily="34" charset="-122"/>
                <a:cs typeface="Aptos" pitchFamily="34" charset="-120"/>
              </a:rPr>
              <a:t>EXPERIENCE UTILISATEUR</a:t>
            </a:r>
            <a:endParaRPr lang="en-US" sz="800" dirty="0"/>
          </a:p>
        </p:txBody>
      </p:sp>
      <p:sp>
        <p:nvSpPr>
          <p:cNvPr id="5" name="Text 3"/>
          <p:cNvSpPr/>
          <p:nvPr/>
        </p:nvSpPr>
        <p:spPr>
          <a:xfrm>
            <a:off x="11109960" y="6446520"/>
            <a:ext cx="640080" cy="182880"/>
          </a:xfrm>
          <a:prstGeom prst="rect">
            <a:avLst/>
          </a:prstGeom>
          <a:noFill/>
          <a:ln/>
        </p:spPr>
        <p:txBody>
          <a:bodyPr wrap="square" rtlCol="0" anchor="ctr"/>
          <a:lstStyle/>
          <a:p>
            <a:pPr algn="r" indent="0" marL="0">
              <a:buNone/>
            </a:pPr>
            <a:r>
              <a:rPr lang="en-US" sz="800" dirty="0">
                <a:solidFill>
                  <a:srgbClr val="64748B"/>
                </a:solidFill>
                <a:latin typeface="Aptos" pitchFamily="34" charset="0"/>
                <a:ea typeface="Aptos" pitchFamily="34" charset="-122"/>
                <a:cs typeface="Aptos" pitchFamily="34" charset="-120"/>
              </a:rPr>
              <a:t>08 / 12</a:t>
            </a:r>
            <a:endParaRPr lang="en-US" sz="800" dirty="0"/>
          </a:p>
        </p:txBody>
      </p:sp>
      <p:sp>
        <p:nvSpPr>
          <p:cNvPr id="6" name="Text 4"/>
          <p:cNvSpPr/>
          <p:nvPr/>
        </p:nvSpPr>
        <p:spPr>
          <a:xfrm>
            <a:off x="512064" y="530352"/>
            <a:ext cx="7772400" cy="694944"/>
          </a:xfrm>
          <a:prstGeom prst="rect">
            <a:avLst/>
          </a:prstGeom>
          <a:noFill/>
          <a:ln/>
        </p:spPr>
        <p:txBody>
          <a:bodyPr wrap="square" lIns="0" tIns="0" rIns="0" bIns="0" rtlCol="0" anchor="ctr"/>
          <a:lstStyle/>
          <a:p>
            <a:pPr indent="0" marL="0">
              <a:buNone/>
            </a:pPr>
            <a:r>
              <a:rPr lang="en-US" sz="2400" b="1" dirty="0">
                <a:solidFill>
                  <a:srgbClr val="172033"/>
                </a:solidFill>
                <a:latin typeface="Aptos Display" pitchFamily="34" charset="0"/>
                <a:ea typeface="Aptos Display" pitchFamily="34" charset="-122"/>
                <a:cs typeface="Aptos Display" pitchFamily="34" charset="-120"/>
              </a:rPr>
              <a:t>L'experience proprietaire est concise: voir l'alerte, ouvrir le produit, corriger le stock, fermer le risque.</a:t>
            </a:r>
            <a:endParaRPr lang="en-US" sz="2400" dirty="0"/>
          </a:p>
        </p:txBody>
      </p:sp>
      <p:sp>
        <p:nvSpPr>
          <p:cNvPr id="7" name="Text 5"/>
          <p:cNvSpPr/>
          <p:nvPr/>
        </p:nvSpPr>
        <p:spPr>
          <a:xfrm>
            <a:off x="512064" y="1078992"/>
            <a:ext cx="8138160" cy="411480"/>
          </a:xfrm>
          <a:prstGeom prst="rect">
            <a:avLst/>
          </a:prstGeom>
          <a:noFill/>
          <a:ln/>
        </p:spPr>
        <p:txBody>
          <a:bodyPr wrap="square" lIns="0" tIns="0" rIns="0" bIns="0" rtlCol="0" anchor="ctr"/>
          <a:lstStyle/>
          <a:p>
            <a:pPr indent="0" marL="0">
              <a:buNone/>
            </a:pPr>
            <a:r>
              <a:rPr lang="en-US" sz="1050" dirty="0">
                <a:solidFill>
                  <a:srgbClr val="334155"/>
                </a:solidFill>
                <a:latin typeface="Aptos" pitchFamily="34" charset="0"/>
                <a:ea typeface="Aptos" pitchFamily="34" charset="-122"/>
                <a:cs typeface="Aptos" pitchFamily="34" charset="-120"/>
              </a:rPr>
              <a:t>Le parcours evite les ecrans inutiles et relie directement le signal, le contexte et l'action de correction.</a:t>
            </a:r>
            <a:endParaRPr lang="en-US" sz="1050" dirty="0"/>
          </a:p>
        </p:txBody>
      </p:sp>
      <p:sp>
        <p:nvSpPr>
          <p:cNvPr id="8" name="Shape 6"/>
          <p:cNvSpPr/>
          <p:nvPr/>
        </p:nvSpPr>
        <p:spPr>
          <a:xfrm>
            <a:off x="676656" y="1819656"/>
            <a:ext cx="310896" cy="310896"/>
          </a:xfrm>
          <a:prstGeom prst="ellipse">
            <a:avLst/>
          </a:prstGeom>
          <a:solidFill>
            <a:srgbClr val="172033"/>
          </a:solidFill>
          <a:ln w="12700">
            <a:solidFill>
              <a:srgbClr val="172033"/>
            </a:solidFill>
            <a:prstDash val="solid"/>
          </a:ln>
        </p:spPr>
      </p:sp>
      <p:sp>
        <p:nvSpPr>
          <p:cNvPr id="9" name="Text 7"/>
          <p:cNvSpPr/>
          <p:nvPr/>
        </p:nvSpPr>
        <p:spPr>
          <a:xfrm>
            <a:off x="676656" y="1865376"/>
            <a:ext cx="310896"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1</a:t>
            </a:r>
            <a:endParaRPr lang="en-US" sz="900" dirty="0"/>
          </a:p>
        </p:txBody>
      </p:sp>
      <p:sp>
        <p:nvSpPr>
          <p:cNvPr id="10" name="Shape 8"/>
          <p:cNvSpPr/>
          <p:nvPr/>
        </p:nvSpPr>
        <p:spPr>
          <a:xfrm>
            <a:off x="1170432" y="1792224"/>
            <a:ext cx="5897880" cy="512064"/>
          </a:xfrm>
          <a:prstGeom prst="roundRect">
            <a:avLst>
              <a:gd name="adj" fmla="val 10714"/>
            </a:avLst>
          </a:prstGeom>
          <a:solidFill>
            <a:srgbClr val="FFFFFF"/>
          </a:solidFill>
          <a:ln w="12700">
            <a:solidFill>
              <a:srgbClr val="D8E0EA"/>
            </a:solidFill>
            <a:prstDash val="solid"/>
          </a:ln>
        </p:spPr>
      </p:sp>
      <p:sp>
        <p:nvSpPr>
          <p:cNvPr id="11" name="Text 9"/>
          <p:cNvSpPr/>
          <p:nvPr/>
        </p:nvSpPr>
        <p:spPr>
          <a:xfrm>
            <a:off x="1408176" y="1901952"/>
            <a:ext cx="1682496" cy="164592"/>
          </a:xfrm>
          <a:prstGeom prst="rect">
            <a:avLst/>
          </a:prstGeom>
          <a:noFill/>
          <a:ln/>
        </p:spPr>
        <p:txBody>
          <a:bodyPr wrap="square" lIns="0" tIns="0" rIns="0" bIns="0" rtlCol="0" anchor="ctr"/>
          <a:lstStyle/>
          <a:p>
            <a:pPr indent="0" marL="0">
              <a:buNone/>
            </a:pPr>
            <a:r>
              <a:rPr lang="en-US" sz="1260" b="1" dirty="0">
                <a:solidFill>
                  <a:srgbClr val="172033"/>
                </a:solidFill>
                <a:latin typeface="Aptos Display" pitchFamily="34" charset="0"/>
                <a:ea typeface="Aptos Display" pitchFamily="34" charset="-122"/>
                <a:cs typeface="Aptos Display" pitchFamily="34" charset="-120"/>
              </a:rPr>
              <a:t>Badge rouge</a:t>
            </a:r>
            <a:endParaRPr lang="en-US" sz="1260" dirty="0"/>
          </a:p>
        </p:txBody>
      </p:sp>
      <p:sp>
        <p:nvSpPr>
          <p:cNvPr id="12" name="Text 10"/>
          <p:cNvSpPr/>
          <p:nvPr/>
        </p:nvSpPr>
        <p:spPr>
          <a:xfrm>
            <a:off x="3273552" y="1901952"/>
            <a:ext cx="3401568" cy="164592"/>
          </a:xfrm>
          <a:prstGeom prst="rect">
            <a:avLst/>
          </a:prstGeom>
          <a:noFill/>
          <a:ln/>
        </p:spPr>
        <p:txBody>
          <a:bodyPr wrap="square" lIns="0" tIns="0" rIns="0" bIns="0" rtlCol="0" anchor="ctr"/>
          <a:lstStyle/>
          <a:p>
            <a:pPr indent="0" marL="0">
              <a:buNone/>
            </a:pPr>
            <a:r>
              <a:rPr lang="en-US" sz="970" dirty="0">
                <a:solidFill>
                  <a:srgbClr val="334155"/>
                </a:solidFill>
                <a:latin typeface="Aptos" pitchFamily="34" charset="0"/>
                <a:ea typeface="Aptos" pitchFamily="34" charset="-122"/>
                <a:cs typeface="Aptos" pitchFamily="34" charset="-120"/>
              </a:rPr>
              <a:t>Le compteur non lu est visible depuis la navigation.</a:t>
            </a:r>
            <a:endParaRPr lang="en-US" sz="970" dirty="0"/>
          </a:p>
        </p:txBody>
      </p:sp>
      <p:sp>
        <p:nvSpPr>
          <p:cNvPr id="13" name="Shape 11"/>
          <p:cNvSpPr/>
          <p:nvPr/>
        </p:nvSpPr>
        <p:spPr>
          <a:xfrm>
            <a:off x="676656" y="2642616"/>
            <a:ext cx="310896" cy="310896"/>
          </a:xfrm>
          <a:prstGeom prst="ellipse">
            <a:avLst/>
          </a:prstGeom>
          <a:solidFill>
            <a:srgbClr val="172033"/>
          </a:solidFill>
          <a:ln w="12700">
            <a:solidFill>
              <a:srgbClr val="172033"/>
            </a:solidFill>
            <a:prstDash val="solid"/>
          </a:ln>
        </p:spPr>
      </p:sp>
      <p:sp>
        <p:nvSpPr>
          <p:cNvPr id="14" name="Text 12"/>
          <p:cNvSpPr/>
          <p:nvPr/>
        </p:nvSpPr>
        <p:spPr>
          <a:xfrm>
            <a:off x="676656" y="2688336"/>
            <a:ext cx="310896"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2</a:t>
            </a:r>
            <a:endParaRPr lang="en-US" sz="900" dirty="0"/>
          </a:p>
        </p:txBody>
      </p:sp>
      <p:sp>
        <p:nvSpPr>
          <p:cNvPr id="15" name="Shape 13"/>
          <p:cNvSpPr/>
          <p:nvPr/>
        </p:nvSpPr>
        <p:spPr>
          <a:xfrm>
            <a:off x="1170432" y="2615184"/>
            <a:ext cx="5897880" cy="512064"/>
          </a:xfrm>
          <a:prstGeom prst="roundRect">
            <a:avLst>
              <a:gd name="adj" fmla="val 10714"/>
            </a:avLst>
          </a:prstGeom>
          <a:solidFill>
            <a:srgbClr val="FFFFFF"/>
          </a:solidFill>
          <a:ln w="12700">
            <a:solidFill>
              <a:srgbClr val="D8E0EA"/>
            </a:solidFill>
            <a:prstDash val="solid"/>
          </a:ln>
        </p:spPr>
      </p:sp>
      <p:sp>
        <p:nvSpPr>
          <p:cNvPr id="16" name="Text 14"/>
          <p:cNvSpPr/>
          <p:nvPr/>
        </p:nvSpPr>
        <p:spPr>
          <a:xfrm>
            <a:off x="1408176" y="2724912"/>
            <a:ext cx="1682496" cy="164592"/>
          </a:xfrm>
          <a:prstGeom prst="rect">
            <a:avLst/>
          </a:prstGeom>
          <a:noFill/>
          <a:ln/>
        </p:spPr>
        <p:txBody>
          <a:bodyPr wrap="square" lIns="0" tIns="0" rIns="0" bIns="0" rtlCol="0" anchor="ctr"/>
          <a:lstStyle/>
          <a:p>
            <a:pPr indent="0" marL="0">
              <a:buNone/>
            </a:pPr>
            <a:r>
              <a:rPr lang="en-US" sz="1260" b="1" dirty="0">
                <a:solidFill>
                  <a:srgbClr val="172033"/>
                </a:solidFill>
                <a:latin typeface="Aptos Display" pitchFamily="34" charset="0"/>
                <a:ea typeface="Aptos Display" pitchFamily="34" charset="-122"/>
                <a:cs typeface="Aptos Display" pitchFamily="34" charset="-120"/>
              </a:rPr>
              <a:t>Dropdown alertes</a:t>
            </a:r>
            <a:endParaRPr lang="en-US" sz="1260" dirty="0"/>
          </a:p>
        </p:txBody>
      </p:sp>
      <p:sp>
        <p:nvSpPr>
          <p:cNvPr id="17" name="Text 15"/>
          <p:cNvSpPr/>
          <p:nvPr/>
        </p:nvSpPr>
        <p:spPr>
          <a:xfrm>
            <a:off x="3273552" y="2724912"/>
            <a:ext cx="3401568" cy="164592"/>
          </a:xfrm>
          <a:prstGeom prst="rect">
            <a:avLst/>
          </a:prstGeom>
          <a:noFill/>
          <a:ln/>
        </p:spPr>
        <p:txBody>
          <a:bodyPr wrap="square" lIns="0" tIns="0" rIns="0" bIns="0" rtlCol="0" anchor="ctr"/>
          <a:lstStyle/>
          <a:p>
            <a:pPr indent="0" marL="0">
              <a:buNone/>
            </a:pPr>
            <a:r>
              <a:rPr lang="en-US" sz="970" dirty="0">
                <a:solidFill>
                  <a:srgbClr val="334155"/>
                </a:solidFill>
                <a:latin typeface="Aptos" pitchFamily="34" charset="0"/>
                <a:ea typeface="Aptos" pitchFamily="34" charset="-122"/>
                <a:cs typeface="Aptos" pitchFamily="34" charset="-120"/>
              </a:rPr>
              <a:t>Le proprietaire ouvre les 5 alertes prioritaires et clique sur le produit.</a:t>
            </a:r>
            <a:endParaRPr lang="en-US" sz="970" dirty="0"/>
          </a:p>
        </p:txBody>
      </p:sp>
      <p:sp>
        <p:nvSpPr>
          <p:cNvPr id="18" name="Shape 16"/>
          <p:cNvSpPr/>
          <p:nvPr/>
        </p:nvSpPr>
        <p:spPr>
          <a:xfrm>
            <a:off x="676656" y="3465576"/>
            <a:ext cx="310896" cy="310896"/>
          </a:xfrm>
          <a:prstGeom prst="ellipse">
            <a:avLst/>
          </a:prstGeom>
          <a:solidFill>
            <a:srgbClr val="172033"/>
          </a:solidFill>
          <a:ln w="12700">
            <a:solidFill>
              <a:srgbClr val="172033"/>
            </a:solidFill>
            <a:prstDash val="solid"/>
          </a:ln>
        </p:spPr>
      </p:sp>
      <p:sp>
        <p:nvSpPr>
          <p:cNvPr id="19" name="Text 17"/>
          <p:cNvSpPr/>
          <p:nvPr/>
        </p:nvSpPr>
        <p:spPr>
          <a:xfrm>
            <a:off x="676656" y="3511296"/>
            <a:ext cx="310896"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3</a:t>
            </a:r>
            <a:endParaRPr lang="en-US" sz="900" dirty="0"/>
          </a:p>
        </p:txBody>
      </p:sp>
      <p:sp>
        <p:nvSpPr>
          <p:cNvPr id="20" name="Shape 18"/>
          <p:cNvSpPr/>
          <p:nvPr/>
        </p:nvSpPr>
        <p:spPr>
          <a:xfrm>
            <a:off x="1170432" y="3438144"/>
            <a:ext cx="5897880" cy="512064"/>
          </a:xfrm>
          <a:prstGeom prst="roundRect">
            <a:avLst>
              <a:gd name="adj" fmla="val 10714"/>
            </a:avLst>
          </a:prstGeom>
          <a:solidFill>
            <a:srgbClr val="FFFFFF"/>
          </a:solidFill>
          <a:ln w="12700">
            <a:solidFill>
              <a:srgbClr val="D8E0EA"/>
            </a:solidFill>
            <a:prstDash val="solid"/>
          </a:ln>
        </p:spPr>
      </p:sp>
      <p:sp>
        <p:nvSpPr>
          <p:cNvPr id="21" name="Text 19"/>
          <p:cNvSpPr/>
          <p:nvPr/>
        </p:nvSpPr>
        <p:spPr>
          <a:xfrm>
            <a:off x="1408176" y="3547872"/>
            <a:ext cx="1682496" cy="164592"/>
          </a:xfrm>
          <a:prstGeom prst="rect">
            <a:avLst/>
          </a:prstGeom>
          <a:noFill/>
          <a:ln/>
        </p:spPr>
        <p:txBody>
          <a:bodyPr wrap="square" lIns="0" tIns="0" rIns="0" bIns="0" rtlCol="0" anchor="ctr"/>
          <a:lstStyle/>
          <a:p>
            <a:pPr indent="0" marL="0">
              <a:buNone/>
            </a:pPr>
            <a:r>
              <a:rPr lang="en-US" sz="1260" b="1" dirty="0">
                <a:solidFill>
                  <a:srgbClr val="172033"/>
                </a:solidFill>
                <a:latin typeface="Aptos Display" pitchFamily="34" charset="0"/>
                <a:ea typeface="Aptos Display" pitchFamily="34" charset="-122"/>
                <a:cs typeface="Aptos Display" pitchFamily="34" charset="-120"/>
              </a:rPr>
              <a:t>Inventaire cible</a:t>
            </a:r>
            <a:endParaRPr lang="en-US" sz="1260" dirty="0"/>
          </a:p>
        </p:txBody>
      </p:sp>
      <p:sp>
        <p:nvSpPr>
          <p:cNvPr id="22" name="Text 20"/>
          <p:cNvSpPr/>
          <p:nvPr/>
        </p:nvSpPr>
        <p:spPr>
          <a:xfrm>
            <a:off x="3273552" y="3547872"/>
            <a:ext cx="3401568" cy="164592"/>
          </a:xfrm>
          <a:prstGeom prst="rect">
            <a:avLst/>
          </a:prstGeom>
          <a:noFill/>
          <a:ln/>
        </p:spPr>
        <p:txBody>
          <a:bodyPr wrap="square" lIns="0" tIns="0" rIns="0" bIns="0" rtlCol="0" anchor="ctr"/>
          <a:lstStyle/>
          <a:p>
            <a:pPr indent="0" marL="0">
              <a:buNone/>
            </a:pPr>
            <a:r>
              <a:rPr lang="en-US" sz="970" dirty="0">
                <a:solidFill>
                  <a:srgbClr val="334155"/>
                </a:solidFill>
                <a:latin typeface="Aptos" pitchFamily="34" charset="0"/>
                <a:ea typeface="Aptos" pitchFamily="34" charset="-122"/>
                <a:cs typeface="Aptos" pitchFamily="34" charset="-120"/>
              </a:rPr>
              <a:t>Le produit est preselectionne pour gagner du temps.</a:t>
            </a:r>
            <a:endParaRPr lang="en-US" sz="970" dirty="0"/>
          </a:p>
        </p:txBody>
      </p:sp>
      <p:sp>
        <p:nvSpPr>
          <p:cNvPr id="23" name="Shape 21"/>
          <p:cNvSpPr/>
          <p:nvPr/>
        </p:nvSpPr>
        <p:spPr>
          <a:xfrm>
            <a:off x="676656" y="4288536"/>
            <a:ext cx="310896" cy="310896"/>
          </a:xfrm>
          <a:prstGeom prst="ellipse">
            <a:avLst/>
          </a:prstGeom>
          <a:solidFill>
            <a:srgbClr val="172033"/>
          </a:solidFill>
          <a:ln w="12700">
            <a:solidFill>
              <a:srgbClr val="172033"/>
            </a:solidFill>
            <a:prstDash val="solid"/>
          </a:ln>
        </p:spPr>
      </p:sp>
      <p:sp>
        <p:nvSpPr>
          <p:cNvPr id="24" name="Text 22"/>
          <p:cNvSpPr/>
          <p:nvPr/>
        </p:nvSpPr>
        <p:spPr>
          <a:xfrm>
            <a:off x="676656" y="4334256"/>
            <a:ext cx="310896"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4</a:t>
            </a:r>
            <a:endParaRPr lang="en-US" sz="900" dirty="0"/>
          </a:p>
        </p:txBody>
      </p:sp>
      <p:sp>
        <p:nvSpPr>
          <p:cNvPr id="25" name="Shape 23"/>
          <p:cNvSpPr/>
          <p:nvPr/>
        </p:nvSpPr>
        <p:spPr>
          <a:xfrm>
            <a:off x="1170432" y="4261104"/>
            <a:ext cx="5897880" cy="512064"/>
          </a:xfrm>
          <a:prstGeom prst="roundRect">
            <a:avLst>
              <a:gd name="adj" fmla="val 10714"/>
            </a:avLst>
          </a:prstGeom>
          <a:solidFill>
            <a:srgbClr val="FFFFFF"/>
          </a:solidFill>
          <a:ln w="12700">
            <a:solidFill>
              <a:srgbClr val="D8E0EA"/>
            </a:solidFill>
            <a:prstDash val="solid"/>
          </a:ln>
        </p:spPr>
      </p:sp>
      <p:sp>
        <p:nvSpPr>
          <p:cNvPr id="26" name="Text 24"/>
          <p:cNvSpPr/>
          <p:nvPr/>
        </p:nvSpPr>
        <p:spPr>
          <a:xfrm>
            <a:off x="1408176" y="4370832"/>
            <a:ext cx="1682496" cy="164592"/>
          </a:xfrm>
          <a:prstGeom prst="rect">
            <a:avLst/>
          </a:prstGeom>
          <a:noFill/>
          <a:ln/>
        </p:spPr>
        <p:txBody>
          <a:bodyPr wrap="square" lIns="0" tIns="0" rIns="0" bIns="0" rtlCol="0" anchor="ctr"/>
          <a:lstStyle/>
          <a:p>
            <a:pPr indent="0" marL="0">
              <a:buNone/>
            </a:pPr>
            <a:r>
              <a:rPr lang="en-US" sz="1260" b="1" dirty="0">
                <a:solidFill>
                  <a:srgbClr val="172033"/>
                </a:solidFill>
                <a:latin typeface="Aptos Display" pitchFamily="34" charset="0"/>
                <a:ea typeface="Aptos Display" pitchFamily="34" charset="-122"/>
                <a:cs typeface="Aptos Display" pitchFamily="34" charset="-120"/>
              </a:rPr>
              <a:t>Stock IN / correction</a:t>
            </a:r>
            <a:endParaRPr lang="en-US" sz="1260" dirty="0"/>
          </a:p>
        </p:txBody>
      </p:sp>
      <p:sp>
        <p:nvSpPr>
          <p:cNvPr id="27" name="Text 25"/>
          <p:cNvSpPr/>
          <p:nvPr/>
        </p:nvSpPr>
        <p:spPr>
          <a:xfrm>
            <a:off x="3273552" y="4370832"/>
            <a:ext cx="3401568" cy="164592"/>
          </a:xfrm>
          <a:prstGeom prst="rect">
            <a:avLst/>
          </a:prstGeom>
          <a:noFill/>
          <a:ln/>
        </p:spPr>
        <p:txBody>
          <a:bodyPr wrap="square" lIns="0" tIns="0" rIns="0" bIns="0" rtlCol="0" anchor="ctr"/>
          <a:lstStyle/>
          <a:p>
            <a:pPr indent="0" marL="0">
              <a:buNone/>
            </a:pPr>
            <a:r>
              <a:rPr lang="en-US" sz="970" dirty="0">
                <a:solidFill>
                  <a:srgbClr val="334155"/>
                </a:solidFill>
                <a:latin typeface="Aptos" pitchFamily="34" charset="0"/>
                <a:ea typeface="Aptos" pitchFamily="34" charset="-122"/>
                <a:cs typeface="Aptos" pitchFamily="34" charset="-120"/>
              </a:rPr>
              <a:t>La quantite et le motif sont saisis en une action.</a:t>
            </a:r>
            <a:endParaRPr lang="en-US" sz="970" dirty="0"/>
          </a:p>
        </p:txBody>
      </p:sp>
      <p:sp>
        <p:nvSpPr>
          <p:cNvPr id="28" name="Shape 26"/>
          <p:cNvSpPr/>
          <p:nvPr/>
        </p:nvSpPr>
        <p:spPr>
          <a:xfrm>
            <a:off x="676656" y="5111496"/>
            <a:ext cx="310896" cy="310896"/>
          </a:xfrm>
          <a:prstGeom prst="ellipse">
            <a:avLst/>
          </a:prstGeom>
          <a:solidFill>
            <a:srgbClr val="1F6B52"/>
          </a:solidFill>
          <a:ln w="12700">
            <a:solidFill>
              <a:srgbClr val="1F6B52"/>
            </a:solidFill>
            <a:prstDash val="solid"/>
          </a:ln>
        </p:spPr>
      </p:sp>
      <p:sp>
        <p:nvSpPr>
          <p:cNvPr id="29" name="Text 27"/>
          <p:cNvSpPr/>
          <p:nvPr/>
        </p:nvSpPr>
        <p:spPr>
          <a:xfrm>
            <a:off x="676656" y="5157216"/>
            <a:ext cx="310896"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Aptos" pitchFamily="34" charset="0"/>
                <a:ea typeface="Aptos" pitchFamily="34" charset="-122"/>
                <a:cs typeface="Aptos" pitchFamily="34" charset="-120"/>
              </a:rPr>
              <a:t>5</a:t>
            </a:r>
            <a:endParaRPr lang="en-US" sz="900" dirty="0"/>
          </a:p>
        </p:txBody>
      </p:sp>
      <p:sp>
        <p:nvSpPr>
          <p:cNvPr id="30" name="Shape 28"/>
          <p:cNvSpPr/>
          <p:nvPr/>
        </p:nvSpPr>
        <p:spPr>
          <a:xfrm>
            <a:off x="1170432" y="5084064"/>
            <a:ext cx="5897880" cy="512064"/>
          </a:xfrm>
          <a:prstGeom prst="roundRect">
            <a:avLst>
              <a:gd name="adj" fmla="val 10714"/>
            </a:avLst>
          </a:prstGeom>
          <a:solidFill>
            <a:srgbClr val="FFFFFF"/>
          </a:solidFill>
          <a:ln w="12700">
            <a:solidFill>
              <a:srgbClr val="D8E0EA"/>
            </a:solidFill>
            <a:prstDash val="solid"/>
          </a:ln>
        </p:spPr>
      </p:sp>
      <p:sp>
        <p:nvSpPr>
          <p:cNvPr id="31" name="Text 29"/>
          <p:cNvSpPr/>
          <p:nvPr/>
        </p:nvSpPr>
        <p:spPr>
          <a:xfrm>
            <a:off x="1408176" y="5193792"/>
            <a:ext cx="1682496" cy="164592"/>
          </a:xfrm>
          <a:prstGeom prst="rect">
            <a:avLst/>
          </a:prstGeom>
          <a:noFill/>
          <a:ln/>
        </p:spPr>
        <p:txBody>
          <a:bodyPr wrap="square" lIns="0" tIns="0" rIns="0" bIns="0" rtlCol="0" anchor="ctr"/>
          <a:lstStyle/>
          <a:p>
            <a:pPr indent="0" marL="0">
              <a:buNone/>
            </a:pPr>
            <a:r>
              <a:rPr lang="en-US" sz="1260" b="1" dirty="0">
                <a:solidFill>
                  <a:srgbClr val="172033"/>
                </a:solidFill>
                <a:latin typeface="Aptos Display" pitchFamily="34" charset="0"/>
                <a:ea typeface="Aptos Display" pitchFamily="34" charset="-122"/>
                <a:cs typeface="Aptos Display" pitchFamily="34" charset="-120"/>
              </a:rPr>
              <a:t>Disparition automatique</a:t>
            </a:r>
            <a:endParaRPr lang="en-US" sz="1260" dirty="0"/>
          </a:p>
        </p:txBody>
      </p:sp>
      <p:sp>
        <p:nvSpPr>
          <p:cNvPr id="32" name="Text 30"/>
          <p:cNvSpPr/>
          <p:nvPr/>
        </p:nvSpPr>
        <p:spPr>
          <a:xfrm>
            <a:off x="3273552" y="5193792"/>
            <a:ext cx="3401568" cy="164592"/>
          </a:xfrm>
          <a:prstGeom prst="rect">
            <a:avLst/>
          </a:prstGeom>
          <a:noFill/>
          <a:ln/>
        </p:spPr>
        <p:txBody>
          <a:bodyPr wrap="square" lIns="0" tIns="0" rIns="0" bIns="0" rtlCol="0" anchor="ctr"/>
          <a:lstStyle/>
          <a:p>
            <a:pPr indent="0" marL="0">
              <a:buNone/>
            </a:pPr>
            <a:r>
              <a:rPr lang="en-US" sz="970" dirty="0">
                <a:solidFill>
                  <a:srgbClr val="334155"/>
                </a:solidFill>
                <a:latin typeface="Aptos" pitchFamily="34" charset="0"/>
                <a:ea typeface="Aptos" pitchFamily="34" charset="-122"/>
                <a:cs typeface="Aptos" pitchFamily="34" charset="-120"/>
              </a:rPr>
              <a:t>L'alerte est supprimee si le seuil n'est plus atteint.</a:t>
            </a:r>
            <a:endParaRPr lang="en-US" sz="970" dirty="0"/>
          </a:p>
        </p:txBody>
      </p:sp>
      <p:sp>
        <p:nvSpPr>
          <p:cNvPr id="33" name="Shape 31"/>
          <p:cNvSpPr/>
          <p:nvPr/>
        </p:nvSpPr>
        <p:spPr>
          <a:xfrm>
            <a:off x="7424928" y="1792224"/>
            <a:ext cx="3822192" cy="4096512"/>
          </a:xfrm>
          <a:prstGeom prst="roundRect">
            <a:avLst>
              <a:gd name="adj" fmla="val 1435"/>
            </a:avLst>
          </a:prstGeom>
          <a:solidFill>
            <a:srgbClr val="EEE7DA"/>
          </a:solidFill>
          <a:ln w="12700">
            <a:solidFill>
              <a:srgbClr val="D8E0EA"/>
            </a:solidFill>
            <a:prstDash val="solid"/>
          </a:ln>
          <a:effectLst>
            <a:outerShdw sx="100000" sy="100000" kx="0" ky="0" algn="bl" rotWithShape="0" blurRad="12700" dist="50800" dir="2700000">
              <a:srgbClr val="BFC8D4">
                <a:alpha val="18000"/>
              </a:srgbClr>
            </a:outerShdw>
          </a:effectLst>
        </p:spPr>
      </p:sp>
      <p:sp>
        <p:nvSpPr>
          <p:cNvPr id="34" name="Text 32"/>
          <p:cNvSpPr/>
          <p:nvPr/>
        </p:nvSpPr>
        <p:spPr>
          <a:xfrm>
            <a:off x="7680960" y="2029968"/>
            <a:ext cx="1920240" cy="164592"/>
          </a:xfrm>
          <a:prstGeom prst="rect">
            <a:avLst/>
          </a:prstGeom>
          <a:noFill/>
          <a:ln/>
        </p:spPr>
        <p:txBody>
          <a:bodyPr wrap="square" rtlCol="0" anchor="ctr"/>
          <a:lstStyle/>
          <a:p>
            <a:pPr indent="0" marL="0">
              <a:buNone/>
            </a:pPr>
            <a:r>
              <a:rPr lang="en-US" sz="820" b="1" spc="120" kern="0" dirty="0">
                <a:solidFill>
                  <a:srgbClr val="B7791F"/>
                </a:solidFill>
                <a:latin typeface="Aptos" pitchFamily="34" charset="0"/>
                <a:ea typeface="Aptos" pitchFamily="34" charset="-122"/>
                <a:cs typeface="Aptos" pitchFamily="34" charset="-120"/>
              </a:rPr>
              <a:t>Pourquoi le parcours fonctionne</a:t>
            </a:r>
            <a:endParaRPr lang="en-US" sz="820" dirty="0"/>
          </a:p>
        </p:txBody>
      </p:sp>
      <p:sp>
        <p:nvSpPr>
          <p:cNvPr id="35" name="Shape 33"/>
          <p:cNvSpPr/>
          <p:nvPr/>
        </p:nvSpPr>
        <p:spPr>
          <a:xfrm>
            <a:off x="7680960" y="2487168"/>
            <a:ext cx="91440" cy="91440"/>
          </a:xfrm>
          <a:prstGeom prst="ellipse">
            <a:avLst/>
          </a:prstGeom>
          <a:solidFill>
            <a:srgbClr val="B7791F"/>
          </a:solidFill>
          <a:ln w="12700">
            <a:solidFill>
              <a:srgbClr val="B7791F"/>
            </a:solidFill>
            <a:prstDash val="solid"/>
          </a:ln>
        </p:spPr>
      </p:sp>
      <p:sp>
        <p:nvSpPr>
          <p:cNvPr id="36" name="Text 34"/>
          <p:cNvSpPr/>
          <p:nvPr/>
        </p:nvSpPr>
        <p:spPr>
          <a:xfrm>
            <a:off x="7845552" y="2432304"/>
            <a:ext cx="2926080" cy="228600"/>
          </a:xfrm>
          <a:prstGeom prst="rect">
            <a:avLst/>
          </a:prstGeom>
          <a:noFill/>
          <a:ln/>
        </p:spPr>
        <p:txBody>
          <a:bodyPr wrap="square" lIns="0" tIns="0" rIns="0" bIns="0" rtlCol="0" anchor="ctr"/>
          <a:lstStyle/>
          <a:p>
            <a:pPr indent="0" marL="0">
              <a:buNone/>
            </a:pPr>
            <a:r>
              <a:rPr lang="en-US" sz="1030" dirty="0">
                <a:solidFill>
                  <a:srgbClr val="172033"/>
                </a:solidFill>
                <a:latin typeface="Aptos" pitchFamily="34" charset="0"/>
                <a:ea typeface="Aptos" pitchFamily="34" charset="-122"/>
                <a:cs typeface="Aptos" pitchFamily="34" charset="-120"/>
              </a:rPr>
              <a:t>Le signal est toujours visible.</a:t>
            </a:r>
            <a:endParaRPr lang="en-US" sz="1030" dirty="0"/>
          </a:p>
        </p:txBody>
      </p:sp>
      <p:sp>
        <p:nvSpPr>
          <p:cNvPr id="37" name="Shape 35"/>
          <p:cNvSpPr/>
          <p:nvPr/>
        </p:nvSpPr>
        <p:spPr>
          <a:xfrm>
            <a:off x="7680960" y="3054096"/>
            <a:ext cx="91440" cy="91440"/>
          </a:xfrm>
          <a:prstGeom prst="ellipse">
            <a:avLst/>
          </a:prstGeom>
          <a:solidFill>
            <a:srgbClr val="B7791F"/>
          </a:solidFill>
          <a:ln w="12700">
            <a:solidFill>
              <a:srgbClr val="B7791F"/>
            </a:solidFill>
            <a:prstDash val="solid"/>
          </a:ln>
        </p:spPr>
      </p:sp>
      <p:sp>
        <p:nvSpPr>
          <p:cNvPr id="38" name="Text 36"/>
          <p:cNvSpPr/>
          <p:nvPr/>
        </p:nvSpPr>
        <p:spPr>
          <a:xfrm>
            <a:off x="7845552" y="2999232"/>
            <a:ext cx="2926080" cy="228600"/>
          </a:xfrm>
          <a:prstGeom prst="rect">
            <a:avLst/>
          </a:prstGeom>
          <a:noFill/>
          <a:ln/>
        </p:spPr>
        <p:txBody>
          <a:bodyPr wrap="square" lIns="0" tIns="0" rIns="0" bIns="0" rtlCol="0" anchor="ctr"/>
          <a:lstStyle/>
          <a:p>
            <a:pPr indent="0" marL="0">
              <a:buNone/>
            </a:pPr>
            <a:r>
              <a:rPr lang="en-US" sz="1030" dirty="0">
                <a:solidFill>
                  <a:srgbClr val="172033"/>
                </a:solidFill>
                <a:latin typeface="Aptos" pitchFamily="34" charset="0"/>
                <a:ea typeface="Aptos" pitchFamily="34" charset="-122"/>
                <a:cs typeface="Aptos" pitchFamily="34" charset="-120"/>
              </a:rPr>
              <a:t>L'interface conduit vers l'action au lieu de demander une recherche.</a:t>
            </a:r>
            <a:endParaRPr lang="en-US" sz="1030" dirty="0"/>
          </a:p>
        </p:txBody>
      </p:sp>
      <p:sp>
        <p:nvSpPr>
          <p:cNvPr id="39" name="Shape 37"/>
          <p:cNvSpPr/>
          <p:nvPr/>
        </p:nvSpPr>
        <p:spPr>
          <a:xfrm>
            <a:off x="7680960" y="3621024"/>
            <a:ext cx="91440" cy="91440"/>
          </a:xfrm>
          <a:prstGeom prst="ellipse">
            <a:avLst/>
          </a:prstGeom>
          <a:solidFill>
            <a:srgbClr val="B7791F"/>
          </a:solidFill>
          <a:ln w="12700">
            <a:solidFill>
              <a:srgbClr val="B7791F"/>
            </a:solidFill>
            <a:prstDash val="solid"/>
          </a:ln>
        </p:spPr>
      </p:sp>
      <p:sp>
        <p:nvSpPr>
          <p:cNvPr id="40" name="Text 38"/>
          <p:cNvSpPr/>
          <p:nvPr/>
        </p:nvSpPr>
        <p:spPr>
          <a:xfrm>
            <a:off x="7845552" y="3566160"/>
            <a:ext cx="2926080" cy="228600"/>
          </a:xfrm>
          <a:prstGeom prst="rect">
            <a:avLst/>
          </a:prstGeom>
          <a:noFill/>
          <a:ln/>
        </p:spPr>
        <p:txBody>
          <a:bodyPr wrap="square" lIns="0" tIns="0" rIns="0" bIns="0" rtlCol="0" anchor="ctr"/>
          <a:lstStyle/>
          <a:p>
            <a:pPr indent="0" marL="0">
              <a:buNone/>
            </a:pPr>
            <a:r>
              <a:rPr lang="en-US" sz="1030" dirty="0">
                <a:solidFill>
                  <a:srgbClr val="172033"/>
                </a:solidFill>
                <a:latin typeface="Aptos" pitchFamily="34" charset="0"/>
                <a:ea typeface="Aptos" pitchFamily="34" charset="-122"/>
                <a:cs typeface="Aptos" pitchFamily="34" charset="-120"/>
              </a:rPr>
              <a:t>Le temps entre detection et correction est minimal.</a:t>
            </a:r>
            <a:endParaRPr lang="en-US" sz="1030" dirty="0"/>
          </a:p>
        </p:txBody>
      </p:sp>
      <p:sp>
        <p:nvSpPr>
          <p:cNvPr id="41" name="Shape 39"/>
          <p:cNvSpPr/>
          <p:nvPr/>
        </p:nvSpPr>
        <p:spPr>
          <a:xfrm>
            <a:off x="7680960" y="4187952"/>
            <a:ext cx="91440" cy="91440"/>
          </a:xfrm>
          <a:prstGeom prst="ellipse">
            <a:avLst/>
          </a:prstGeom>
          <a:solidFill>
            <a:srgbClr val="B7791F"/>
          </a:solidFill>
          <a:ln w="12700">
            <a:solidFill>
              <a:srgbClr val="B7791F"/>
            </a:solidFill>
            <a:prstDash val="solid"/>
          </a:ln>
        </p:spPr>
      </p:sp>
      <p:sp>
        <p:nvSpPr>
          <p:cNvPr id="42" name="Text 40"/>
          <p:cNvSpPr/>
          <p:nvPr/>
        </p:nvSpPr>
        <p:spPr>
          <a:xfrm>
            <a:off x="7845552" y="4133088"/>
            <a:ext cx="2926080" cy="228600"/>
          </a:xfrm>
          <a:prstGeom prst="rect">
            <a:avLst/>
          </a:prstGeom>
          <a:noFill/>
          <a:ln/>
        </p:spPr>
        <p:txBody>
          <a:bodyPr wrap="square" lIns="0" tIns="0" rIns="0" bIns="0" rtlCol="0" anchor="ctr"/>
          <a:lstStyle/>
          <a:p>
            <a:pPr indent="0" marL="0">
              <a:buNone/>
            </a:pPr>
            <a:r>
              <a:rPr lang="en-US" sz="1030" dirty="0">
                <a:solidFill>
                  <a:srgbClr val="172033"/>
                </a:solidFill>
                <a:latin typeface="Aptos" pitchFamily="34" charset="0"/>
                <a:ea typeface="Aptos" pitchFamily="34" charset="-122"/>
                <a:cs typeface="Aptos" pitchFamily="34" charset="-120"/>
              </a:rPr>
              <a:t>Le systeme confirme la resolution sans demander d'action manuelle supplementaire.</a:t>
            </a:r>
            <a:endParaRPr lang="en-US" sz="1030" dirty="0"/>
          </a:p>
        </p:txBody>
      </p:sp>
      <p:sp>
        <p:nvSpPr>
          <p:cNvPr id="43" name="Text 41"/>
          <p:cNvSpPr/>
          <p:nvPr/>
        </p:nvSpPr>
        <p:spPr>
          <a:xfrm>
            <a:off x="7680960" y="4919472"/>
            <a:ext cx="2834640" cy="365760"/>
          </a:xfrm>
          <a:prstGeom prst="rect">
            <a:avLst/>
          </a:prstGeom>
          <a:noFill/>
          <a:ln/>
        </p:spPr>
        <p:txBody>
          <a:bodyPr wrap="square" lIns="0" tIns="0" rIns="0" bIns="0" rtlCol="0" anchor="ctr"/>
          <a:lstStyle/>
          <a:p>
            <a:pPr indent="0" marL="0">
              <a:buNone/>
            </a:pPr>
            <a:r>
              <a:rPr lang="en-US" sz="1300" b="1" dirty="0">
                <a:solidFill>
                  <a:srgbClr val="172033"/>
                </a:solidFill>
                <a:latin typeface="Aptos Display" pitchFamily="34" charset="0"/>
                <a:ea typeface="Aptos Display" pitchFamily="34" charset="-122"/>
                <a:cs typeface="Aptos Display" pitchFamily="34" charset="-120"/>
              </a:rPr>
              <a:t>L UX est bonne car elle suit le processus metier reel du proprietaire.</a:t>
            </a:r>
            <a:endParaRPr lang="en-US" sz="1300" dirty="0"/>
          </a:p>
        </p:txBody>
      </p:sp>
      <p:sp>
        <p:nvSpPr>
          <p:cNvPr id="44" name="Text 42"/>
          <p:cNvSpPr/>
          <p:nvPr/>
        </p:nvSpPr>
        <p:spPr>
          <a:xfrm>
            <a:off x="512064" y="6419088"/>
            <a:ext cx="7772400" cy="164592"/>
          </a:xfrm>
          <a:prstGeom prst="rect">
            <a:avLst/>
          </a:prstGeom>
          <a:noFill/>
          <a:ln/>
        </p:spPr>
        <p:txBody>
          <a:bodyPr wrap="square" lIns="0" tIns="0" rIns="0" bIns="0" rtlCol="0" anchor="ctr"/>
          <a:lstStyle/>
          <a:p>
            <a:pPr indent="0" marL="0">
              <a:buNone/>
            </a:pPr>
            <a:r>
              <a:rPr lang="en-US" sz="800" dirty="0">
                <a:solidFill>
                  <a:srgbClr val="64748B"/>
                </a:solidFill>
                <a:latin typeface="Aptos" pitchFamily="34" charset="0"/>
                <a:ea typeface="Aptos" pitchFamily="34" charset="-122"/>
                <a:cs typeface="Aptos" pitchFamily="34" charset="-120"/>
              </a:rPr>
              <a:t>La presentation du produit n'est pas decorative: elle sert la rapidite d'intervention.</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5F1E8"/>
          </a:solidFill>
          <a:ln w="12700">
            <a:solidFill>
              <a:srgbClr val="F5F1E8">
                <a:alpha val="0"/>
              </a:srgbClr>
            </a:solidFill>
            <a:prstDash val="solid"/>
          </a:ln>
        </p:spPr>
      </p:sp>
      <p:sp>
        <p:nvSpPr>
          <p:cNvPr id="3" name="Shape 1"/>
          <p:cNvSpPr/>
          <p:nvPr/>
        </p:nvSpPr>
        <p:spPr>
          <a:xfrm>
            <a:off x="384048" y="347472"/>
            <a:ext cx="11420856" cy="18288"/>
          </a:xfrm>
          <a:prstGeom prst="rect">
            <a:avLst/>
          </a:prstGeom>
          <a:solidFill>
            <a:srgbClr val="D8E0EA"/>
          </a:solidFill>
          <a:ln w="12700">
            <a:solidFill>
              <a:srgbClr val="D8E0EA"/>
            </a:solidFill>
            <a:prstDash val="solid"/>
          </a:ln>
        </p:spPr>
      </p:sp>
      <p:sp>
        <p:nvSpPr>
          <p:cNvPr id="4" name="Text 2"/>
          <p:cNvSpPr/>
          <p:nvPr/>
        </p:nvSpPr>
        <p:spPr>
          <a:xfrm>
            <a:off x="512064" y="155448"/>
            <a:ext cx="2926080" cy="164592"/>
          </a:xfrm>
          <a:prstGeom prst="rect">
            <a:avLst/>
          </a:prstGeom>
          <a:noFill/>
          <a:ln/>
        </p:spPr>
        <p:txBody>
          <a:bodyPr wrap="square" rtlCol="0" anchor="ctr"/>
          <a:lstStyle/>
          <a:p>
            <a:pPr indent="0" marL="0">
              <a:buNone/>
            </a:pPr>
            <a:r>
              <a:rPr lang="en-US" sz="800" b="1" spc="160" kern="0" dirty="0">
                <a:solidFill>
                  <a:srgbClr val="1F6B52"/>
                </a:solidFill>
                <a:latin typeface="Aptos" pitchFamily="34" charset="0"/>
                <a:ea typeface="Aptos" pitchFamily="34" charset="-122"/>
                <a:cs typeface="Aptos" pitchFamily="34" charset="-120"/>
              </a:rPr>
              <a:t>CHOIX TECHNIQUES</a:t>
            </a:r>
            <a:endParaRPr lang="en-US" sz="800" dirty="0"/>
          </a:p>
        </p:txBody>
      </p:sp>
      <p:sp>
        <p:nvSpPr>
          <p:cNvPr id="5" name="Text 3"/>
          <p:cNvSpPr/>
          <p:nvPr/>
        </p:nvSpPr>
        <p:spPr>
          <a:xfrm>
            <a:off x="11109960" y="6446520"/>
            <a:ext cx="640080" cy="182880"/>
          </a:xfrm>
          <a:prstGeom prst="rect">
            <a:avLst/>
          </a:prstGeom>
          <a:noFill/>
          <a:ln/>
        </p:spPr>
        <p:txBody>
          <a:bodyPr wrap="square" rtlCol="0" anchor="ctr"/>
          <a:lstStyle/>
          <a:p>
            <a:pPr algn="r" indent="0" marL="0">
              <a:buNone/>
            </a:pPr>
            <a:r>
              <a:rPr lang="en-US" sz="800" dirty="0">
                <a:solidFill>
                  <a:srgbClr val="64748B"/>
                </a:solidFill>
                <a:latin typeface="Aptos" pitchFamily="34" charset="0"/>
                <a:ea typeface="Aptos" pitchFamily="34" charset="-122"/>
                <a:cs typeface="Aptos" pitchFamily="34" charset="-120"/>
              </a:rPr>
              <a:t>09 / 12</a:t>
            </a:r>
            <a:endParaRPr lang="en-US" sz="800" dirty="0"/>
          </a:p>
        </p:txBody>
      </p:sp>
      <p:sp>
        <p:nvSpPr>
          <p:cNvPr id="6" name="Text 4"/>
          <p:cNvSpPr/>
          <p:nvPr/>
        </p:nvSpPr>
        <p:spPr>
          <a:xfrm>
            <a:off x="512064" y="530352"/>
            <a:ext cx="7772400" cy="694944"/>
          </a:xfrm>
          <a:prstGeom prst="rect">
            <a:avLst/>
          </a:prstGeom>
          <a:noFill/>
          <a:ln/>
        </p:spPr>
        <p:txBody>
          <a:bodyPr wrap="square" lIns="0" tIns="0" rIns="0" bIns="0" rtlCol="0" anchor="ctr"/>
          <a:lstStyle/>
          <a:p>
            <a:pPr indent="0" marL="0">
              <a:buNone/>
            </a:pPr>
            <a:r>
              <a:rPr lang="en-US" sz="2400" b="1" dirty="0">
                <a:solidFill>
                  <a:srgbClr val="172033"/>
                </a:solidFill>
                <a:latin typeface="Aptos Display" pitchFamily="34" charset="0"/>
                <a:ea typeface="Aptos Display" pitchFamily="34" charset="-122"/>
                <a:cs typeface="Aptos Display" pitchFamily="34" charset="-120"/>
              </a:rPr>
              <a:t>Trois decisions d'architecture donnent au projet sa solidite technique.</a:t>
            </a:r>
            <a:endParaRPr lang="en-US" sz="2400" dirty="0"/>
          </a:p>
        </p:txBody>
      </p:sp>
      <p:sp>
        <p:nvSpPr>
          <p:cNvPr id="7" name="Text 5"/>
          <p:cNvSpPr/>
          <p:nvPr/>
        </p:nvSpPr>
        <p:spPr>
          <a:xfrm>
            <a:off x="512064" y="1078992"/>
            <a:ext cx="8138160" cy="411480"/>
          </a:xfrm>
          <a:prstGeom prst="rect">
            <a:avLst/>
          </a:prstGeom>
          <a:noFill/>
          <a:ln/>
        </p:spPr>
        <p:txBody>
          <a:bodyPr wrap="square" lIns="0" tIns="0" rIns="0" bIns="0" rtlCol="0" anchor="ctr"/>
          <a:lstStyle/>
          <a:p>
            <a:pPr indent="0" marL="0">
              <a:buNone/>
            </a:pPr>
            <a:r>
              <a:rPr lang="en-US" sz="1050" dirty="0">
                <a:solidFill>
                  <a:srgbClr val="334155"/>
                </a:solidFill>
                <a:latin typeface="Aptos" pitchFamily="34" charset="0"/>
                <a:ea typeface="Aptos" pitchFamily="34" charset="-122"/>
                <a:cs typeface="Aptos" pitchFamily="34" charset="-120"/>
              </a:rPr>
              <a:t>Elles ne sont pas visibles au premier regard, mais ce sont elles qui rendent le systeme coherent, maintenable et evolutif.</a:t>
            </a:r>
            <a:endParaRPr lang="en-US" sz="1050" dirty="0"/>
          </a:p>
        </p:txBody>
      </p:sp>
      <p:sp>
        <p:nvSpPr>
          <p:cNvPr id="8" name="Shape 6"/>
          <p:cNvSpPr/>
          <p:nvPr/>
        </p:nvSpPr>
        <p:spPr>
          <a:xfrm>
            <a:off x="512064" y="1938528"/>
            <a:ext cx="3072384" cy="3547872"/>
          </a:xfrm>
          <a:prstGeom prst="roundRect">
            <a:avLst>
              <a:gd name="adj" fmla="val 1786"/>
            </a:avLst>
          </a:prstGeom>
          <a:solidFill>
            <a:srgbClr val="FFFFFF"/>
          </a:solidFill>
          <a:ln w="12700">
            <a:solidFill>
              <a:srgbClr val="D8E0EA"/>
            </a:solidFill>
            <a:prstDash val="solid"/>
          </a:ln>
          <a:effectLst>
            <a:outerShdw sx="100000" sy="100000" kx="0" ky="0" algn="bl" rotWithShape="0" blurRad="12700" dist="50800" dir="2700000">
              <a:srgbClr val="BFC8D4">
                <a:alpha val="18000"/>
              </a:srgbClr>
            </a:outerShdw>
          </a:effectLst>
        </p:spPr>
      </p:sp>
      <p:sp>
        <p:nvSpPr>
          <p:cNvPr id="9" name="Shape 7"/>
          <p:cNvSpPr/>
          <p:nvPr/>
        </p:nvSpPr>
        <p:spPr>
          <a:xfrm>
            <a:off x="731520" y="2194560"/>
            <a:ext cx="786384" cy="237744"/>
          </a:xfrm>
          <a:prstGeom prst="roundRect">
            <a:avLst>
              <a:gd name="adj" fmla="val 11538"/>
            </a:avLst>
          </a:prstGeom>
          <a:solidFill>
            <a:srgbClr val="DCEEE6"/>
          </a:solidFill>
          <a:ln w="12700">
            <a:solidFill>
              <a:srgbClr val="DCEEE6"/>
            </a:solidFill>
            <a:prstDash val="solid"/>
          </a:ln>
        </p:spPr>
      </p:sp>
      <p:sp>
        <p:nvSpPr>
          <p:cNvPr id="10" name="Text 8"/>
          <p:cNvSpPr/>
          <p:nvPr/>
        </p:nvSpPr>
        <p:spPr>
          <a:xfrm>
            <a:off x="768096" y="2249424"/>
            <a:ext cx="713232" cy="109728"/>
          </a:xfrm>
          <a:prstGeom prst="rect">
            <a:avLst/>
          </a:prstGeom>
          <a:noFill/>
          <a:ln/>
        </p:spPr>
        <p:txBody>
          <a:bodyPr wrap="square" lIns="0" tIns="0" rIns="0" bIns="0" rtlCol="0" anchor="ctr"/>
          <a:lstStyle/>
          <a:p>
            <a:pPr algn="ctr" indent="0" marL="0">
              <a:buNone/>
            </a:pPr>
            <a:r>
              <a:rPr lang="en-US" sz="800" b="1" spc="100" kern="0" dirty="0">
                <a:solidFill>
                  <a:srgbClr val="172033"/>
                </a:solidFill>
                <a:latin typeface="Aptos" pitchFamily="34" charset="0"/>
                <a:ea typeface="Aptos" pitchFamily="34" charset="-122"/>
                <a:cs typeface="Aptos" pitchFamily="34" charset="-120"/>
              </a:rPr>
              <a:t>DECOUPLAGE</a:t>
            </a:r>
            <a:endParaRPr lang="en-US" sz="800" dirty="0"/>
          </a:p>
        </p:txBody>
      </p:sp>
      <p:sp>
        <p:nvSpPr>
          <p:cNvPr id="11" name="Text 9"/>
          <p:cNvSpPr/>
          <p:nvPr/>
        </p:nvSpPr>
        <p:spPr>
          <a:xfrm>
            <a:off x="731520" y="2670048"/>
            <a:ext cx="2377440" cy="365760"/>
          </a:xfrm>
          <a:prstGeom prst="rect">
            <a:avLst/>
          </a:prstGeom>
          <a:noFill/>
          <a:ln/>
        </p:spPr>
        <p:txBody>
          <a:bodyPr wrap="square" lIns="0" tIns="0" rIns="0" bIns="0" rtlCol="0" anchor="ctr"/>
          <a:lstStyle/>
          <a:p>
            <a:pPr indent="0" marL="0">
              <a:buNone/>
            </a:pPr>
            <a:r>
              <a:rPr lang="en-US" sz="1550" b="1" dirty="0">
                <a:solidFill>
                  <a:srgbClr val="172033"/>
                </a:solidFill>
                <a:latin typeface="Aptos Display" pitchFamily="34" charset="0"/>
                <a:ea typeface="Aptos Display" pitchFamily="34" charset="-122"/>
                <a:cs typeface="Aptos Display" pitchFamily="34" charset="-120"/>
              </a:rPr>
              <a:t>Port d'alertes</a:t>
            </a:r>
            <a:endParaRPr lang="en-US" sz="1550" dirty="0"/>
          </a:p>
        </p:txBody>
      </p:sp>
      <p:sp>
        <p:nvSpPr>
          <p:cNvPr id="12" name="Text 10"/>
          <p:cNvSpPr/>
          <p:nvPr/>
        </p:nvSpPr>
        <p:spPr>
          <a:xfrm>
            <a:off x="731520" y="3218688"/>
            <a:ext cx="2578608" cy="1463040"/>
          </a:xfrm>
          <a:prstGeom prst="rect">
            <a:avLst/>
          </a:prstGeom>
          <a:noFill/>
          <a:ln/>
        </p:spPr>
        <p:txBody>
          <a:bodyPr wrap="square" lIns="0" tIns="0" rIns="0" bIns="0" rtlCol="0" anchor="ctr"/>
          <a:lstStyle/>
          <a:p>
            <a:pPr indent="0" marL="0">
              <a:buNone/>
            </a:pPr>
            <a:r>
              <a:rPr lang="en-US" sz="1040" dirty="0">
                <a:solidFill>
                  <a:srgbClr val="334155"/>
                </a:solidFill>
                <a:latin typeface="Aptos" pitchFamily="34" charset="0"/>
                <a:ea typeface="Aptos" pitchFamily="34" charset="-122"/>
                <a:cs typeface="Aptos" pitchFamily="34" charset="-120"/>
              </a:rPr>
              <a:t>InventoryService depend d'une abstraction ALERTS_PORT au lieu d'importer directement AlertsService. Les modules restent decouples et testables.</a:t>
            </a:r>
            <a:endParaRPr lang="en-US" sz="1040" dirty="0"/>
          </a:p>
        </p:txBody>
      </p:sp>
      <p:sp>
        <p:nvSpPr>
          <p:cNvPr id="13" name="Shape 11"/>
          <p:cNvSpPr/>
          <p:nvPr/>
        </p:nvSpPr>
        <p:spPr>
          <a:xfrm>
            <a:off x="4096512" y="1938528"/>
            <a:ext cx="3072384" cy="3547872"/>
          </a:xfrm>
          <a:prstGeom prst="roundRect">
            <a:avLst>
              <a:gd name="adj" fmla="val 1786"/>
            </a:avLst>
          </a:prstGeom>
          <a:solidFill>
            <a:srgbClr val="FFFFFF"/>
          </a:solidFill>
          <a:ln w="12700">
            <a:solidFill>
              <a:srgbClr val="D8E0EA"/>
            </a:solidFill>
            <a:prstDash val="solid"/>
          </a:ln>
          <a:effectLst>
            <a:outerShdw sx="100000" sy="100000" kx="0" ky="0" algn="bl" rotWithShape="0" blurRad="12700" dist="50800" dir="2700000">
              <a:srgbClr val="BFC8D4">
                <a:alpha val="18000"/>
              </a:srgbClr>
            </a:outerShdw>
          </a:effectLst>
        </p:spPr>
      </p:sp>
      <p:sp>
        <p:nvSpPr>
          <p:cNvPr id="14" name="Shape 12"/>
          <p:cNvSpPr/>
          <p:nvPr/>
        </p:nvSpPr>
        <p:spPr>
          <a:xfrm>
            <a:off x="4315968" y="2194560"/>
            <a:ext cx="786384" cy="237744"/>
          </a:xfrm>
          <a:prstGeom prst="roundRect">
            <a:avLst>
              <a:gd name="adj" fmla="val 11538"/>
            </a:avLst>
          </a:prstGeom>
          <a:solidFill>
            <a:srgbClr val="F6E7CB"/>
          </a:solidFill>
          <a:ln w="12700">
            <a:solidFill>
              <a:srgbClr val="F6E7CB"/>
            </a:solidFill>
            <a:prstDash val="solid"/>
          </a:ln>
        </p:spPr>
      </p:sp>
      <p:sp>
        <p:nvSpPr>
          <p:cNvPr id="15" name="Text 13"/>
          <p:cNvSpPr/>
          <p:nvPr/>
        </p:nvSpPr>
        <p:spPr>
          <a:xfrm>
            <a:off x="4352544" y="2249424"/>
            <a:ext cx="713232" cy="109728"/>
          </a:xfrm>
          <a:prstGeom prst="rect">
            <a:avLst/>
          </a:prstGeom>
          <a:noFill/>
          <a:ln/>
        </p:spPr>
        <p:txBody>
          <a:bodyPr wrap="square" lIns="0" tIns="0" rIns="0" bIns="0" rtlCol="0" anchor="ctr"/>
          <a:lstStyle/>
          <a:p>
            <a:pPr algn="ctr" indent="0" marL="0">
              <a:buNone/>
            </a:pPr>
            <a:r>
              <a:rPr lang="en-US" sz="800" b="1" spc="100" kern="0" dirty="0">
                <a:solidFill>
                  <a:srgbClr val="172033"/>
                </a:solidFill>
                <a:latin typeface="Aptos" pitchFamily="34" charset="0"/>
                <a:ea typeface="Aptos" pitchFamily="34" charset="-122"/>
                <a:cs typeface="Aptos" pitchFamily="34" charset="-120"/>
              </a:rPr>
              <a:t>COHHERENCE</a:t>
            </a:r>
            <a:endParaRPr lang="en-US" sz="800" dirty="0"/>
          </a:p>
        </p:txBody>
      </p:sp>
      <p:sp>
        <p:nvSpPr>
          <p:cNvPr id="16" name="Text 14"/>
          <p:cNvSpPr/>
          <p:nvPr/>
        </p:nvSpPr>
        <p:spPr>
          <a:xfrm>
            <a:off x="4315968" y="2670048"/>
            <a:ext cx="2377440" cy="365760"/>
          </a:xfrm>
          <a:prstGeom prst="rect">
            <a:avLst/>
          </a:prstGeom>
          <a:noFill/>
          <a:ln/>
        </p:spPr>
        <p:txBody>
          <a:bodyPr wrap="square" lIns="0" tIns="0" rIns="0" bIns="0" rtlCol="0" anchor="ctr"/>
          <a:lstStyle/>
          <a:p>
            <a:pPr indent="0" marL="0">
              <a:buNone/>
            </a:pPr>
            <a:r>
              <a:rPr lang="en-US" sz="1550" b="1" dirty="0">
                <a:solidFill>
                  <a:srgbClr val="172033"/>
                </a:solidFill>
                <a:latin typeface="Aptos Display" pitchFamily="34" charset="0"/>
                <a:ea typeface="Aptos Display" pitchFamily="34" charset="-122"/>
                <a:cs typeface="Aptos Display" pitchFamily="34" charset="-120"/>
              </a:rPr>
              <a:t>Transaction Prisma</a:t>
            </a:r>
            <a:endParaRPr lang="en-US" sz="1550" dirty="0"/>
          </a:p>
        </p:txBody>
      </p:sp>
      <p:sp>
        <p:nvSpPr>
          <p:cNvPr id="17" name="Text 15"/>
          <p:cNvSpPr/>
          <p:nvPr/>
        </p:nvSpPr>
        <p:spPr>
          <a:xfrm>
            <a:off x="4315968" y="3218688"/>
            <a:ext cx="2578608" cy="1463040"/>
          </a:xfrm>
          <a:prstGeom prst="rect">
            <a:avLst/>
          </a:prstGeom>
          <a:noFill/>
          <a:ln/>
        </p:spPr>
        <p:txBody>
          <a:bodyPr wrap="square" lIns="0" tIns="0" rIns="0" bIns="0" rtlCol="0" anchor="ctr"/>
          <a:lstStyle/>
          <a:p>
            <a:pPr indent="0" marL="0">
              <a:buNone/>
            </a:pPr>
            <a:r>
              <a:rPr lang="en-US" sz="1040" dirty="0">
                <a:solidFill>
                  <a:srgbClr val="334155"/>
                </a:solidFill>
                <a:latin typeface="Aptos" pitchFamily="34" charset="0"/>
                <a:ea typeface="Aptos" pitchFamily="34" charset="-122"/>
                <a:cs typeface="Aptos" pitchFamily="34" charset="-120"/>
              </a:rPr>
              <a:t>Stock, mouvement, audit et alertes vivent dans la meme transaction. L'application evite les etats partiels et les corrections manuelles.</a:t>
            </a:r>
            <a:endParaRPr lang="en-US" sz="1040" dirty="0"/>
          </a:p>
        </p:txBody>
      </p:sp>
      <p:sp>
        <p:nvSpPr>
          <p:cNvPr id="18" name="Shape 16"/>
          <p:cNvSpPr/>
          <p:nvPr/>
        </p:nvSpPr>
        <p:spPr>
          <a:xfrm>
            <a:off x="7680960" y="1938528"/>
            <a:ext cx="3072384" cy="3547872"/>
          </a:xfrm>
          <a:prstGeom prst="roundRect">
            <a:avLst>
              <a:gd name="adj" fmla="val 1786"/>
            </a:avLst>
          </a:prstGeom>
          <a:solidFill>
            <a:srgbClr val="FFFFFF"/>
          </a:solidFill>
          <a:ln w="12700">
            <a:solidFill>
              <a:srgbClr val="D8E0EA"/>
            </a:solidFill>
            <a:prstDash val="solid"/>
          </a:ln>
          <a:effectLst>
            <a:outerShdw sx="100000" sy="100000" kx="0" ky="0" algn="bl" rotWithShape="0" blurRad="12700" dist="50800" dir="2700000">
              <a:srgbClr val="BFC8D4">
                <a:alpha val="18000"/>
              </a:srgbClr>
            </a:outerShdw>
          </a:effectLst>
        </p:spPr>
      </p:sp>
      <p:sp>
        <p:nvSpPr>
          <p:cNvPr id="19" name="Shape 17"/>
          <p:cNvSpPr/>
          <p:nvPr/>
        </p:nvSpPr>
        <p:spPr>
          <a:xfrm>
            <a:off x="7900416" y="2194560"/>
            <a:ext cx="786384" cy="237744"/>
          </a:xfrm>
          <a:prstGeom prst="roundRect">
            <a:avLst>
              <a:gd name="adj" fmla="val 11538"/>
            </a:avLst>
          </a:prstGeom>
          <a:solidFill>
            <a:srgbClr val="DCE4F0"/>
          </a:solidFill>
          <a:ln w="12700">
            <a:solidFill>
              <a:srgbClr val="DCE4F0"/>
            </a:solidFill>
            <a:prstDash val="solid"/>
          </a:ln>
        </p:spPr>
      </p:sp>
      <p:sp>
        <p:nvSpPr>
          <p:cNvPr id="20" name="Text 18"/>
          <p:cNvSpPr/>
          <p:nvPr/>
        </p:nvSpPr>
        <p:spPr>
          <a:xfrm>
            <a:off x="7936992" y="2249424"/>
            <a:ext cx="713232" cy="109728"/>
          </a:xfrm>
          <a:prstGeom prst="rect">
            <a:avLst/>
          </a:prstGeom>
          <a:noFill/>
          <a:ln/>
        </p:spPr>
        <p:txBody>
          <a:bodyPr wrap="square" lIns="0" tIns="0" rIns="0" bIns="0" rtlCol="0" anchor="ctr"/>
          <a:lstStyle/>
          <a:p>
            <a:pPr algn="ctr" indent="0" marL="0">
              <a:buNone/>
            </a:pPr>
            <a:r>
              <a:rPr lang="en-US" sz="800" b="1" spc="100" kern="0" dirty="0">
                <a:solidFill>
                  <a:srgbClr val="172033"/>
                </a:solidFill>
                <a:latin typeface="Aptos" pitchFamily="34" charset="0"/>
                <a:ea typeface="Aptos" pitchFamily="34" charset="-122"/>
                <a:cs typeface="Aptos" pitchFamily="34" charset="-120"/>
              </a:rPr>
              <a:t>PERFORMANCE</a:t>
            </a:r>
            <a:endParaRPr lang="en-US" sz="800" dirty="0"/>
          </a:p>
        </p:txBody>
      </p:sp>
      <p:sp>
        <p:nvSpPr>
          <p:cNvPr id="21" name="Text 19"/>
          <p:cNvSpPr/>
          <p:nvPr/>
        </p:nvSpPr>
        <p:spPr>
          <a:xfrm>
            <a:off x="7900416" y="2670048"/>
            <a:ext cx="2377440" cy="365760"/>
          </a:xfrm>
          <a:prstGeom prst="rect">
            <a:avLst/>
          </a:prstGeom>
          <a:noFill/>
          <a:ln/>
        </p:spPr>
        <p:txBody>
          <a:bodyPr wrap="square" lIns="0" tIns="0" rIns="0" bIns="0" rtlCol="0" anchor="ctr"/>
          <a:lstStyle/>
          <a:p>
            <a:pPr indent="0" marL="0">
              <a:buNone/>
            </a:pPr>
            <a:r>
              <a:rPr lang="en-US" sz="1550" b="1" dirty="0">
                <a:solidFill>
                  <a:srgbClr val="172033"/>
                </a:solidFill>
                <a:latin typeface="Aptos Display" pitchFamily="34" charset="0"/>
                <a:ea typeface="Aptos Display" pitchFamily="34" charset="-122"/>
                <a:cs typeface="Aptos Display" pitchFamily="34" charset="-120"/>
              </a:rPr>
              <a:t>currentStock en cache</a:t>
            </a:r>
            <a:endParaRPr lang="en-US" sz="1550" dirty="0"/>
          </a:p>
        </p:txBody>
      </p:sp>
      <p:sp>
        <p:nvSpPr>
          <p:cNvPr id="22" name="Text 20"/>
          <p:cNvSpPr/>
          <p:nvPr/>
        </p:nvSpPr>
        <p:spPr>
          <a:xfrm>
            <a:off x="7900416" y="3218688"/>
            <a:ext cx="2578608" cy="1463040"/>
          </a:xfrm>
          <a:prstGeom prst="rect">
            <a:avLst/>
          </a:prstGeom>
          <a:noFill/>
          <a:ln/>
        </p:spPr>
        <p:txBody>
          <a:bodyPr wrap="square" lIns="0" tIns="0" rIns="0" bIns="0" rtlCol="0" anchor="ctr"/>
          <a:lstStyle/>
          <a:p>
            <a:pPr indent="0" marL="0">
              <a:buNone/>
            </a:pPr>
            <a:r>
              <a:rPr lang="en-US" sz="1040" dirty="0">
                <a:solidFill>
                  <a:srgbClr val="334155"/>
                </a:solidFill>
                <a:latin typeface="Aptos" pitchFamily="34" charset="0"/>
                <a:ea typeface="Aptos" pitchFamily="34" charset="-122"/>
                <a:cs typeface="Aptos" pitchFamily="34" charset="-120"/>
              </a:rPr>
              <a:t>La colonne currentStock evite de recalculer le stock depuis tout l'historique a chaque lecture. Le reporting reste rapide sans sacrifier la trace.</a:t>
            </a:r>
            <a:endParaRPr lang="en-US" sz="1040" dirty="0"/>
          </a:p>
        </p:txBody>
      </p:sp>
      <p:sp>
        <p:nvSpPr>
          <p:cNvPr id="23" name="Text 21"/>
          <p:cNvSpPr/>
          <p:nvPr/>
        </p:nvSpPr>
        <p:spPr>
          <a:xfrm>
            <a:off x="512064" y="6419088"/>
            <a:ext cx="7772400" cy="164592"/>
          </a:xfrm>
          <a:prstGeom prst="rect">
            <a:avLst/>
          </a:prstGeom>
          <a:noFill/>
          <a:ln/>
        </p:spPr>
        <p:txBody>
          <a:bodyPr wrap="square" lIns="0" tIns="0" rIns="0" bIns="0" rtlCol="0" anchor="ctr"/>
          <a:lstStyle/>
          <a:p>
            <a:pPr indent="0" marL="0">
              <a:buNone/>
            </a:pPr>
            <a:r>
              <a:rPr lang="en-US" sz="800" dirty="0">
                <a:solidFill>
                  <a:srgbClr val="64748B"/>
                </a:solidFill>
                <a:latin typeface="Aptos" pitchFamily="34" charset="0"/>
                <a:ea typeface="Aptos" pitchFamily="34" charset="-122"/>
                <a:cs typeface="Aptos" pitchFamily="34" charset="-120"/>
              </a:rPr>
              <a:t>Ces choix montrent que la qualite d'un projet se joue autant dans les contrats internes que dans les ecrans.</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5F1E8"/>
          </a:solidFill>
          <a:ln w="12700">
            <a:solidFill>
              <a:srgbClr val="F5F1E8">
                <a:alpha val="0"/>
              </a:srgbClr>
            </a:solidFill>
            <a:prstDash val="solid"/>
          </a:ln>
        </p:spPr>
      </p:sp>
      <p:sp>
        <p:nvSpPr>
          <p:cNvPr id="3" name="Shape 1"/>
          <p:cNvSpPr/>
          <p:nvPr/>
        </p:nvSpPr>
        <p:spPr>
          <a:xfrm>
            <a:off x="384048" y="347472"/>
            <a:ext cx="11420856" cy="18288"/>
          </a:xfrm>
          <a:prstGeom prst="rect">
            <a:avLst/>
          </a:prstGeom>
          <a:solidFill>
            <a:srgbClr val="D8E0EA"/>
          </a:solidFill>
          <a:ln w="12700">
            <a:solidFill>
              <a:srgbClr val="D8E0EA"/>
            </a:solidFill>
            <a:prstDash val="solid"/>
          </a:ln>
        </p:spPr>
      </p:sp>
      <p:sp>
        <p:nvSpPr>
          <p:cNvPr id="4" name="Text 2"/>
          <p:cNvSpPr/>
          <p:nvPr/>
        </p:nvSpPr>
        <p:spPr>
          <a:xfrm>
            <a:off x="512064" y="155448"/>
            <a:ext cx="2926080" cy="164592"/>
          </a:xfrm>
          <a:prstGeom prst="rect">
            <a:avLst/>
          </a:prstGeom>
          <a:noFill/>
          <a:ln/>
        </p:spPr>
        <p:txBody>
          <a:bodyPr wrap="square" rtlCol="0" anchor="ctr"/>
          <a:lstStyle/>
          <a:p>
            <a:pPr indent="0" marL="0">
              <a:buNone/>
            </a:pPr>
            <a:r>
              <a:rPr lang="en-US" sz="800" b="1" spc="160" kern="0" dirty="0">
                <a:solidFill>
                  <a:srgbClr val="1F6B52"/>
                </a:solidFill>
                <a:latin typeface="Aptos" pitchFamily="34" charset="0"/>
                <a:ea typeface="Aptos" pitchFamily="34" charset="-122"/>
                <a:cs typeface="Aptos" pitchFamily="34" charset="-120"/>
              </a:rPr>
              <a:t>AVANT / APRES</a:t>
            </a:r>
            <a:endParaRPr lang="en-US" sz="800" dirty="0"/>
          </a:p>
        </p:txBody>
      </p:sp>
      <p:sp>
        <p:nvSpPr>
          <p:cNvPr id="5" name="Text 3"/>
          <p:cNvSpPr/>
          <p:nvPr/>
        </p:nvSpPr>
        <p:spPr>
          <a:xfrm>
            <a:off x="11109960" y="6446520"/>
            <a:ext cx="640080" cy="182880"/>
          </a:xfrm>
          <a:prstGeom prst="rect">
            <a:avLst/>
          </a:prstGeom>
          <a:noFill/>
          <a:ln/>
        </p:spPr>
        <p:txBody>
          <a:bodyPr wrap="square" rtlCol="0" anchor="ctr"/>
          <a:lstStyle/>
          <a:p>
            <a:pPr algn="r" indent="0" marL="0">
              <a:buNone/>
            </a:pPr>
            <a:r>
              <a:rPr lang="en-US" sz="800" dirty="0">
                <a:solidFill>
                  <a:srgbClr val="64748B"/>
                </a:solidFill>
                <a:latin typeface="Aptos" pitchFamily="34" charset="0"/>
                <a:ea typeface="Aptos" pitchFamily="34" charset="-122"/>
                <a:cs typeface="Aptos" pitchFamily="34" charset="-120"/>
              </a:rPr>
              <a:t>10 / 12</a:t>
            </a:r>
            <a:endParaRPr lang="en-US" sz="800" dirty="0"/>
          </a:p>
        </p:txBody>
      </p:sp>
      <p:sp>
        <p:nvSpPr>
          <p:cNvPr id="6" name="Text 4"/>
          <p:cNvSpPr/>
          <p:nvPr/>
        </p:nvSpPr>
        <p:spPr>
          <a:xfrm>
            <a:off x="512064" y="530352"/>
            <a:ext cx="7772400" cy="694944"/>
          </a:xfrm>
          <a:prstGeom prst="rect">
            <a:avLst/>
          </a:prstGeom>
          <a:noFill/>
          <a:ln/>
        </p:spPr>
        <p:txBody>
          <a:bodyPr wrap="square" lIns="0" tIns="0" rIns="0" bIns="0" rtlCol="0" anchor="ctr"/>
          <a:lstStyle/>
          <a:p>
            <a:pPr indent="0" marL="0">
              <a:buNone/>
            </a:pPr>
            <a:r>
              <a:rPr lang="en-US" sz="2400" b="1" dirty="0">
                <a:solidFill>
                  <a:srgbClr val="172033"/>
                </a:solidFill>
                <a:latin typeface="Aptos Display" pitchFamily="34" charset="0"/>
                <a:ea typeface="Aptos Display" pitchFamily="34" charset="-122"/>
                <a:cs typeface="Aptos Display" pitchFamily="34" charset="-120"/>
              </a:rPr>
              <a:t>Le projet remplace une logique de reaction par une logique de prevention.</a:t>
            </a:r>
            <a:endParaRPr lang="en-US" sz="2400" dirty="0"/>
          </a:p>
        </p:txBody>
      </p:sp>
      <p:sp>
        <p:nvSpPr>
          <p:cNvPr id="7" name="Text 5"/>
          <p:cNvSpPr/>
          <p:nvPr/>
        </p:nvSpPr>
        <p:spPr>
          <a:xfrm>
            <a:off x="512064" y="1078992"/>
            <a:ext cx="8138160" cy="411480"/>
          </a:xfrm>
          <a:prstGeom prst="rect">
            <a:avLst/>
          </a:prstGeom>
          <a:noFill/>
          <a:ln/>
        </p:spPr>
        <p:txBody>
          <a:bodyPr wrap="square" lIns="0" tIns="0" rIns="0" bIns="0" rtlCol="0" anchor="ctr"/>
          <a:lstStyle/>
          <a:p>
            <a:pPr indent="0" marL="0">
              <a:buNone/>
            </a:pPr>
            <a:r>
              <a:rPr lang="en-US" sz="1050" dirty="0">
                <a:solidFill>
                  <a:srgbClr val="334155"/>
                </a:solidFill>
                <a:latin typeface="Aptos" pitchFamily="34" charset="0"/>
                <a:ea typeface="Aptos" pitchFamily="34" charset="-122"/>
                <a:cs typeface="Aptos" pitchFamily="34" charset="-120"/>
              </a:rPr>
              <a:t>Le gain n'est pas seulement esthetique ou technique: il change le moment ou le proprietaire prend sa decision.</a:t>
            </a:r>
            <a:endParaRPr lang="en-US" sz="1050" dirty="0"/>
          </a:p>
        </p:txBody>
      </p:sp>
      <p:sp>
        <p:nvSpPr>
          <p:cNvPr id="8" name="Shape 6"/>
          <p:cNvSpPr/>
          <p:nvPr/>
        </p:nvSpPr>
        <p:spPr>
          <a:xfrm>
            <a:off x="658368" y="1847088"/>
            <a:ext cx="5285232" cy="3602736"/>
          </a:xfrm>
          <a:prstGeom prst="roundRect">
            <a:avLst>
              <a:gd name="adj" fmla="val 1523"/>
            </a:avLst>
          </a:prstGeom>
          <a:solidFill>
            <a:srgbClr val="F8EFEF"/>
          </a:solidFill>
          <a:ln w="12700">
            <a:solidFill>
              <a:srgbClr val="E8C6C5"/>
            </a:solidFill>
            <a:prstDash val="solid"/>
          </a:ln>
          <a:effectLst>
            <a:outerShdw sx="100000" sy="100000" kx="0" ky="0" algn="bl" rotWithShape="0" blurRad="12700" dist="50800" dir="2700000">
              <a:srgbClr val="BFC8D4">
                <a:alpha val="18000"/>
              </a:srgbClr>
            </a:outerShdw>
          </a:effectLst>
        </p:spPr>
      </p:sp>
      <p:sp>
        <p:nvSpPr>
          <p:cNvPr id="9" name="Shape 7"/>
          <p:cNvSpPr/>
          <p:nvPr/>
        </p:nvSpPr>
        <p:spPr>
          <a:xfrm>
            <a:off x="6236208" y="1847088"/>
            <a:ext cx="5285232" cy="3602736"/>
          </a:xfrm>
          <a:prstGeom prst="roundRect">
            <a:avLst>
              <a:gd name="adj" fmla="val 1523"/>
            </a:avLst>
          </a:prstGeom>
          <a:solidFill>
            <a:srgbClr val="EEF7F2"/>
          </a:solidFill>
          <a:ln w="12700">
            <a:solidFill>
              <a:srgbClr val="CDE4D8"/>
            </a:solidFill>
            <a:prstDash val="solid"/>
          </a:ln>
          <a:effectLst>
            <a:outerShdw sx="100000" sy="100000" kx="0" ky="0" algn="bl" rotWithShape="0" blurRad="12700" dist="50800" dir="2700000">
              <a:srgbClr val="BFC8D4">
                <a:alpha val="18000"/>
              </a:srgbClr>
            </a:outerShdw>
          </a:effectLst>
        </p:spPr>
      </p:sp>
      <p:sp>
        <p:nvSpPr>
          <p:cNvPr id="10" name="Text 8"/>
          <p:cNvSpPr/>
          <p:nvPr/>
        </p:nvSpPr>
        <p:spPr>
          <a:xfrm>
            <a:off x="914400" y="2084832"/>
            <a:ext cx="822960" cy="164592"/>
          </a:xfrm>
          <a:prstGeom prst="rect">
            <a:avLst/>
          </a:prstGeom>
          <a:noFill/>
          <a:ln/>
        </p:spPr>
        <p:txBody>
          <a:bodyPr wrap="square" rtlCol="0" anchor="ctr"/>
          <a:lstStyle/>
          <a:p>
            <a:pPr indent="0" marL="0">
              <a:buNone/>
            </a:pPr>
            <a:r>
              <a:rPr lang="en-US" sz="840" b="1" spc="140" kern="0" dirty="0">
                <a:solidFill>
                  <a:srgbClr val="B94A48"/>
                </a:solidFill>
                <a:latin typeface="Aptos" pitchFamily="34" charset="0"/>
                <a:ea typeface="Aptos" pitchFamily="34" charset="-122"/>
                <a:cs typeface="Aptos" pitchFamily="34" charset="-120"/>
              </a:rPr>
              <a:t>AVANT</a:t>
            </a:r>
            <a:endParaRPr lang="en-US" sz="840" dirty="0"/>
          </a:p>
        </p:txBody>
      </p:sp>
      <p:sp>
        <p:nvSpPr>
          <p:cNvPr id="11" name="Text 9"/>
          <p:cNvSpPr/>
          <p:nvPr/>
        </p:nvSpPr>
        <p:spPr>
          <a:xfrm>
            <a:off x="914400" y="2432304"/>
            <a:ext cx="4206240" cy="347472"/>
          </a:xfrm>
          <a:prstGeom prst="rect">
            <a:avLst/>
          </a:prstGeom>
          <a:noFill/>
          <a:ln/>
        </p:spPr>
        <p:txBody>
          <a:bodyPr wrap="square" lIns="0" tIns="0" rIns="0" bIns="0" rtlCol="0" anchor="ctr"/>
          <a:lstStyle/>
          <a:p>
            <a:pPr indent="0" marL="0">
              <a:buNone/>
            </a:pPr>
            <a:r>
              <a:rPr lang="en-US" sz="1800" b="1" dirty="0">
                <a:solidFill>
                  <a:srgbClr val="172033"/>
                </a:solidFill>
                <a:latin typeface="Aptos Display" pitchFamily="34" charset="0"/>
                <a:ea typeface="Aptos Display" pitchFamily="34" charset="-122"/>
                <a:cs typeface="Aptos Display" pitchFamily="34" charset="-120"/>
              </a:rPr>
              <a:t>Le magasin voit le probleme quand il est deja trop tard.</a:t>
            </a:r>
            <a:endParaRPr lang="en-US" sz="1800" dirty="0"/>
          </a:p>
        </p:txBody>
      </p:sp>
      <p:sp>
        <p:nvSpPr>
          <p:cNvPr id="12" name="Shape 10"/>
          <p:cNvSpPr/>
          <p:nvPr/>
        </p:nvSpPr>
        <p:spPr>
          <a:xfrm>
            <a:off x="914400" y="3108960"/>
            <a:ext cx="91440" cy="91440"/>
          </a:xfrm>
          <a:prstGeom prst="ellipse">
            <a:avLst/>
          </a:prstGeom>
          <a:solidFill>
            <a:srgbClr val="B94A48"/>
          </a:solidFill>
          <a:ln w="12700">
            <a:solidFill>
              <a:srgbClr val="B94A48"/>
            </a:solidFill>
            <a:prstDash val="solid"/>
          </a:ln>
        </p:spPr>
      </p:sp>
      <p:sp>
        <p:nvSpPr>
          <p:cNvPr id="13" name="Text 11"/>
          <p:cNvSpPr/>
          <p:nvPr/>
        </p:nvSpPr>
        <p:spPr>
          <a:xfrm>
            <a:off x="1078992" y="3054096"/>
            <a:ext cx="4023360" cy="228600"/>
          </a:xfrm>
          <a:prstGeom prst="rect">
            <a:avLst/>
          </a:prstGeom>
          <a:noFill/>
          <a:ln/>
        </p:spPr>
        <p:txBody>
          <a:bodyPr wrap="square" lIns="0" tIns="0" rIns="0" bIns="0" rtlCol="0" anchor="ctr"/>
          <a:lstStyle/>
          <a:p>
            <a:pPr indent="0" marL="0">
              <a:buNone/>
            </a:pPr>
            <a:r>
              <a:rPr lang="en-US" sz="1050" dirty="0">
                <a:solidFill>
                  <a:srgbClr val="334155"/>
                </a:solidFill>
                <a:latin typeface="Aptos" pitchFamily="34" charset="0"/>
                <a:ea typeface="Aptos" pitchFamily="34" charset="-122"/>
                <a:cs typeface="Aptos" pitchFamily="34" charset="-120"/>
              </a:rPr>
              <a:t>Stock verifie manuellement ou de memoire</a:t>
            </a:r>
            <a:endParaRPr lang="en-US" sz="1050" dirty="0"/>
          </a:p>
        </p:txBody>
      </p:sp>
      <p:sp>
        <p:nvSpPr>
          <p:cNvPr id="14" name="Shape 12"/>
          <p:cNvSpPr/>
          <p:nvPr/>
        </p:nvSpPr>
        <p:spPr>
          <a:xfrm>
            <a:off x="914400" y="3621024"/>
            <a:ext cx="91440" cy="91440"/>
          </a:xfrm>
          <a:prstGeom prst="ellipse">
            <a:avLst/>
          </a:prstGeom>
          <a:solidFill>
            <a:srgbClr val="B94A48"/>
          </a:solidFill>
          <a:ln w="12700">
            <a:solidFill>
              <a:srgbClr val="B94A48"/>
            </a:solidFill>
            <a:prstDash val="solid"/>
          </a:ln>
        </p:spPr>
      </p:sp>
      <p:sp>
        <p:nvSpPr>
          <p:cNvPr id="15" name="Text 13"/>
          <p:cNvSpPr/>
          <p:nvPr/>
        </p:nvSpPr>
        <p:spPr>
          <a:xfrm>
            <a:off x="1078992" y="3566160"/>
            <a:ext cx="4023360" cy="228600"/>
          </a:xfrm>
          <a:prstGeom prst="rect">
            <a:avLst/>
          </a:prstGeom>
          <a:noFill/>
          <a:ln/>
        </p:spPr>
        <p:txBody>
          <a:bodyPr wrap="square" lIns="0" tIns="0" rIns="0" bIns="0" rtlCol="0" anchor="ctr"/>
          <a:lstStyle/>
          <a:p>
            <a:pPr indent="0" marL="0">
              <a:buNone/>
            </a:pPr>
            <a:r>
              <a:rPr lang="en-US" sz="1050" dirty="0">
                <a:solidFill>
                  <a:srgbClr val="334155"/>
                </a:solidFill>
                <a:latin typeface="Aptos" pitchFamily="34" charset="0"/>
                <a:ea typeface="Aptos" pitchFamily="34" charset="-122"/>
                <a:cs typeface="Aptos" pitchFamily="34" charset="-120"/>
              </a:rPr>
              <a:t>Dates de peremption hors systeme</a:t>
            </a:r>
            <a:endParaRPr lang="en-US" sz="1050" dirty="0"/>
          </a:p>
        </p:txBody>
      </p:sp>
      <p:sp>
        <p:nvSpPr>
          <p:cNvPr id="16" name="Shape 14"/>
          <p:cNvSpPr/>
          <p:nvPr/>
        </p:nvSpPr>
        <p:spPr>
          <a:xfrm>
            <a:off x="914400" y="4133088"/>
            <a:ext cx="91440" cy="91440"/>
          </a:xfrm>
          <a:prstGeom prst="ellipse">
            <a:avLst/>
          </a:prstGeom>
          <a:solidFill>
            <a:srgbClr val="B94A48"/>
          </a:solidFill>
          <a:ln w="12700">
            <a:solidFill>
              <a:srgbClr val="B94A48"/>
            </a:solidFill>
            <a:prstDash val="solid"/>
          </a:ln>
        </p:spPr>
      </p:sp>
      <p:sp>
        <p:nvSpPr>
          <p:cNvPr id="17" name="Text 15"/>
          <p:cNvSpPr/>
          <p:nvPr/>
        </p:nvSpPr>
        <p:spPr>
          <a:xfrm>
            <a:off x="1078992" y="4078224"/>
            <a:ext cx="4023360" cy="228600"/>
          </a:xfrm>
          <a:prstGeom prst="rect">
            <a:avLst/>
          </a:prstGeom>
          <a:noFill/>
          <a:ln/>
        </p:spPr>
        <p:txBody>
          <a:bodyPr wrap="square" lIns="0" tIns="0" rIns="0" bIns="0" rtlCol="0" anchor="ctr"/>
          <a:lstStyle/>
          <a:p>
            <a:pPr indent="0" marL="0">
              <a:buNone/>
            </a:pPr>
            <a:r>
              <a:rPr lang="en-US" sz="1050" dirty="0">
                <a:solidFill>
                  <a:srgbClr val="334155"/>
                </a:solidFill>
                <a:latin typeface="Aptos" pitchFamily="34" charset="0"/>
                <a:ea typeface="Aptos" pitchFamily="34" charset="-122"/>
                <a:cs typeface="Aptos" pitchFamily="34" charset="-120"/>
              </a:rPr>
              <a:t>Rupture detectee devant le client</a:t>
            </a:r>
            <a:endParaRPr lang="en-US" sz="1050" dirty="0"/>
          </a:p>
        </p:txBody>
      </p:sp>
      <p:sp>
        <p:nvSpPr>
          <p:cNvPr id="18" name="Shape 16"/>
          <p:cNvSpPr/>
          <p:nvPr/>
        </p:nvSpPr>
        <p:spPr>
          <a:xfrm>
            <a:off x="914400" y="4645152"/>
            <a:ext cx="91440" cy="91440"/>
          </a:xfrm>
          <a:prstGeom prst="ellipse">
            <a:avLst/>
          </a:prstGeom>
          <a:solidFill>
            <a:srgbClr val="B94A48"/>
          </a:solidFill>
          <a:ln w="12700">
            <a:solidFill>
              <a:srgbClr val="B94A48"/>
            </a:solidFill>
            <a:prstDash val="solid"/>
          </a:ln>
        </p:spPr>
      </p:sp>
      <p:sp>
        <p:nvSpPr>
          <p:cNvPr id="19" name="Text 17"/>
          <p:cNvSpPr/>
          <p:nvPr/>
        </p:nvSpPr>
        <p:spPr>
          <a:xfrm>
            <a:off x="1078992" y="4590288"/>
            <a:ext cx="4023360" cy="228600"/>
          </a:xfrm>
          <a:prstGeom prst="rect">
            <a:avLst/>
          </a:prstGeom>
          <a:noFill/>
          <a:ln/>
        </p:spPr>
        <p:txBody>
          <a:bodyPr wrap="square" lIns="0" tIns="0" rIns="0" bIns="0" rtlCol="0" anchor="ctr"/>
          <a:lstStyle/>
          <a:p>
            <a:pPr indent="0" marL="0">
              <a:buNone/>
            </a:pPr>
            <a:r>
              <a:rPr lang="en-US" sz="1050" dirty="0">
                <a:solidFill>
                  <a:srgbClr val="334155"/>
                </a:solidFill>
                <a:latin typeface="Aptos" pitchFamily="34" charset="0"/>
                <a:ea typeface="Aptos" pitchFamily="34" charset="-122"/>
                <a:cs typeface="Aptos" pitchFamily="34" charset="-120"/>
              </a:rPr>
              <a:t>Reapprovisionnement decide trop tard</a:t>
            </a:r>
            <a:endParaRPr lang="en-US" sz="1050" dirty="0"/>
          </a:p>
        </p:txBody>
      </p:sp>
      <p:sp>
        <p:nvSpPr>
          <p:cNvPr id="20" name="Text 18"/>
          <p:cNvSpPr/>
          <p:nvPr/>
        </p:nvSpPr>
        <p:spPr>
          <a:xfrm>
            <a:off x="6510528" y="2084832"/>
            <a:ext cx="822960" cy="164592"/>
          </a:xfrm>
          <a:prstGeom prst="rect">
            <a:avLst/>
          </a:prstGeom>
          <a:noFill/>
          <a:ln/>
        </p:spPr>
        <p:txBody>
          <a:bodyPr wrap="square" rtlCol="0" anchor="ctr"/>
          <a:lstStyle/>
          <a:p>
            <a:pPr indent="0" marL="0">
              <a:buNone/>
            </a:pPr>
            <a:r>
              <a:rPr lang="en-US" sz="840" b="1" spc="140" kern="0" dirty="0">
                <a:solidFill>
                  <a:srgbClr val="1F6B52"/>
                </a:solidFill>
                <a:latin typeface="Aptos" pitchFamily="34" charset="0"/>
                <a:ea typeface="Aptos" pitchFamily="34" charset="-122"/>
                <a:cs typeface="Aptos" pitchFamily="34" charset="-120"/>
              </a:rPr>
              <a:t>APRES</a:t>
            </a:r>
            <a:endParaRPr lang="en-US" sz="840" dirty="0"/>
          </a:p>
        </p:txBody>
      </p:sp>
      <p:sp>
        <p:nvSpPr>
          <p:cNvPr id="21" name="Text 19"/>
          <p:cNvSpPr/>
          <p:nvPr/>
        </p:nvSpPr>
        <p:spPr>
          <a:xfrm>
            <a:off x="6510528" y="2432304"/>
            <a:ext cx="4297680" cy="347472"/>
          </a:xfrm>
          <a:prstGeom prst="rect">
            <a:avLst/>
          </a:prstGeom>
          <a:noFill/>
          <a:ln/>
        </p:spPr>
        <p:txBody>
          <a:bodyPr wrap="square" lIns="0" tIns="0" rIns="0" bIns="0" rtlCol="0" anchor="ctr"/>
          <a:lstStyle/>
          <a:p>
            <a:pPr indent="0" marL="0">
              <a:buNone/>
            </a:pPr>
            <a:r>
              <a:rPr lang="en-US" sz="1800" b="1" dirty="0">
                <a:solidFill>
                  <a:srgbClr val="172033"/>
                </a:solidFill>
                <a:latin typeface="Aptos Display" pitchFamily="34" charset="0"/>
                <a:ea typeface="Aptos Display" pitchFamily="34" charset="-122"/>
                <a:cs typeface="Aptos Display" pitchFamily="34" charset="-120"/>
              </a:rPr>
              <a:t>Le systeme anticipe le risque et pousse l'action utile.</a:t>
            </a:r>
            <a:endParaRPr lang="en-US" sz="1800" dirty="0"/>
          </a:p>
        </p:txBody>
      </p:sp>
      <p:sp>
        <p:nvSpPr>
          <p:cNvPr id="22" name="Shape 20"/>
          <p:cNvSpPr/>
          <p:nvPr/>
        </p:nvSpPr>
        <p:spPr>
          <a:xfrm>
            <a:off x="6510528" y="3108960"/>
            <a:ext cx="91440" cy="91440"/>
          </a:xfrm>
          <a:prstGeom prst="ellipse">
            <a:avLst/>
          </a:prstGeom>
          <a:solidFill>
            <a:srgbClr val="1F6B52"/>
          </a:solidFill>
          <a:ln w="12700">
            <a:solidFill>
              <a:srgbClr val="1F6B52"/>
            </a:solidFill>
            <a:prstDash val="solid"/>
          </a:ln>
        </p:spPr>
      </p:sp>
      <p:sp>
        <p:nvSpPr>
          <p:cNvPr id="23" name="Text 21"/>
          <p:cNvSpPr/>
          <p:nvPr/>
        </p:nvSpPr>
        <p:spPr>
          <a:xfrm>
            <a:off x="6675120" y="3054096"/>
            <a:ext cx="4069080" cy="228600"/>
          </a:xfrm>
          <a:prstGeom prst="rect">
            <a:avLst/>
          </a:prstGeom>
          <a:noFill/>
          <a:ln/>
        </p:spPr>
        <p:txBody>
          <a:bodyPr wrap="square" lIns="0" tIns="0" rIns="0" bIns="0" rtlCol="0" anchor="ctr"/>
          <a:lstStyle/>
          <a:p>
            <a:pPr indent="0" marL="0">
              <a:buNone/>
            </a:pPr>
            <a:r>
              <a:rPr lang="en-US" sz="1050" dirty="0">
                <a:solidFill>
                  <a:srgbClr val="334155"/>
                </a:solidFill>
                <a:latin typeface="Aptos" pitchFamily="34" charset="0"/>
                <a:ea typeface="Aptos" pitchFamily="34" charset="-122"/>
                <a:cs typeface="Aptos" pitchFamily="34" charset="-120"/>
              </a:rPr>
              <a:t>Stock visible produit par produit</a:t>
            </a:r>
            <a:endParaRPr lang="en-US" sz="1050" dirty="0"/>
          </a:p>
        </p:txBody>
      </p:sp>
      <p:sp>
        <p:nvSpPr>
          <p:cNvPr id="24" name="Shape 22"/>
          <p:cNvSpPr/>
          <p:nvPr/>
        </p:nvSpPr>
        <p:spPr>
          <a:xfrm>
            <a:off x="6510528" y="3621024"/>
            <a:ext cx="91440" cy="91440"/>
          </a:xfrm>
          <a:prstGeom prst="ellipse">
            <a:avLst/>
          </a:prstGeom>
          <a:solidFill>
            <a:srgbClr val="1F6B52"/>
          </a:solidFill>
          <a:ln w="12700">
            <a:solidFill>
              <a:srgbClr val="1F6B52"/>
            </a:solidFill>
            <a:prstDash val="solid"/>
          </a:ln>
        </p:spPr>
      </p:sp>
      <p:sp>
        <p:nvSpPr>
          <p:cNvPr id="25" name="Text 23"/>
          <p:cNvSpPr/>
          <p:nvPr/>
        </p:nvSpPr>
        <p:spPr>
          <a:xfrm>
            <a:off x="6675120" y="3566160"/>
            <a:ext cx="4069080" cy="228600"/>
          </a:xfrm>
          <a:prstGeom prst="rect">
            <a:avLst/>
          </a:prstGeom>
          <a:noFill/>
          <a:ln/>
        </p:spPr>
        <p:txBody>
          <a:bodyPr wrap="square" lIns="0" tIns="0" rIns="0" bIns="0" rtlCol="0" anchor="ctr"/>
          <a:lstStyle/>
          <a:p>
            <a:pPr indent="0" marL="0">
              <a:buNone/>
            </a:pPr>
            <a:r>
              <a:rPr lang="en-US" sz="1050" dirty="0">
                <a:solidFill>
                  <a:srgbClr val="334155"/>
                </a:solidFill>
                <a:latin typeface="Aptos" pitchFamily="34" charset="0"/>
                <a:ea typeface="Aptos" pitchFamily="34" charset="-122"/>
                <a:cs typeface="Aptos" pitchFamily="34" charset="-120"/>
              </a:rPr>
              <a:t>Seuils et dates surveilles en continu</a:t>
            </a:r>
            <a:endParaRPr lang="en-US" sz="1050" dirty="0"/>
          </a:p>
        </p:txBody>
      </p:sp>
      <p:sp>
        <p:nvSpPr>
          <p:cNvPr id="26" name="Shape 24"/>
          <p:cNvSpPr/>
          <p:nvPr/>
        </p:nvSpPr>
        <p:spPr>
          <a:xfrm>
            <a:off x="6510528" y="4133088"/>
            <a:ext cx="91440" cy="91440"/>
          </a:xfrm>
          <a:prstGeom prst="ellipse">
            <a:avLst/>
          </a:prstGeom>
          <a:solidFill>
            <a:srgbClr val="1F6B52"/>
          </a:solidFill>
          <a:ln w="12700">
            <a:solidFill>
              <a:srgbClr val="1F6B52"/>
            </a:solidFill>
            <a:prstDash val="solid"/>
          </a:ln>
        </p:spPr>
      </p:sp>
      <p:sp>
        <p:nvSpPr>
          <p:cNvPr id="27" name="Text 25"/>
          <p:cNvSpPr/>
          <p:nvPr/>
        </p:nvSpPr>
        <p:spPr>
          <a:xfrm>
            <a:off x="6675120" y="4078224"/>
            <a:ext cx="4069080" cy="228600"/>
          </a:xfrm>
          <a:prstGeom prst="rect">
            <a:avLst/>
          </a:prstGeom>
          <a:noFill/>
          <a:ln/>
        </p:spPr>
        <p:txBody>
          <a:bodyPr wrap="square" lIns="0" tIns="0" rIns="0" bIns="0" rtlCol="0" anchor="ctr"/>
          <a:lstStyle/>
          <a:p>
            <a:pPr indent="0" marL="0">
              <a:buNone/>
            </a:pPr>
            <a:r>
              <a:rPr lang="en-US" sz="1050" dirty="0">
                <a:solidFill>
                  <a:srgbClr val="334155"/>
                </a:solidFill>
                <a:latin typeface="Aptos" pitchFamily="34" charset="0"/>
                <a:ea typeface="Aptos" pitchFamily="34" charset="-122"/>
                <a:cs typeface="Aptos" pitchFamily="34" charset="-120"/>
              </a:rPr>
              <a:t>Alertes visibles avant l'impact client</a:t>
            </a:r>
            <a:endParaRPr lang="en-US" sz="1050" dirty="0"/>
          </a:p>
        </p:txBody>
      </p:sp>
      <p:sp>
        <p:nvSpPr>
          <p:cNvPr id="28" name="Shape 26"/>
          <p:cNvSpPr/>
          <p:nvPr/>
        </p:nvSpPr>
        <p:spPr>
          <a:xfrm>
            <a:off x="6510528" y="4645152"/>
            <a:ext cx="91440" cy="91440"/>
          </a:xfrm>
          <a:prstGeom prst="ellipse">
            <a:avLst/>
          </a:prstGeom>
          <a:solidFill>
            <a:srgbClr val="1F6B52"/>
          </a:solidFill>
          <a:ln w="12700">
            <a:solidFill>
              <a:srgbClr val="1F6B52"/>
            </a:solidFill>
            <a:prstDash val="solid"/>
          </a:ln>
        </p:spPr>
      </p:sp>
      <p:sp>
        <p:nvSpPr>
          <p:cNvPr id="29" name="Text 27"/>
          <p:cNvSpPr/>
          <p:nvPr/>
        </p:nvSpPr>
        <p:spPr>
          <a:xfrm>
            <a:off x="6675120" y="4590288"/>
            <a:ext cx="4069080" cy="228600"/>
          </a:xfrm>
          <a:prstGeom prst="rect">
            <a:avLst/>
          </a:prstGeom>
          <a:noFill/>
          <a:ln/>
        </p:spPr>
        <p:txBody>
          <a:bodyPr wrap="square" lIns="0" tIns="0" rIns="0" bIns="0" rtlCol="0" anchor="ctr"/>
          <a:lstStyle/>
          <a:p>
            <a:pPr indent="0" marL="0">
              <a:buNone/>
            </a:pPr>
            <a:r>
              <a:rPr lang="en-US" sz="1050" dirty="0">
                <a:solidFill>
                  <a:srgbClr val="334155"/>
                </a:solidFill>
                <a:latin typeface="Aptos" pitchFamily="34" charset="0"/>
                <a:ea typeface="Aptos" pitchFamily="34" charset="-122"/>
                <a:cs typeface="Aptos" pitchFamily="34" charset="-120"/>
              </a:rPr>
              <a:t>Correction guidee depuis le dashboard</a:t>
            </a:r>
            <a:endParaRPr lang="en-US" sz="1050" dirty="0"/>
          </a:p>
        </p:txBody>
      </p:sp>
      <p:sp>
        <p:nvSpPr>
          <p:cNvPr id="30" name="Text 28"/>
          <p:cNvSpPr/>
          <p:nvPr/>
        </p:nvSpPr>
        <p:spPr>
          <a:xfrm>
            <a:off x="512064" y="6419088"/>
            <a:ext cx="7772400" cy="164592"/>
          </a:xfrm>
          <a:prstGeom prst="rect">
            <a:avLst/>
          </a:prstGeom>
          <a:noFill/>
          <a:ln/>
        </p:spPr>
        <p:txBody>
          <a:bodyPr wrap="square" lIns="0" tIns="0" rIns="0" bIns="0" rtlCol="0" anchor="ctr"/>
          <a:lstStyle/>
          <a:p>
            <a:pPr indent="0" marL="0">
              <a:buNone/>
            </a:pPr>
            <a:r>
              <a:rPr lang="en-US" sz="800" dirty="0">
                <a:solidFill>
                  <a:srgbClr val="64748B"/>
                </a:solidFill>
                <a:latin typeface="Aptos" pitchFamily="34" charset="0"/>
                <a:ea typeface="Aptos" pitchFamily="34" charset="-122"/>
                <a:cs typeface="Aptos" pitchFamily="34" charset="-120"/>
              </a:rPr>
              <a:t>Le changement principal: le magasin devient capable d'agir avant la perte de vente.</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5F1E8"/>
          </a:solidFill>
          <a:ln w="12700">
            <a:solidFill>
              <a:srgbClr val="F5F1E8">
                <a:alpha val="0"/>
              </a:srgbClr>
            </a:solidFill>
            <a:prstDash val="solid"/>
          </a:ln>
        </p:spPr>
      </p:sp>
      <p:sp>
        <p:nvSpPr>
          <p:cNvPr id="3" name="Shape 1"/>
          <p:cNvSpPr/>
          <p:nvPr/>
        </p:nvSpPr>
        <p:spPr>
          <a:xfrm>
            <a:off x="384048" y="347472"/>
            <a:ext cx="11420856" cy="18288"/>
          </a:xfrm>
          <a:prstGeom prst="rect">
            <a:avLst/>
          </a:prstGeom>
          <a:solidFill>
            <a:srgbClr val="D8E0EA"/>
          </a:solidFill>
          <a:ln w="12700">
            <a:solidFill>
              <a:srgbClr val="D8E0EA"/>
            </a:solidFill>
            <a:prstDash val="solid"/>
          </a:ln>
        </p:spPr>
      </p:sp>
      <p:sp>
        <p:nvSpPr>
          <p:cNvPr id="4" name="Text 2"/>
          <p:cNvSpPr/>
          <p:nvPr/>
        </p:nvSpPr>
        <p:spPr>
          <a:xfrm>
            <a:off x="512064" y="155448"/>
            <a:ext cx="2926080" cy="164592"/>
          </a:xfrm>
          <a:prstGeom prst="rect">
            <a:avLst/>
          </a:prstGeom>
          <a:noFill/>
          <a:ln/>
        </p:spPr>
        <p:txBody>
          <a:bodyPr wrap="square" rtlCol="0" anchor="ctr"/>
          <a:lstStyle/>
          <a:p>
            <a:pPr indent="0" marL="0">
              <a:buNone/>
            </a:pPr>
            <a:r>
              <a:rPr lang="en-US" sz="800" b="1" spc="160" kern="0" dirty="0">
                <a:solidFill>
                  <a:srgbClr val="1F6B52"/>
                </a:solidFill>
                <a:latin typeface="Aptos" pitchFamily="34" charset="0"/>
                <a:ea typeface="Aptos" pitchFamily="34" charset="-122"/>
                <a:cs typeface="Aptos" pitchFamily="34" charset="-120"/>
              </a:rPr>
              <a:t>APPRENTISSAGES</a:t>
            </a:r>
            <a:endParaRPr lang="en-US" sz="800" dirty="0"/>
          </a:p>
        </p:txBody>
      </p:sp>
      <p:sp>
        <p:nvSpPr>
          <p:cNvPr id="5" name="Text 3"/>
          <p:cNvSpPr/>
          <p:nvPr/>
        </p:nvSpPr>
        <p:spPr>
          <a:xfrm>
            <a:off x="11109960" y="6446520"/>
            <a:ext cx="640080" cy="182880"/>
          </a:xfrm>
          <a:prstGeom prst="rect">
            <a:avLst/>
          </a:prstGeom>
          <a:noFill/>
          <a:ln/>
        </p:spPr>
        <p:txBody>
          <a:bodyPr wrap="square" rtlCol="0" anchor="ctr"/>
          <a:lstStyle/>
          <a:p>
            <a:pPr algn="r" indent="0" marL="0">
              <a:buNone/>
            </a:pPr>
            <a:r>
              <a:rPr lang="en-US" sz="800" dirty="0">
                <a:solidFill>
                  <a:srgbClr val="64748B"/>
                </a:solidFill>
                <a:latin typeface="Aptos" pitchFamily="34" charset="0"/>
                <a:ea typeface="Aptos" pitchFamily="34" charset="-122"/>
                <a:cs typeface="Aptos" pitchFamily="34" charset="-120"/>
              </a:rPr>
              <a:t>11 / 12</a:t>
            </a:r>
            <a:endParaRPr lang="en-US" sz="800" dirty="0"/>
          </a:p>
        </p:txBody>
      </p:sp>
      <p:sp>
        <p:nvSpPr>
          <p:cNvPr id="6" name="Text 4"/>
          <p:cNvSpPr/>
          <p:nvPr/>
        </p:nvSpPr>
        <p:spPr>
          <a:xfrm>
            <a:off x="512064" y="530352"/>
            <a:ext cx="7772400" cy="694944"/>
          </a:xfrm>
          <a:prstGeom prst="rect">
            <a:avLst/>
          </a:prstGeom>
          <a:noFill/>
          <a:ln/>
        </p:spPr>
        <p:txBody>
          <a:bodyPr wrap="square" lIns="0" tIns="0" rIns="0" bIns="0" rtlCol="0" anchor="ctr"/>
          <a:lstStyle/>
          <a:p>
            <a:pPr indent="0" marL="0">
              <a:buNone/>
            </a:pPr>
            <a:r>
              <a:rPr lang="en-US" sz="2400" b="1" dirty="0">
                <a:solidFill>
                  <a:srgbClr val="172033"/>
                </a:solidFill>
                <a:latin typeface="Aptos Display" pitchFamily="34" charset="0"/>
                <a:ea typeface="Aptos Display" pitchFamily="34" charset="-122"/>
                <a:cs typeface="Aptos Display" pitchFamily="34" charset="-120"/>
              </a:rPr>
              <a:t>Le projet a confirme que la simplicite bien placee vaut mieux que la complexite spectaculaire.</a:t>
            </a:r>
            <a:endParaRPr lang="en-US" sz="2400" dirty="0"/>
          </a:p>
        </p:txBody>
      </p:sp>
      <p:sp>
        <p:nvSpPr>
          <p:cNvPr id="7" name="Text 5"/>
          <p:cNvSpPr/>
          <p:nvPr/>
        </p:nvSpPr>
        <p:spPr>
          <a:xfrm>
            <a:off x="512064" y="1078992"/>
            <a:ext cx="8138160" cy="411480"/>
          </a:xfrm>
          <a:prstGeom prst="rect">
            <a:avLst/>
          </a:prstGeom>
          <a:noFill/>
          <a:ln/>
        </p:spPr>
        <p:txBody>
          <a:bodyPr wrap="square" lIns="0" tIns="0" rIns="0" bIns="0" rtlCol="0" anchor="ctr"/>
          <a:lstStyle/>
          <a:p>
            <a:pPr indent="0" marL="0">
              <a:buNone/>
            </a:pPr>
            <a:r>
              <a:rPr lang="en-US" sz="1050" dirty="0">
                <a:solidFill>
                  <a:srgbClr val="334155"/>
                </a:solidFill>
                <a:latin typeface="Aptos" pitchFamily="34" charset="0"/>
                <a:ea typeface="Aptos" pitchFamily="34" charset="-122"/>
                <a:cs typeface="Aptos" pitchFamily="34" charset="-120"/>
              </a:rPr>
              <a:t>Trois apprentissages ressortent de l'implementation et expliquent aussi nos arbitrages techniques.</a:t>
            </a:r>
            <a:endParaRPr lang="en-US" sz="1050" dirty="0"/>
          </a:p>
        </p:txBody>
      </p:sp>
      <p:sp>
        <p:nvSpPr>
          <p:cNvPr id="8" name="Shape 6"/>
          <p:cNvSpPr/>
          <p:nvPr/>
        </p:nvSpPr>
        <p:spPr>
          <a:xfrm>
            <a:off x="694944" y="1901952"/>
            <a:ext cx="10844784" cy="950976"/>
          </a:xfrm>
          <a:prstGeom prst="roundRect">
            <a:avLst>
              <a:gd name="adj" fmla="val 5769"/>
            </a:avLst>
          </a:prstGeom>
          <a:solidFill>
            <a:srgbClr val="FFFFFF"/>
          </a:solidFill>
          <a:ln w="12700">
            <a:solidFill>
              <a:srgbClr val="D8E0EA"/>
            </a:solidFill>
            <a:prstDash val="solid"/>
          </a:ln>
          <a:effectLst>
            <a:outerShdw sx="100000" sy="100000" kx="0" ky="0" algn="bl" rotWithShape="0" blurRad="12700" dist="50800" dir="2700000">
              <a:srgbClr val="BFC8D4">
                <a:alpha val="18000"/>
              </a:srgbClr>
            </a:outerShdw>
          </a:effectLst>
        </p:spPr>
      </p:sp>
      <p:sp>
        <p:nvSpPr>
          <p:cNvPr id="9" name="Shape 7"/>
          <p:cNvSpPr/>
          <p:nvPr/>
        </p:nvSpPr>
        <p:spPr>
          <a:xfrm>
            <a:off x="932688" y="2121408"/>
            <a:ext cx="475488" cy="237744"/>
          </a:xfrm>
          <a:prstGeom prst="roundRect">
            <a:avLst>
              <a:gd name="adj" fmla="val 11538"/>
            </a:avLst>
          </a:prstGeom>
          <a:solidFill>
            <a:srgbClr val="DCEEE6"/>
          </a:solidFill>
          <a:ln w="12700">
            <a:solidFill>
              <a:srgbClr val="DCEEE6"/>
            </a:solidFill>
            <a:prstDash val="solid"/>
          </a:ln>
        </p:spPr>
      </p:sp>
      <p:sp>
        <p:nvSpPr>
          <p:cNvPr id="10" name="Text 8"/>
          <p:cNvSpPr/>
          <p:nvPr/>
        </p:nvSpPr>
        <p:spPr>
          <a:xfrm>
            <a:off x="932688" y="2167128"/>
            <a:ext cx="475488" cy="91440"/>
          </a:xfrm>
          <a:prstGeom prst="rect">
            <a:avLst/>
          </a:prstGeom>
          <a:noFill/>
          <a:ln/>
        </p:spPr>
        <p:txBody>
          <a:bodyPr wrap="square" lIns="0" tIns="0" rIns="0" bIns="0" rtlCol="0" anchor="ctr"/>
          <a:lstStyle/>
          <a:p>
            <a:pPr algn="ctr" indent="0" marL="0">
              <a:buNone/>
            </a:pPr>
            <a:r>
              <a:rPr lang="en-US" sz="850" b="1" dirty="0">
                <a:solidFill>
                  <a:srgbClr val="172033"/>
                </a:solidFill>
                <a:latin typeface="Aptos" pitchFamily="34" charset="0"/>
                <a:ea typeface="Aptos" pitchFamily="34" charset="-122"/>
                <a:cs typeface="Aptos" pitchFamily="34" charset="-120"/>
              </a:rPr>
              <a:t>01</a:t>
            </a:r>
            <a:endParaRPr lang="en-US" sz="850" dirty="0"/>
          </a:p>
        </p:txBody>
      </p:sp>
      <p:sp>
        <p:nvSpPr>
          <p:cNvPr id="11" name="Text 9"/>
          <p:cNvSpPr/>
          <p:nvPr/>
        </p:nvSpPr>
        <p:spPr>
          <a:xfrm>
            <a:off x="1682496" y="2084832"/>
            <a:ext cx="2926080" cy="201168"/>
          </a:xfrm>
          <a:prstGeom prst="rect">
            <a:avLst/>
          </a:prstGeom>
          <a:noFill/>
          <a:ln/>
        </p:spPr>
        <p:txBody>
          <a:bodyPr wrap="square" lIns="0" tIns="0" rIns="0" bIns="0" rtlCol="0" anchor="ctr"/>
          <a:lstStyle/>
          <a:p>
            <a:pPr indent="0" marL="0">
              <a:buNone/>
            </a:pPr>
            <a:r>
              <a:rPr lang="en-US" sz="1400" b="1" dirty="0">
                <a:solidFill>
                  <a:srgbClr val="172033"/>
                </a:solidFill>
                <a:latin typeface="Aptos Display" pitchFamily="34" charset="0"/>
                <a:ea typeface="Aptos Display" pitchFamily="34" charset="-122"/>
                <a:cs typeface="Aptos Display" pitchFamily="34" charset="-120"/>
              </a:rPr>
              <a:t>Le decouplage est utile tout de suite</a:t>
            </a:r>
            <a:endParaRPr lang="en-US" sz="1400" dirty="0"/>
          </a:p>
        </p:txBody>
      </p:sp>
      <p:sp>
        <p:nvSpPr>
          <p:cNvPr id="12" name="Text 10"/>
          <p:cNvSpPr/>
          <p:nvPr/>
        </p:nvSpPr>
        <p:spPr>
          <a:xfrm>
            <a:off x="4736592" y="2084832"/>
            <a:ext cx="6364224" cy="347472"/>
          </a:xfrm>
          <a:prstGeom prst="rect">
            <a:avLst/>
          </a:prstGeom>
          <a:noFill/>
          <a:ln/>
        </p:spPr>
        <p:txBody>
          <a:bodyPr wrap="square" lIns="0" tIns="0" rIns="0" bIns="0" rtlCol="0" anchor="ctr"/>
          <a:lstStyle/>
          <a:p>
            <a:pPr indent="0" marL="0">
              <a:buNone/>
            </a:pPr>
            <a:r>
              <a:rPr lang="en-US" sz="1030" dirty="0">
                <a:solidFill>
                  <a:srgbClr val="334155"/>
                </a:solidFill>
                <a:latin typeface="Aptos" pitchFamily="34" charset="0"/>
                <a:ea typeface="Aptos" pitchFamily="34" charset="-122"/>
                <a:cs typeface="Aptos" pitchFamily="34" charset="-120"/>
              </a:rPr>
              <a:t>L'interface ALERTS_PORT n'a pas servi seulement pour plus tard: elle a clarifie le service inventaire des le developpement.</a:t>
            </a:r>
            <a:endParaRPr lang="en-US" sz="1030" dirty="0"/>
          </a:p>
        </p:txBody>
      </p:sp>
      <p:sp>
        <p:nvSpPr>
          <p:cNvPr id="13" name="Shape 11"/>
          <p:cNvSpPr/>
          <p:nvPr/>
        </p:nvSpPr>
        <p:spPr>
          <a:xfrm>
            <a:off x="694944" y="3200400"/>
            <a:ext cx="10844784" cy="950976"/>
          </a:xfrm>
          <a:prstGeom prst="roundRect">
            <a:avLst>
              <a:gd name="adj" fmla="val 5769"/>
            </a:avLst>
          </a:prstGeom>
          <a:solidFill>
            <a:srgbClr val="FFFFFF"/>
          </a:solidFill>
          <a:ln w="12700">
            <a:solidFill>
              <a:srgbClr val="D8E0EA"/>
            </a:solidFill>
            <a:prstDash val="solid"/>
          </a:ln>
          <a:effectLst>
            <a:outerShdw sx="100000" sy="100000" kx="0" ky="0" algn="bl" rotWithShape="0" blurRad="12700" dist="50800" dir="2700000">
              <a:srgbClr val="BFC8D4">
                <a:alpha val="18000"/>
              </a:srgbClr>
            </a:outerShdw>
          </a:effectLst>
        </p:spPr>
      </p:sp>
      <p:sp>
        <p:nvSpPr>
          <p:cNvPr id="14" name="Shape 12"/>
          <p:cNvSpPr/>
          <p:nvPr/>
        </p:nvSpPr>
        <p:spPr>
          <a:xfrm>
            <a:off x="932688" y="3419856"/>
            <a:ext cx="475488" cy="237744"/>
          </a:xfrm>
          <a:prstGeom prst="roundRect">
            <a:avLst>
              <a:gd name="adj" fmla="val 11538"/>
            </a:avLst>
          </a:prstGeom>
          <a:solidFill>
            <a:srgbClr val="F6E7CB"/>
          </a:solidFill>
          <a:ln w="12700">
            <a:solidFill>
              <a:srgbClr val="F6E7CB"/>
            </a:solidFill>
            <a:prstDash val="solid"/>
          </a:ln>
        </p:spPr>
      </p:sp>
      <p:sp>
        <p:nvSpPr>
          <p:cNvPr id="15" name="Text 13"/>
          <p:cNvSpPr/>
          <p:nvPr/>
        </p:nvSpPr>
        <p:spPr>
          <a:xfrm>
            <a:off x="932688" y="3465576"/>
            <a:ext cx="475488" cy="91440"/>
          </a:xfrm>
          <a:prstGeom prst="rect">
            <a:avLst/>
          </a:prstGeom>
          <a:noFill/>
          <a:ln/>
        </p:spPr>
        <p:txBody>
          <a:bodyPr wrap="square" lIns="0" tIns="0" rIns="0" bIns="0" rtlCol="0" anchor="ctr"/>
          <a:lstStyle/>
          <a:p>
            <a:pPr algn="ctr" indent="0" marL="0">
              <a:buNone/>
            </a:pPr>
            <a:r>
              <a:rPr lang="en-US" sz="850" b="1" dirty="0">
                <a:solidFill>
                  <a:srgbClr val="172033"/>
                </a:solidFill>
                <a:latin typeface="Aptos" pitchFamily="34" charset="0"/>
                <a:ea typeface="Aptos" pitchFamily="34" charset="-122"/>
                <a:cs typeface="Aptos" pitchFamily="34" charset="-120"/>
              </a:rPr>
              <a:t>02</a:t>
            </a:r>
            <a:endParaRPr lang="en-US" sz="850" dirty="0"/>
          </a:p>
        </p:txBody>
      </p:sp>
      <p:sp>
        <p:nvSpPr>
          <p:cNvPr id="16" name="Text 14"/>
          <p:cNvSpPr/>
          <p:nvPr/>
        </p:nvSpPr>
        <p:spPr>
          <a:xfrm>
            <a:off x="1682496" y="3383280"/>
            <a:ext cx="2926080" cy="201168"/>
          </a:xfrm>
          <a:prstGeom prst="rect">
            <a:avLst/>
          </a:prstGeom>
          <a:noFill/>
          <a:ln/>
        </p:spPr>
        <p:txBody>
          <a:bodyPr wrap="square" lIns="0" tIns="0" rIns="0" bIns="0" rtlCol="0" anchor="ctr"/>
          <a:lstStyle/>
          <a:p>
            <a:pPr indent="0" marL="0">
              <a:buNone/>
            </a:pPr>
            <a:r>
              <a:rPr lang="en-US" sz="1400" b="1" dirty="0">
                <a:solidFill>
                  <a:srgbClr val="172033"/>
                </a:solidFill>
                <a:latin typeface="Aptos Display" pitchFamily="34" charset="0"/>
                <a:ea typeface="Aptos Display" pitchFamily="34" charset="-122"/>
                <a:cs typeface="Aptos Display" pitchFamily="34" charset="-120"/>
              </a:rPr>
              <a:t>La transaction achete de la confiance</a:t>
            </a:r>
            <a:endParaRPr lang="en-US" sz="1400" dirty="0"/>
          </a:p>
        </p:txBody>
      </p:sp>
      <p:sp>
        <p:nvSpPr>
          <p:cNvPr id="17" name="Text 15"/>
          <p:cNvSpPr/>
          <p:nvPr/>
        </p:nvSpPr>
        <p:spPr>
          <a:xfrm>
            <a:off x="4736592" y="3383280"/>
            <a:ext cx="6364224" cy="347472"/>
          </a:xfrm>
          <a:prstGeom prst="rect">
            <a:avLst/>
          </a:prstGeom>
          <a:noFill/>
          <a:ln/>
        </p:spPr>
        <p:txBody>
          <a:bodyPr wrap="square" lIns="0" tIns="0" rIns="0" bIns="0" rtlCol="0" anchor="ctr"/>
          <a:lstStyle/>
          <a:p>
            <a:pPr indent="0" marL="0">
              <a:buNone/>
            </a:pPr>
            <a:r>
              <a:rPr lang="en-US" sz="1030" dirty="0">
                <a:solidFill>
                  <a:srgbClr val="334155"/>
                </a:solidFill>
                <a:latin typeface="Aptos" pitchFamily="34" charset="0"/>
                <a:ea typeface="Aptos" pitchFamily="34" charset="-122"/>
                <a:cs typeface="Aptos" pitchFamily="34" charset="-120"/>
              </a:rPr>
              <a:t>Le cout de mise en oeuvre est faible par rapport au risque d'un stock modifie avec des alertes fausses ou absentes.</a:t>
            </a:r>
            <a:endParaRPr lang="en-US" sz="1030" dirty="0"/>
          </a:p>
        </p:txBody>
      </p:sp>
      <p:sp>
        <p:nvSpPr>
          <p:cNvPr id="18" name="Shape 16"/>
          <p:cNvSpPr/>
          <p:nvPr/>
        </p:nvSpPr>
        <p:spPr>
          <a:xfrm>
            <a:off x="694944" y="4498848"/>
            <a:ext cx="10844784" cy="950976"/>
          </a:xfrm>
          <a:prstGeom prst="roundRect">
            <a:avLst>
              <a:gd name="adj" fmla="val 5769"/>
            </a:avLst>
          </a:prstGeom>
          <a:solidFill>
            <a:srgbClr val="FFFFFF"/>
          </a:solidFill>
          <a:ln w="12700">
            <a:solidFill>
              <a:srgbClr val="D8E0EA"/>
            </a:solidFill>
            <a:prstDash val="solid"/>
          </a:ln>
          <a:effectLst>
            <a:outerShdw sx="100000" sy="100000" kx="0" ky="0" algn="bl" rotWithShape="0" blurRad="12700" dist="50800" dir="2700000">
              <a:srgbClr val="BFC8D4">
                <a:alpha val="18000"/>
              </a:srgbClr>
            </a:outerShdw>
          </a:effectLst>
        </p:spPr>
      </p:sp>
      <p:sp>
        <p:nvSpPr>
          <p:cNvPr id="19" name="Shape 17"/>
          <p:cNvSpPr/>
          <p:nvPr/>
        </p:nvSpPr>
        <p:spPr>
          <a:xfrm>
            <a:off x="932688" y="4718304"/>
            <a:ext cx="475488" cy="237744"/>
          </a:xfrm>
          <a:prstGeom prst="roundRect">
            <a:avLst>
              <a:gd name="adj" fmla="val 11538"/>
            </a:avLst>
          </a:prstGeom>
          <a:solidFill>
            <a:srgbClr val="DCEEE6"/>
          </a:solidFill>
          <a:ln w="12700">
            <a:solidFill>
              <a:srgbClr val="DCEEE6"/>
            </a:solidFill>
            <a:prstDash val="solid"/>
          </a:ln>
        </p:spPr>
      </p:sp>
      <p:sp>
        <p:nvSpPr>
          <p:cNvPr id="20" name="Text 18"/>
          <p:cNvSpPr/>
          <p:nvPr/>
        </p:nvSpPr>
        <p:spPr>
          <a:xfrm>
            <a:off x="932688" y="4764024"/>
            <a:ext cx="475488" cy="91440"/>
          </a:xfrm>
          <a:prstGeom prst="rect">
            <a:avLst/>
          </a:prstGeom>
          <a:noFill/>
          <a:ln/>
        </p:spPr>
        <p:txBody>
          <a:bodyPr wrap="square" lIns="0" tIns="0" rIns="0" bIns="0" rtlCol="0" anchor="ctr"/>
          <a:lstStyle/>
          <a:p>
            <a:pPr algn="ctr" indent="0" marL="0">
              <a:buNone/>
            </a:pPr>
            <a:r>
              <a:rPr lang="en-US" sz="850" b="1" dirty="0">
                <a:solidFill>
                  <a:srgbClr val="172033"/>
                </a:solidFill>
                <a:latin typeface="Aptos" pitchFamily="34" charset="0"/>
                <a:ea typeface="Aptos" pitchFamily="34" charset="-122"/>
                <a:cs typeface="Aptos" pitchFamily="34" charset="-120"/>
              </a:rPr>
              <a:t>03</a:t>
            </a:r>
            <a:endParaRPr lang="en-US" sz="850" dirty="0"/>
          </a:p>
        </p:txBody>
      </p:sp>
      <p:sp>
        <p:nvSpPr>
          <p:cNvPr id="21" name="Text 19"/>
          <p:cNvSpPr/>
          <p:nvPr/>
        </p:nvSpPr>
        <p:spPr>
          <a:xfrm>
            <a:off x="1682496" y="4681728"/>
            <a:ext cx="2926080" cy="201168"/>
          </a:xfrm>
          <a:prstGeom prst="rect">
            <a:avLst/>
          </a:prstGeom>
          <a:noFill/>
          <a:ln/>
        </p:spPr>
        <p:txBody>
          <a:bodyPr wrap="square" lIns="0" tIns="0" rIns="0" bIns="0" rtlCol="0" anchor="ctr"/>
          <a:lstStyle/>
          <a:p>
            <a:pPr indent="0" marL="0">
              <a:buNone/>
            </a:pPr>
            <a:r>
              <a:rPr lang="en-US" sz="1400" b="1" dirty="0">
                <a:solidFill>
                  <a:srgbClr val="172033"/>
                </a:solidFill>
                <a:latin typeface="Aptos Display" pitchFamily="34" charset="0"/>
                <a:ea typeface="Aptos Display" pitchFamily="34" charset="-122"/>
                <a:cs typeface="Aptos Display" pitchFamily="34" charset="-120"/>
              </a:rPr>
              <a:t>Le polling simple a gagne</a:t>
            </a:r>
            <a:endParaRPr lang="en-US" sz="1400" dirty="0"/>
          </a:p>
        </p:txBody>
      </p:sp>
      <p:sp>
        <p:nvSpPr>
          <p:cNvPr id="22" name="Text 20"/>
          <p:cNvSpPr/>
          <p:nvPr/>
        </p:nvSpPr>
        <p:spPr>
          <a:xfrm>
            <a:off x="4736592" y="4681728"/>
            <a:ext cx="6364224" cy="347472"/>
          </a:xfrm>
          <a:prstGeom prst="rect">
            <a:avLst/>
          </a:prstGeom>
          <a:noFill/>
          <a:ln/>
        </p:spPr>
        <p:txBody>
          <a:bodyPr wrap="square" lIns="0" tIns="0" rIns="0" bIns="0" rtlCol="0" anchor="ctr"/>
          <a:lstStyle/>
          <a:p>
            <a:pPr indent="0" marL="0">
              <a:buNone/>
            </a:pPr>
            <a:r>
              <a:rPr lang="en-US" sz="1030" dirty="0">
                <a:solidFill>
                  <a:srgbClr val="334155"/>
                </a:solidFill>
                <a:latin typeface="Aptos" pitchFamily="34" charset="0"/>
                <a:ea typeface="Aptos" pitchFamily="34" charset="-122"/>
                <a:cs typeface="Aptos" pitchFamily="34" charset="-120"/>
              </a:rPr>
              <a:t>Un rafraichissement toutes les 30 secondes est suffisant pour ce cas d'usage et reste plus robuste qu'un temps reel sur-engineere.</a:t>
            </a:r>
            <a:endParaRPr lang="en-US" sz="1030" dirty="0"/>
          </a:p>
        </p:txBody>
      </p:sp>
      <p:sp>
        <p:nvSpPr>
          <p:cNvPr id="23" name="Text 21"/>
          <p:cNvSpPr/>
          <p:nvPr/>
        </p:nvSpPr>
        <p:spPr>
          <a:xfrm>
            <a:off x="512064" y="6419088"/>
            <a:ext cx="7772400" cy="164592"/>
          </a:xfrm>
          <a:prstGeom prst="rect">
            <a:avLst/>
          </a:prstGeom>
          <a:noFill/>
          <a:ln/>
        </p:spPr>
        <p:txBody>
          <a:bodyPr wrap="square" lIns="0" tIns="0" rIns="0" bIns="0" rtlCol="0" anchor="ctr"/>
          <a:lstStyle/>
          <a:p>
            <a:pPr indent="0" marL="0">
              <a:buNone/>
            </a:pPr>
            <a:r>
              <a:rPr lang="en-US" sz="800" dirty="0">
                <a:solidFill>
                  <a:srgbClr val="64748B"/>
                </a:solidFill>
                <a:latin typeface="Aptos" pitchFamily="34" charset="0"/>
                <a:ea typeface="Aptos" pitchFamily="34" charset="-122"/>
                <a:cs typeface="Aptos" pitchFamily="34" charset="-120"/>
              </a:rPr>
              <a:t>Les meilleures decisions du projet sont celles qui ont augmente la clarte du systeme.</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72033"/>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72033"/>
          </a:solidFill>
          <a:ln w="12700">
            <a:solidFill>
              <a:srgbClr val="1E293B">
                <a:alpha val="0"/>
              </a:srgbClr>
            </a:solidFill>
            <a:prstDash val="solid"/>
          </a:ln>
        </p:spPr>
      </p:sp>
      <p:sp>
        <p:nvSpPr>
          <p:cNvPr id="3" name="Shape 1"/>
          <p:cNvSpPr/>
          <p:nvPr/>
        </p:nvSpPr>
        <p:spPr>
          <a:xfrm>
            <a:off x="384048" y="347472"/>
            <a:ext cx="11420856" cy="18288"/>
          </a:xfrm>
          <a:prstGeom prst="rect">
            <a:avLst/>
          </a:prstGeom>
          <a:solidFill>
            <a:srgbClr val="172033"/>
          </a:solidFill>
          <a:ln w="12700">
            <a:solidFill>
              <a:srgbClr val="172033"/>
            </a:solidFill>
            <a:prstDash val="solid"/>
          </a:ln>
        </p:spPr>
      </p:sp>
      <p:sp>
        <p:nvSpPr>
          <p:cNvPr id="4" name="Text 2"/>
          <p:cNvSpPr/>
          <p:nvPr/>
        </p:nvSpPr>
        <p:spPr>
          <a:xfrm>
            <a:off x="512064" y="155448"/>
            <a:ext cx="2926080" cy="164592"/>
          </a:xfrm>
          <a:prstGeom prst="rect">
            <a:avLst/>
          </a:prstGeom>
          <a:noFill/>
          <a:ln/>
        </p:spPr>
        <p:txBody>
          <a:bodyPr wrap="square" rtlCol="0" anchor="ctr"/>
          <a:lstStyle/>
          <a:p>
            <a:pPr indent="0" marL="0">
              <a:buNone/>
            </a:pPr>
            <a:r>
              <a:rPr lang="en-US" sz="800" b="1" spc="160" kern="0" dirty="0">
                <a:solidFill>
                  <a:srgbClr val="EEE7DA"/>
                </a:solidFill>
                <a:latin typeface="Aptos" pitchFamily="34" charset="0"/>
                <a:ea typeface="Aptos" pitchFamily="34" charset="-122"/>
                <a:cs typeface="Aptos" pitchFamily="34" charset="-120"/>
              </a:rPr>
              <a:t>CONCLUSION</a:t>
            </a:r>
            <a:endParaRPr lang="en-US" sz="800" dirty="0"/>
          </a:p>
        </p:txBody>
      </p:sp>
      <p:sp>
        <p:nvSpPr>
          <p:cNvPr id="5" name="Text 3"/>
          <p:cNvSpPr/>
          <p:nvPr/>
        </p:nvSpPr>
        <p:spPr>
          <a:xfrm>
            <a:off x="11109960" y="6446520"/>
            <a:ext cx="640080" cy="182880"/>
          </a:xfrm>
          <a:prstGeom prst="rect">
            <a:avLst/>
          </a:prstGeom>
          <a:noFill/>
          <a:ln/>
        </p:spPr>
        <p:txBody>
          <a:bodyPr wrap="square" rtlCol="0" anchor="ctr"/>
          <a:lstStyle/>
          <a:p>
            <a:pPr algn="r" indent="0" marL="0">
              <a:buNone/>
            </a:pPr>
            <a:r>
              <a:rPr lang="en-US" sz="800" dirty="0">
                <a:solidFill>
                  <a:srgbClr val="EEE7DA"/>
                </a:solidFill>
                <a:latin typeface="Aptos" pitchFamily="34" charset="0"/>
                <a:ea typeface="Aptos" pitchFamily="34" charset="-122"/>
                <a:cs typeface="Aptos" pitchFamily="34" charset="-120"/>
              </a:rPr>
              <a:t>12 / 12</a:t>
            </a:r>
            <a:endParaRPr lang="en-US" sz="800" dirty="0"/>
          </a:p>
        </p:txBody>
      </p:sp>
      <p:sp>
        <p:nvSpPr>
          <p:cNvPr id="6" name="Text 4"/>
          <p:cNvSpPr/>
          <p:nvPr/>
        </p:nvSpPr>
        <p:spPr>
          <a:xfrm>
            <a:off x="512064" y="640080"/>
            <a:ext cx="1828800" cy="201168"/>
          </a:xfrm>
          <a:prstGeom prst="rect">
            <a:avLst/>
          </a:prstGeom>
          <a:noFill/>
          <a:ln/>
        </p:spPr>
        <p:txBody>
          <a:bodyPr wrap="square" rtlCol="0" anchor="ctr"/>
          <a:lstStyle/>
          <a:p>
            <a:pPr indent="0" marL="0">
              <a:buNone/>
            </a:pPr>
            <a:r>
              <a:rPr lang="en-US" sz="850" b="1" spc="180" kern="0" dirty="0">
                <a:solidFill>
                  <a:srgbClr val="DCEEE6"/>
                </a:solidFill>
                <a:latin typeface="Aptos" pitchFamily="34" charset="0"/>
                <a:ea typeface="Aptos" pitchFamily="34" charset="-122"/>
                <a:cs typeface="Aptos" pitchFamily="34" charset="-120"/>
              </a:rPr>
              <a:t>Conclusion</a:t>
            </a:r>
            <a:endParaRPr lang="en-US" sz="850" dirty="0"/>
          </a:p>
        </p:txBody>
      </p:sp>
      <p:sp>
        <p:nvSpPr>
          <p:cNvPr id="7" name="Text 5"/>
          <p:cNvSpPr/>
          <p:nvPr/>
        </p:nvSpPr>
        <p:spPr>
          <a:xfrm>
            <a:off x="512064" y="1042416"/>
            <a:ext cx="6858000" cy="749808"/>
          </a:xfrm>
          <a:prstGeom prst="rect">
            <a:avLst/>
          </a:prstGeom>
          <a:noFill/>
          <a:ln/>
        </p:spPr>
        <p:txBody>
          <a:bodyPr wrap="square" lIns="0" tIns="0" rIns="0" bIns="0" rtlCol="0" anchor="ct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Le projet ne se contente pas d'afficher le stock: il le rend exploitable.</a:t>
            </a:r>
            <a:endParaRPr lang="en-US" sz="2800" dirty="0"/>
          </a:p>
        </p:txBody>
      </p:sp>
      <p:sp>
        <p:nvSpPr>
          <p:cNvPr id="8" name="Text 6"/>
          <p:cNvSpPr/>
          <p:nvPr/>
        </p:nvSpPr>
        <p:spPr>
          <a:xfrm>
            <a:off x="512064" y="1993392"/>
            <a:ext cx="6309360" cy="731520"/>
          </a:xfrm>
          <a:prstGeom prst="rect">
            <a:avLst/>
          </a:prstGeom>
          <a:noFill/>
          <a:ln/>
        </p:spPr>
        <p:txBody>
          <a:bodyPr wrap="square" lIns="0" tIns="0" rIns="0" bIns="0" rtlCol="0" anchor="ctr"/>
          <a:lstStyle/>
          <a:p>
            <a:pPr indent="0" marL="0">
              <a:buNone/>
            </a:pPr>
            <a:r>
              <a:rPr lang="en-US" sz="1300" dirty="0">
                <a:solidFill>
                  <a:srgbClr val="EEE7DA"/>
                </a:solidFill>
                <a:latin typeface="Aptos" pitchFamily="34" charset="0"/>
                <a:ea typeface="Aptos" pitchFamily="34" charset="-122"/>
                <a:cs typeface="Aptos" pitchFamily="34" charset="-120"/>
              </a:rPr>
              <a:t>Moul Hanout montre comment une architecture propre, un module inventaire discipline et un moteur d'alertes bien concu peuvent transformer une epicerie traditionnelle en systeme de decision fiable.</a:t>
            </a:r>
            <a:endParaRPr lang="en-US" sz="1300" dirty="0"/>
          </a:p>
        </p:txBody>
      </p:sp>
      <p:sp>
        <p:nvSpPr>
          <p:cNvPr id="9" name="Shape 7"/>
          <p:cNvSpPr/>
          <p:nvPr/>
        </p:nvSpPr>
        <p:spPr>
          <a:xfrm>
            <a:off x="512064" y="3163824"/>
            <a:ext cx="1975104" cy="1170432"/>
          </a:xfrm>
          <a:prstGeom prst="roundRect">
            <a:avLst>
              <a:gd name="adj" fmla="val 4688"/>
            </a:avLst>
          </a:prstGeom>
          <a:solidFill>
            <a:srgbClr val="FFFFFF"/>
          </a:solidFill>
          <a:ln w="12700">
            <a:solidFill>
              <a:srgbClr val="D8E0EA"/>
            </a:solidFill>
            <a:prstDash val="solid"/>
          </a:ln>
        </p:spPr>
      </p:sp>
      <p:sp>
        <p:nvSpPr>
          <p:cNvPr id="10" name="Shape 8"/>
          <p:cNvSpPr/>
          <p:nvPr/>
        </p:nvSpPr>
        <p:spPr>
          <a:xfrm>
            <a:off x="512064" y="3163824"/>
            <a:ext cx="73152" cy="1170432"/>
          </a:xfrm>
          <a:prstGeom prst="rect">
            <a:avLst/>
          </a:prstGeom>
          <a:solidFill>
            <a:srgbClr val="1F6B52"/>
          </a:solidFill>
          <a:ln w="12700">
            <a:solidFill>
              <a:srgbClr val="1F6B52"/>
            </a:solidFill>
            <a:prstDash val="solid"/>
          </a:ln>
        </p:spPr>
      </p:sp>
      <p:sp>
        <p:nvSpPr>
          <p:cNvPr id="11" name="Shape 9"/>
          <p:cNvSpPr/>
          <p:nvPr/>
        </p:nvSpPr>
        <p:spPr>
          <a:xfrm>
            <a:off x="713232" y="3346704"/>
            <a:ext cx="384048" cy="219456"/>
          </a:xfrm>
          <a:prstGeom prst="roundRect">
            <a:avLst>
              <a:gd name="adj" fmla="val 12500"/>
            </a:avLst>
          </a:prstGeom>
          <a:solidFill>
            <a:srgbClr val="DCEEE6"/>
          </a:solidFill>
          <a:ln w="12700">
            <a:solidFill>
              <a:srgbClr val="DCEEE6"/>
            </a:solidFill>
            <a:prstDash val="solid"/>
          </a:ln>
        </p:spPr>
      </p:sp>
      <p:sp>
        <p:nvSpPr>
          <p:cNvPr id="12" name="Text 10"/>
          <p:cNvSpPr/>
          <p:nvPr/>
        </p:nvSpPr>
        <p:spPr>
          <a:xfrm>
            <a:off x="1225296" y="3310128"/>
            <a:ext cx="1133856" cy="164592"/>
          </a:xfrm>
          <a:prstGeom prst="rect">
            <a:avLst/>
          </a:prstGeom>
          <a:noFill/>
          <a:ln/>
        </p:spPr>
        <p:txBody>
          <a:bodyPr wrap="square" rtlCol="0" anchor="ctr"/>
          <a:lstStyle/>
          <a:p>
            <a:pPr indent="0" marL="0">
              <a:buNone/>
            </a:pPr>
            <a:r>
              <a:rPr lang="en-US" sz="800" b="1" spc="100" kern="0" dirty="0">
                <a:solidFill>
                  <a:srgbClr val="64748B"/>
                </a:solidFill>
                <a:latin typeface="Aptos" pitchFamily="34" charset="0"/>
                <a:ea typeface="Aptos" pitchFamily="34" charset="-122"/>
                <a:cs typeface="Aptos" pitchFamily="34" charset="-120"/>
              </a:rPr>
              <a:t>GAIN 1</a:t>
            </a:r>
            <a:endParaRPr lang="en-US" sz="800" dirty="0"/>
          </a:p>
        </p:txBody>
      </p:sp>
      <p:sp>
        <p:nvSpPr>
          <p:cNvPr id="13" name="Text 11"/>
          <p:cNvSpPr/>
          <p:nvPr/>
        </p:nvSpPr>
        <p:spPr>
          <a:xfrm>
            <a:off x="713232" y="3639312"/>
            <a:ext cx="1627632" cy="384048"/>
          </a:xfrm>
          <a:prstGeom prst="rect">
            <a:avLst/>
          </a:prstGeom>
          <a:noFill/>
          <a:ln/>
        </p:spPr>
        <p:txBody>
          <a:bodyPr wrap="square" lIns="0" tIns="0" rIns="0" bIns="0" rtlCol="0" anchor="ctr"/>
          <a:lstStyle/>
          <a:p>
            <a:pPr indent="0" marL="0">
              <a:buNone/>
            </a:pPr>
            <a:r>
              <a:rPr lang="en-US" sz="2000" b="1" dirty="0">
                <a:solidFill>
                  <a:srgbClr val="172033"/>
                </a:solidFill>
                <a:latin typeface="Aptos Display" pitchFamily="34" charset="0"/>
                <a:ea typeface="Aptos Display" pitchFamily="34" charset="-122"/>
                <a:cs typeface="Aptos Display" pitchFamily="34" charset="-120"/>
              </a:rPr>
              <a:t>Visibilite</a:t>
            </a:r>
            <a:endParaRPr lang="en-US" sz="2000" dirty="0"/>
          </a:p>
        </p:txBody>
      </p:sp>
      <p:sp>
        <p:nvSpPr>
          <p:cNvPr id="14" name="Shape 12"/>
          <p:cNvSpPr/>
          <p:nvPr/>
        </p:nvSpPr>
        <p:spPr>
          <a:xfrm>
            <a:off x="2670048" y="3163824"/>
            <a:ext cx="1975104" cy="1170432"/>
          </a:xfrm>
          <a:prstGeom prst="roundRect">
            <a:avLst>
              <a:gd name="adj" fmla="val 4688"/>
            </a:avLst>
          </a:prstGeom>
          <a:solidFill>
            <a:srgbClr val="FFFFFF"/>
          </a:solidFill>
          <a:ln w="12700">
            <a:solidFill>
              <a:srgbClr val="D8E0EA"/>
            </a:solidFill>
            <a:prstDash val="solid"/>
          </a:ln>
        </p:spPr>
      </p:sp>
      <p:sp>
        <p:nvSpPr>
          <p:cNvPr id="15" name="Shape 13"/>
          <p:cNvSpPr/>
          <p:nvPr/>
        </p:nvSpPr>
        <p:spPr>
          <a:xfrm>
            <a:off x="2670048" y="3163824"/>
            <a:ext cx="73152" cy="1170432"/>
          </a:xfrm>
          <a:prstGeom prst="rect">
            <a:avLst/>
          </a:prstGeom>
          <a:solidFill>
            <a:srgbClr val="B7791F"/>
          </a:solidFill>
          <a:ln w="12700">
            <a:solidFill>
              <a:srgbClr val="B7791F"/>
            </a:solidFill>
            <a:prstDash val="solid"/>
          </a:ln>
        </p:spPr>
      </p:sp>
      <p:sp>
        <p:nvSpPr>
          <p:cNvPr id="16" name="Shape 14"/>
          <p:cNvSpPr/>
          <p:nvPr/>
        </p:nvSpPr>
        <p:spPr>
          <a:xfrm>
            <a:off x="2871216" y="3346704"/>
            <a:ext cx="384048" cy="219456"/>
          </a:xfrm>
          <a:prstGeom prst="roundRect">
            <a:avLst>
              <a:gd name="adj" fmla="val 12500"/>
            </a:avLst>
          </a:prstGeom>
          <a:solidFill>
            <a:srgbClr val="F6E7CB"/>
          </a:solidFill>
          <a:ln w="12700">
            <a:solidFill>
              <a:srgbClr val="F6E7CB"/>
            </a:solidFill>
            <a:prstDash val="solid"/>
          </a:ln>
        </p:spPr>
      </p:sp>
      <p:sp>
        <p:nvSpPr>
          <p:cNvPr id="17" name="Text 15"/>
          <p:cNvSpPr/>
          <p:nvPr/>
        </p:nvSpPr>
        <p:spPr>
          <a:xfrm>
            <a:off x="3383280" y="3310128"/>
            <a:ext cx="1133856" cy="164592"/>
          </a:xfrm>
          <a:prstGeom prst="rect">
            <a:avLst/>
          </a:prstGeom>
          <a:noFill/>
          <a:ln/>
        </p:spPr>
        <p:txBody>
          <a:bodyPr wrap="square" rtlCol="0" anchor="ctr"/>
          <a:lstStyle/>
          <a:p>
            <a:pPr indent="0" marL="0">
              <a:buNone/>
            </a:pPr>
            <a:r>
              <a:rPr lang="en-US" sz="800" b="1" spc="100" kern="0" dirty="0">
                <a:solidFill>
                  <a:srgbClr val="64748B"/>
                </a:solidFill>
                <a:latin typeface="Aptos" pitchFamily="34" charset="0"/>
                <a:ea typeface="Aptos" pitchFamily="34" charset="-122"/>
                <a:cs typeface="Aptos" pitchFamily="34" charset="-120"/>
              </a:rPr>
              <a:t>GAIN 2</a:t>
            </a:r>
            <a:endParaRPr lang="en-US" sz="800" dirty="0"/>
          </a:p>
        </p:txBody>
      </p:sp>
      <p:sp>
        <p:nvSpPr>
          <p:cNvPr id="18" name="Text 16"/>
          <p:cNvSpPr/>
          <p:nvPr/>
        </p:nvSpPr>
        <p:spPr>
          <a:xfrm>
            <a:off x="2871216" y="3639312"/>
            <a:ext cx="1627632" cy="384048"/>
          </a:xfrm>
          <a:prstGeom prst="rect">
            <a:avLst/>
          </a:prstGeom>
          <a:noFill/>
          <a:ln/>
        </p:spPr>
        <p:txBody>
          <a:bodyPr wrap="square" lIns="0" tIns="0" rIns="0" bIns="0" rtlCol="0" anchor="ctr"/>
          <a:lstStyle/>
          <a:p>
            <a:pPr indent="0" marL="0">
              <a:buNone/>
            </a:pPr>
            <a:r>
              <a:rPr lang="en-US" sz="2000" b="1" dirty="0">
                <a:solidFill>
                  <a:srgbClr val="172033"/>
                </a:solidFill>
                <a:latin typeface="Aptos Display" pitchFamily="34" charset="0"/>
                <a:ea typeface="Aptos Display" pitchFamily="34" charset="-122"/>
                <a:cs typeface="Aptos Display" pitchFamily="34" charset="-120"/>
              </a:rPr>
              <a:t>Cohherence</a:t>
            </a:r>
            <a:endParaRPr lang="en-US" sz="2000" dirty="0"/>
          </a:p>
        </p:txBody>
      </p:sp>
      <p:sp>
        <p:nvSpPr>
          <p:cNvPr id="19" name="Shape 17"/>
          <p:cNvSpPr/>
          <p:nvPr/>
        </p:nvSpPr>
        <p:spPr>
          <a:xfrm>
            <a:off x="4828032" y="3163824"/>
            <a:ext cx="1975104" cy="1170432"/>
          </a:xfrm>
          <a:prstGeom prst="roundRect">
            <a:avLst>
              <a:gd name="adj" fmla="val 4688"/>
            </a:avLst>
          </a:prstGeom>
          <a:solidFill>
            <a:srgbClr val="FFFFFF"/>
          </a:solidFill>
          <a:ln w="12700">
            <a:solidFill>
              <a:srgbClr val="D8E0EA"/>
            </a:solidFill>
            <a:prstDash val="solid"/>
          </a:ln>
        </p:spPr>
      </p:sp>
      <p:sp>
        <p:nvSpPr>
          <p:cNvPr id="20" name="Shape 18"/>
          <p:cNvSpPr/>
          <p:nvPr/>
        </p:nvSpPr>
        <p:spPr>
          <a:xfrm>
            <a:off x="4828032" y="3163824"/>
            <a:ext cx="73152" cy="1170432"/>
          </a:xfrm>
          <a:prstGeom prst="rect">
            <a:avLst/>
          </a:prstGeom>
          <a:solidFill>
            <a:srgbClr val="B94A48"/>
          </a:solidFill>
          <a:ln w="12700">
            <a:solidFill>
              <a:srgbClr val="B94A48"/>
            </a:solidFill>
            <a:prstDash val="solid"/>
          </a:ln>
        </p:spPr>
      </p:sp>
      <p:sp>
        <p:nvSpPr>
          <p:cNvPr id="21" name="Shape 19"/>
          <p:cNvSpPr/>
          <p:nvPr/>
        </p:nvSpPr>
        <p:spPr>
          <a:xfrm>
            <a:off x="5029200" y="3346704"/>
            <a:ext cx="384048" cy="219456"/>
          </a:xfrm>
          <a:prstGeom prst="roundRect">
            <a:avLst>
              <a:gd name="adj" fmla="val 12500"/>
            </a:avLst>
          </a:prstGeom>
          <a:solidFill>
            <a:srgbClr val="F5D9D5"/>
          </a:solidFill>
          <a:ln w="12700">
            <a:solidFill>
              <a:srgbClr val="F5D9D5"/>
            </a:solidFill>
            <a:prstDash val="solid"/>
          </a:ln>
        </p:spPr>
      </p:sp>
      <p:sp>
        <p:nvSpPr>
          <p:cNvPr id="22" name="Text 20"/>
          <p:cNvSpPr/>
          <p:nvPr/>
        </p:nvSpPr>
        <p:spPr>
          <a:xfrm>
            <a:off x="5541264" y="3310128"/>
            <a:ext cx="1133856" cy="164592"/>
          </a:xfrm>
          <a:prstGeom prst="rect">
            <a:avLst/>
          </a:prstGeom>
          <a:noFill/>
          <a:ln/>
        </p:spPr>
        <p:txBody>
          <a:bodyPr wrap="square" rtlCol="0" anchor="ctr"/>
          <a:lstStyle/>
          <a:p>
            <a:pPr indent="0" marL="0">
              <a:buNone/>
            </a:pPr>
            <a:r>
              <a:rPr lang="en-US" sz="800" b="1" spc="100" kern="0" dirty="0">
                <a:solidFill>
                  <a:srgbClr val="64748B"/>
                </a:solidFill>
                <a:latin typeface="Aptos" pitchFamily="34" charset="0"/>
                <a:ea typeface="Aptos" pitchFamily="34" charset="-122"/>
                <a:cs typeface="Aptos" pitchFamily="34" charset="-120"/>
              </a:rPr>
              <a:t>GAIN 3</a:t>
            </a:r>
            <a:endParaRPr lang="en-US" sz="800" dirty="0"/>
          </a:p>
        </p:txBody>
      </p:sp>
      <p:sp>
        <p:nvSpPr>
          <p:cNvPr id="23" name="Text 21"/>
          <p:cNvSpPr/>
          <p:nvPr/>
        </p:nvSpPr>
        <p:spPr>
          <a:xfrm>
            <a:off x="5029200" y="3639312"/>
            <a:ext cx="1627632" cy="384048"/>
          </a:xfrm>
          <a:prstGeom prst="rect">
            <a:avLst/>
          </a:prstGeom>
          <a:noFill/>
          <a:ln/>
        </p:spPr>
        <p:txBody>
          <a:bodyPr wrap="square" lIns="0" tIns="0" rIns="0" bIns="0" rtlCol="0" anchor="ctr"/>
          <a:lstStyle/>
          <a:p>
            <a:pPr indent="0" marL="0">
              <a:buNone/>
            </a:pPr>
            <a:r>
              <a:rPr lang="en-US" sz="2000" b="1" dirty="0">
                <a:solidFill>
                  <a:srgbClr val="172033"/>
                </a:solidFill>
                <a:latin typeface="Aptos Display" pitchFamily="34" charset="0"/>
                <a:ea typeface="Aptos Display" pitchFamily="34" charset="-122"/>
                <a:cs typeface="Aptos Display" pitchFamily="34" charset="-120"/>
              </a:rPr>
              <a:t>Action</a:t>
            </a:r>
            <a:endParaRPr lang="en-US" sz="2000" dirty="0"/>
          </a:p>
        </p:txBody>
      </p:sp>
      <p:sp>
        <p:nvSpPr>
          <p:cNvPr id="24" name="Shape 22"/>
          <p:cNvSpPr/>
          <p:nvPr/>
        </p:nvSpPr>
        <p:spPr>
          <a:xfrm>
            <a:off x="7406640" y="1170432"/>
            <a:ext cx="3822192" cy="4389120"/>
          </a:xfrm>
          <a:prstGeom prst="roundRect">
            <a:avLst>
              <a:gd name="adj" fmla="val 1435"/>
            </a:avLst>
          </a:prstGeom>
          <a:solidFill>
            <a:srgbClr val="1E293B"/>
          </a:solidFill>
          <a:ln w="12700">
            <a:solidFill>
              <a:srgbClr val="42516A"/>
            </a:solidFill>
            <a:prstDash val="solid"/>
          </a:ln>
        </p:spPr>
      </p:sp>
      <p:sp>
        <p:nvSpPr>
          <p:cNvPr id="25" name="Text 23"/>
          <p:cNvSpPr/>
          <p:nvPr/>
        </p:nvSpPr>
        <p:spPr>
          <a:xfrm>
            <a:off x="7699248" y="1499616"/>
            <a:ext cx="1645920" cy="164592"/>
          </a:xfrm>
          <a:prstGeom prst="rect">
            <a:avLst/>
          </a:prstGeom>
          <a:noFill/>
          <a:ln/>
        </p:spPr>
        <p:txBody>
          <a:bodyPr wrap="square" rtlCol="0" anchor="ctr"/>
          <a:lstStyle/>
          <a:p>
            <a:pPr indent="0" marL="0">
              <a:buNone/>
            </a:pPr>
            <a:r>
              <a:rPr lang="en-US" sz="820" b="1" spc="120" kern="0" dirty="0">
                <a:solidFill>
                  <a:srgbClr val="EEE7DA"/>
                </a:solidFill>
                <a:latin typeface="Aptos" pitchFamily="34" charset="0"/>
                <a:ea typeface="Aptos" pitchFamily="34" charset="-122"/>
                <a:cs typeface="Aptos" pitchFamily="34" charset="-120"/>
              </a:rPr>
              <a:t>Message final</a:t>
            </a:r>
            <a:endParaRPr lang="en-US" sz="820" dirty="0"/>
          </a:p>
        </p:txBody>
      </p:sp>
      <p:sp>
        <p:nvSpPr>
          <p:cNvPr id="26" name="Shape 24"/>
          <p:cNvSpPr/>
          <p:nvPr/>
        </p:nvSpPr>
        <p:spPr>
          <a:xfrm>
            <a:off x="7699248" y="2011680"/>
            <a:ext cx="91440" cy="91440"/>
          </a:xfrm>
          <a:prstGeom prst="ellipse">
            <a:avLst/>
          </a:prstGeom>
          <a:solidFill>
            <a:srgbClr val="DCEEE6"/>
          </a:solidFill>
          <a:ln w="12700">
            <a:solidFill>
              <a:srgbClr val="DCEEE6"/>
            </a:solidFill>
            <a:prstDash val="solid"/>
          </a:ln>
        </p:spPr>
      </p:sp>
      <p:sp>
        <p:nvSpPr>
          <p:cNvPr id="27" name="Text 25"/>
          <p:cNvSpPr/>
          <p:nvPr/>
        </p:nvSpPr>
        <p:spPr>
          <a:xfrm>
            <a:off x="7863840" y="1956816"/>
            <a:ext cx="2834640" cy="228600"/>
          </a:xfrm>
          <a:prstGeom prst="rect">
            <a:avLst/>
          </a:prstGeom>
          <a:noFill/>
          <a:ln/>
        </p:spPr>
        <p:txBody>
          <a:bodyPr wrap="square" lIns="0" tIns="0" rIns="0" bIns="0" rtlCol="0" anchor="ctr"/>
          <a:lstStyle/>
          <a:p>
            <a:pPr indent="0" marL="0">
              <a:buNone/>
            </a:pPr>
            <a:r>
              <a:rPr lang="en-US" sz="1060" dirty="0">
                <a:solidFill>
                  <a:srgbClr val="FFFFFF"/>
                </a:solidFill>
                <a:latin typeface="Aptos" pitchFamily="34" charset="0"/>
                <a:ea typeface="Aptos" pitchFamily="34" charset="-122"/>
                <a:cs typeface="Aptos" pitchFamily="34" charset="-120"/>
              </a:rPr>
              <a:t>Le probleme traite est concret et frequent.</a:t>
            </a:r>
            <a:endParaRPr lang="en-US" sz="1060" dirty="0"/>
          </a:p>
        </p:txBody>
      </p:sp>
      <p:sp>
        <p:nvSpPr>
          <p:cNvPr id="28" name="Shape 26"/>
          <p:cNvSpPr/>
          <p:nvPr/>
        </p:nvSpPr>
        <p:spPr>
          <a:xfrm>
            <a:off x="7699248" y="2578608"/>
            <a:ext cx="91440" cy="91440"/>
          </a:xfrm>
          <a:prstGeom prst="ellipse">
            <a:avLst/>
          </a:prstGeom>
          <a:solidFill>
            <a:srgbClr val="DCEEE6"/>
          </a:solidFill>
          <a:ln w="12700">
            <a:solidFill>
              <a:srgbClr val="DCEEE6"/>
            </a:solidFill>
            <a:prstDash val="solid"/>
          </a:ln>
        </p:spPr>
      </p:sp>
      <p:sp>
        <p:nvSpPr>
          <p:cNvPr id="29" name="Text 27"/>
          <p:cNvSpPr/>
          <p:nvPr/>
        </p:nvSpPr>
        <p:spPr>
          <a:xfrm>
            <a:off x="7863840" y="2523744"/>
            <a:ext cx="2834640" cy="228600"/>
          </a:xfrm>
          <a:prstGeom prst="rect">
            <a:avLst/>
          </a:prstGeom>
          <a:noFill/>
          <a:ln/>
        </p:spPr>
        <p:txBody>
          <a:bodyPr wrap="square" lIns="0" tIns="0" rIns="0" bIns="0" rtlCol="0" anchor="ctr"/>
          <a:lstStyle/>
          <a:p>
            <a:pPr indent="0" marL="0">
              <a:buNone/>
            </a:pPr>
            <a:r>
              <a:rPr lang="en-US" sz="1060" dirty="0">
                <a:solidFill>
                  <a:srgbClr val="FFFFFF"/>
                </a:solidFill>
                <a:latin typeface="Aptos" pitchFamily="34" charset="0"/>
                <a:ea typeface="Aptos" pitchFamily="34" charset="-122"/>
                <a:cs typeface="Aptos" pitchFamily="34" charset="-120"/>
              </a:rPr>
              <a:t>La solution repose sur des choix techniques defensables.</a:t>
            </a:r>
            <a:endParaRPr lang="en-US" sz="1060" dirty="0"/>
          </a:p>
        </p:txBody>
      </p:sp>
      <p:sp>
        <p:nvSpPr>
          <p:cNvPr id="30" name="Shape 28"/>
          <p:cNvSpPr/>
          <p:nvPr/>
        </p:nvSpPr>
        <p:spPr>
          <a:xfrm>
            <a:off x="7699248" y="3145536"/>
            <a:ext cx="91440" cy="91440"/>
          </a:xfrm>
          <a:prstGeom prst="ellipse">
            <a:avLst/>
          </a:prstGeom>
          <a:solidFill>
            <a:srgbClr val="DCEEE6"/>
          </a:solidFill>
          <a:ln w="12700">
            <a:solidFill>
              <a:srgbClr val="DCEEE6"/>
            </a:solidFill>
            <a:prstDash val="solid"/>
          </a:ln>
        </p:spPr>
      </p:sp>
      <p:sp>
        <p:nvSpPr>
          <p:cNvPr id="31" name="Text 29"/>
          <p:cNvSpPr/>
          <p:nvPr/>
        </p:nvSpPr>
        <p:spPr>
          <a:xfrm>
            <a:off x="7863840" y="3090672"/>
            <a:ext cx="2834640" cy="228600"/>
          </a:xfrm>
          <a:prstGeom prst="rect">
            <a:avLst/>
          </a:prstGeom>
          <a:noFill/>
          <a:ln/>
        </p:spPr>
        <p:txBody>
          <a:bodyPr wrap="square" lIns="0" tIns="0" rIns="0" bIns="0" rtlCol="0" anchor="ctr"/>
          <a:lstStyle/>
          <a:p>
            <a:pPr indent="0" marL="0">
              <a:buNone/>
            </a:pPr>
            <a:r>
              <a:rPr lang="en-US" sz="1060" dirty="0">
                <a:solidFill>
                  <a:srgbClr val="FFFFFF"/>
                </a:solidFill>
                <a:latin typeface="Aptos" pitchFamily="34" charset="0"/>
                <a:ea typeface="Aptos" pitchFamily="34" charset="-122"/>
                <a:cs typeface="Aptos" pitchFamily="34" charset="-120"/>
              </a:rPr>
              <a:t>L'architecture respecte les frontieres du projet.</a:t>
            </a:r>
            <a:endParaRPr lang="en-US" sz="1060" dirty="0"/>
          </a:p>
        </p:txBody>
      </p:sp>
      <p:sp>
        <p:nvSpPr>
          <p:cNvPr id="32" name="Shape 30"/>
          <p:cNvSpPr/>
          <p:nvPr/>
        </p:nvSpPr>
        <p:spPr>
          <a:xfrm>
            <a:off x="7699248" y="3712464"/>
            <a:ext cx="91440" cy="91440"/>
          </a:xfrm>
          <a:prstGeom prst="ellipse">
            <a:avLst/>
          </a:prstGeom>
          <a:solidFill>
            <a:srgbClr val="DCEEE6"/>
          </a:solidFill>
          <a:ln w="12700">
            <a:solidFill>
              <a:srgbClr val="DCEEE6"/>
            </a:solidFill>
            <a:prstDash val="solid"/>
          </a:ln>
        </p:spPr>
      </p:sp>
      <p:sp>
        <p:nvSpPr>
          <p:cNvPr id="33" name="Text 31"/>
          <p:cNvSpPr/>
          <p:nvPr/>
        </p:nvSpPr>
        <p:spPr>
          <a:xfrm>
            <a:off x="7863840" y="3657600"/>
            <a:ext cx="2834640" cy="228600"/>
          </a:xfrm>
          <a:prstGeom prst="rect">
            <a:avLst/>
          </a:prstGeom>
          <a:noFill/>
          <a:ln/>
        </p:spPr>
        <p:txBody>
          <a:bodyPr wrap="square" lIns="0" tIns="0" rIns="0" bIns="0" rtlCol="0" anchor="ctr"/>
          <a:lstStyle/>
          <a:p>
            <a:pPr indent="0" marL="0">
              <a:buNone/>
            </a:pPr>
            <a:r>
              <a:rPr lang="en-US" sz="1060" dirty="0">
                <a:solidFill>
                  <a:srgbClr val="FFFFFF"/>
                </a:solidFill>
                <a:latin typeface="Aptos" pitchFamily="34" charset="0"/>
                <a:ea typeface="Aptos" pitchFamily="34" charset="-122"/>
                <a:cs typeface="Aptos" pitchFamily="34" charset="-120"/>
              </a:rPr>
              <a:t>Le resultat parle autant au proprietaire qu'a l'equipe d'evaluation.</a:t>
            </a:r>
            <a:endParaRPr lang="en-US" sz="1060" dirty="0"/>
          </a:p>
        </p:txBody>
      </p:sp>
      <p:sp>
        <p:nvSpPr>
          <p:cNvPr id="34" name="Text 32"/>
          <p:cNvSpPr/>
          <p:nvPr/>
        </p:nvSpPr>
        <p:spPr>
          <a:xfrm>
            <a:off x="7699248" y="4754880"/>
            <a:ext cx="1097280" cy="310896"/>
          </a:xfrm>
          <a:prstGeom prst="rect">
            <a:avLst/>
          </a:prstGeom>
          <a:noFill/>
          <a:ln/>
        </p:spPr>
        <p:txBody>
          <a:bodyPr wrap="square" lIns="0" tIns="0" rIns="0" bIns="0" rtlCol="0" anchor="ctr"/>
          <a:lstStyle/>
          <a:p>
            <a:pPr indent="0" marL="0">
              <a:buNone/>
            </a:pPr>
            <a:r>
              <a:rPr lang="en-US" sz="1800" b="1" dirty="0">
                <a:solidFill>
                  <a:srgbClr val="FFFFFF"/>
                </a:solidFill>
                <a:latin typeface="Aptos Display" pitchFamily="34" charset="0"/>
                <a:ea typeface="Aptos Display" pitchFamily="34" charset="-122"/>
                <a:cs typeface="Aptos Display" pitchFamily="34" charset="-120"/>
              </a:rPr>
              <a:t>Merci.</a:t>
            </a:r>
            <a:endParaRPr lang="en-US" sz="1800" dirty="0"/>
          </a:p>
        </p:txBody>
      </p:sp>
      <p:sp>
        <p:nvSpPr>
          <p:cNvPr id="35" name="Text 33"/>
          <p:cNvSpPr/>
          <p:nvPr/>
        </p:nvSpPr>
        <p:spPr>
          <a:xfrm>
            <a:off x="7699248" y="5065776"/>
            <a:ext cx="2377440" cy="201168"/>
          </a:xfrm>
          <a:prstGeom prst="rect">
            <a:avLst/>
          </a:prstGeom>
          <a:noFill/>
          <a:ln/>
        </p:spPr>
        <p:txBody>
          <a:bodyPr wrap="square" lIns="0" tIns="0" rIns="0" bIns="0" rtlCol="0" anchor="ctr"/>
          <a:lstStyle/>
          <a:p>
            <a:pPr indent="0" marL="0">
              <a:buNone/>
            </a:pPr>
            <a:r>
              <a:rPr lang="en-US" sz="1020" dirty="0">
                <a:solidFill>
                  <a:srgbClr val="EEE7DA"/>
                </a:solidFill>
                <a:latin typeface="Aptos" pitchFamily="34" charset="0"/>
                <a:ea typeface="Aptos" pitchFamily="34" charset="-122"/>
                <a:cs typeface="Aptos" pitchFamily="34" charset="-120"/>
              </a:rPr>
              <a:t>Questions et demonstration</a:t>
            </a:r>
            <a:endParaRPr lang="en-US" sz="1020" dirty="0"/>
          </a:p>
        </p:txBody>
      </p:sp>
      <p:sp>
        <p:nvSpPr>
          <p:cNvPr id="36" name="Text 34"/>
          <p:cNvSpPr/>
          <p:nvPr/>
        </p:nvSpPr>
        <p:spPr>
          <a:xfrm>
            <a:off x="512064" y="6419088"/>
            <a:ext cx="7772400" cy="164592"/>
          </a:xfrm>
          <a:prstGeom prst="rect">
            <a:avLst/>
          </a:prstGeom>
          <a:noFill/>
          <a:ln/>
        </p:spPr>
        <p:txBody>
          <a:bodyPr wrap="square" lIns="0" tIns="0" rIns="0" bIns="0" rtlCol="0" anchor="ctr"/>
          <a:lstStyle/>
          <a:p>
            <a:pPr indent="0" marL="0">
              <a:buNone/>
            </a:pPr>
            <a:r>
              <a:rPr lang="en-US" sz="800" dirty="0">
                <a:solidFill>
                  <a:srgbClr val="EEE7DA"/>
                </a:solidFill>
                <a:latin typeface="Aptos" pitchFamily="34" charset="0"/>
                <a:ea typeface="Aptos" pitchFamily="34" charset="-122"/>
                <a:cs typeface="Aptos" pitchFamily="34" charset="-120"/>
              </a:rPr>
              <a:t>Deck genere depuis presentation/generate.js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Moul Hanout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Moul Hanout - Inventory and Intelligent Alerts</dc:title>
  <dc:subject>Professional project presentation</dc:subject>
  <dc:creator>BAGHDAD Mohamed &amp; BAAKKA Monssfe</dc:creator>
  <cp:lastModifiedBy>BAGHDAD Mohamed &amp; BAAKKA Monssfe</cp:lastModifiedBy>
  <cp:revision>1</cp:revision>
  <dcterms:created xsi:type="dcterms:W3CDTF">2026-05-18T11:56:52Z</dcterms:created>
  <dcterms:modified xsi:type="dcterms:W3CDTF">2026-05-18T11:56:52Z</dcterms:modified>
</cp:coreProperties>
</file>